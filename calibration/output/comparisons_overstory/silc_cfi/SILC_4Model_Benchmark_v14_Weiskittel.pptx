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463040"/>
            <a:ext cx="10972800" cy="1097280"/>
          </a:xfrm>
          <a:prstGeom prst="rect">
            <a:avLst/>
          </a:prstGeom>
          <a:noFill/>
          <a:ln/>
        </p:spPr>
        <p:txBody>
          <a:bodyPr wrap="square" rtlCol="0" anchor="ctr"/>
          <a:lstStyle/>
          <a:p>
            <a:pPr algn="l" indent="0" marL="0">
              <a:buNone/>
            </a:pPr>
            <a:r>
              <a:rPr lang="en-US" sz="4800" b="1" dirty="0">
                <a:solidFill>
                  <a:srgbClr val="333333"/>
                </a:solidFill>
                <a:latin typeface="Aptos Display" pitchFamily="34" charset="0"/>
                <a:ea typeface="Aptos Display" pitchFamily="34" charset="-122"/>
                <a:cs typeface="Aptos Display" pitchFamily="34" charset="-120"/>
              </a:rPr>
              <a:t>Seven Islands four-model benchmark</a:t>
            </a:r>
            <a:endParaRPr lang="en-US" sz="4800" dirty="0"/>
          </a:p>
        </p:txBody>
      </p:sp>
      <p:sp>
        <p:nvSpPr>
          <p:cNvPr id="3" name="Text 1"/>
          <p:cNvSpPr/>
          <p:nvPr/>
        </p:nvSpPr>
        <p:spPr>
          <a:xfrm>
            <a:off x="640080" y="2560320"/>
            <a:ext cx="10972800" cy="640080"/>
          </a:xfrm>
          <a:prstGeom prst="rect">
            <a:avLst/>
          </a:prstGeom>
          <a:noFill/>
          <a:ln/>
        </p:spPr>
        <p:txBody>
          <a:bodyPr wrap="square" rtlCol="0" anchor="ctr"/>
          <a:lstStyle/>
          <a:p>
            <a:pPr algn="l" indent="0" marL="0">
              <a:buNone/>
            </a:pPr>
            <a:r>
              <a:rPr lang="en-US" sz="2600" dirty="0">
                <a:solidFill>
                  <a:srgbClr val="666666"/>
                </a:solidFill>
                <a:latin typeface="Aptos" pitchFamily="34" charset="0"/>
                <a:ea typeface="Aptos" pitchFamily="34" charset="-122"/>
                <a:cs typeface="Aptos" pitchFamily="34" charset="-120"/>
              </a:rPr>
              <a:t>Multi model CFI scorecard plus 100 year strata yield</a:t>
            </a:r>
            <a:endParaRPr lang="en-US" sz="2600" dirty="0"/>
          </a:p>
        </p:txBody>
      </p:sp>
      <p:sp>
        <p:nvSpPr>
          <p:cNvPr id="4" name="Shape 2"/>
          <p:cNvSpPr/>
          <p:nvPr/>
        </p:nvSpPr>
        <p:spPr>
          <a:xfrm>
            <a:off x="640080" y="3383280"/>
            <a:ext cx="1280160" cy="54864"/>
          </a:xfrm>
          <a:prstGeom prst="rect">
            <a:avLst/>
          </a:prstGeom>
          <a:solidFill>
            <a:srgbClr val="1A3D28"/>
          </a:solidFill>
          <a:ln w="12700">
            <a:solidFill>
              <a:srgbClr val="1A3D28"/>
            </a:solidFill>
            <a:prstDash val="solid"/>
          </a:ln>
        </p:spPr>
      </p:sp>
      <p:sp>
        <p:nvSpPr>
          <p:cNvPr id="5" name="Text 3"/>
          <p:cNvSpPr/>
          <p:nvPr/>
        </p:nvSpPr>
        <p:spPr>
          <a:xfrm>
            <a:off x="640080" y="3657600"/>
            <a:ext cx="10972800" cy="457200"/>
          </a:xfrm>
          <a:prstGeom prst="rect">
            <a:avLst/>
          </a:prstGeom>
          <a:noFill/>
          <a:ln/>
        </p:spPr>
        <p:txBody>
          <a:bodyPr wrap="square" rtlCol="0" anchor="ctr"/>
          <a:lstStyle/>
          <a:p>
            <a:pPr algn="l" indent="0" marL="0">
              <a:buNone/>
            </a:pPr>
            <a:r>
              <a:rPr lang="en-US" sz="2200" b="1" dirty="0">
                <a:solidFill>
                  <a:srgbClr val="333333"/>
                </a:solidFill>
                <a:latin typeface="Aptos" pitchFamily="34" charset="0"/>
                <a:ea typeface="Aptos" pitchFamily="34" charset="-122"/>
                <a:cs typeface="Aptos" pitchFamily="34" charset="-120"/>
              </a:rPr>
              <a:t>Aaron R. Weiskittel</a:t>
            </a:r>
            <a:endParaRPr lang="en-US" sz="2200" dirty="0"/>
          </a:p>
        </p:txBody>
      </p:sp>
      <p:sp>
        <p:nvSpPr>
          <p:cNvPr id="6" name="Text 4"/>
          <p:cNvSpPr/>
          <p:nvPr/>
        </p:nvSpPr>
        <p:spPr>
          <a:xfrm>
            <a:off x="640080" y="4160520"/>
            <a:ext cx="10972800" cy="365760"/>
          </a:xfrm>
          <a:prstGeom prst="rect">
            <a:avLst/>
          </a:prstGeom>
          <a:noFill/>
          <a:ln/>
        </p:spPr>
        <p:txBody>
          <a:bodyPr wrap="square" rtlCol="0" anchor="ctr"/>
          <a:lstStyle/>
          <a:p>
            <a:pPr algn="l" indent="0" marL="0">
              <a:buNone/>
            </a:pPr>
            <a:r>
              <a:rPr lang="en-US" sz="1600" dirty="0">
                <a:solidFill>
                  <a:srgbClr val="666666"/>
                </a:solidFill>
                <a:latin typeface="Aptos" pitchFamily="34" charset="0"/>
                <a:ea typeface="Aptos" pitchFamily="34" charset="-122"/>
                <a:cs typeface="Aptos" pitchFamily="34" charset="-120"/>
              </a:rPr>
              <a:t>Center for Research on Sustainable Forests  |  University of Maine</a:t>
            </a:r>
            <a:endParaRPr lang="en-US" sz="1600" dirty="0"/>
          </a:p>
        </p:txBody>
      </p:sp>
      <p:sp>
        <p:nvSpPr>
          <p:cNvPr id="7" name="Text 5"/>
          <p:cNvSpPr/>
          <p:nvPr/>
        </p:nvSpPr>
        <p:spPr>
          <a:xfrm>
            <a:off x="640080" y="4617720"/>
            <a:ext cx="10972800" cy="365760"/>
          </a:xfrm>
          <a:prstGeom prst="rect">
            <a:avLst/>
          </a:prstGeom>
          <a:noFill/>
          <a:ln/>
        </p:spPr>
        <p:txBody>
          <a:bodyPr wrap="square" rtlCol="0" anchor="ctr"/>
          <a:lstStyle/>
          <a:p>
            <a:pPr algn="l" indent="0" marL="0">
              <a:buNone/>
            </a:pPr>
            <a:r>
              <a:rPr lang="en-US" sz="1400" i="1" dirty="0">
                <a:solidFill>
                  <a:srgbClr val="999999"/>
                </a:solidFill>
                <a:latin typeface="Aptos" pitchFamily="34" charset="0"/>
                <a:ea typeface="Aptos" pitchFamily="34" charset="-122"/>
                <a:cs typeface="Aptos" pitchFamily="34" charset="-120"/>
              </a:rPr>
              <a:t>Prepared for Ian and Ryan, Seven Islands Land Company  |  28 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47120" cy="731520"/>
          </a:xfrm>
          <a:prstGeom prst="rect">
            <a:avLst/>
          </a:prstGeom>
          <a:noFill/>
          <a:ln/>
        </p:spPr>
        <p:txBody>
          <a:bodyPr wrap="square" rtlCol="0" anchor="ctr"/>
          <a:lstStyle/>
          <a:p>
            <a:pPr algn="l" indent="0" marL="0">
              <a:buNone/>
            </a:pPr>
            <a:r>
              <a:rPr lang="en-US" sz="3600" b="1" dirty="0">
                <a:solidFill>
                  <a:srgbClr val="333333"/>
                </a:solidFill>
                <a:latin typeface="Aptos Display" pitchFamily="34" charset="0"/>
                <a:ea typeface="Aptos Display" pitchFamily="34" charset="-122"/>
                <a:cs typeface="Aptos Display" pitchFamily="34" charset="-120"/>
              </a:rPr>
              <a:t>Two operational questions, one framework</a:t>
            </a:r>
            <a:endParaRPr lang="en-US" sz="3600" dirty="0"/>
          </a:p>
        </p:txBody>
      </p:sp>
      <p:sp>
        <p:nvSpPr>
          <p:cNvPr id="3" name="Shape 1"/>
          <p:cNvSpPr/>
          <p:nvPr/>
        </p:nvSpPr>
        <p:spPr>
          <a:xfrm>
            <a:off x="457200" y="1463040"/>
            <a:ext cx="5440680" cy="4206240"/>
          </a:xfrm>
          <a:prstGeom prst="rect">
            <a:avLst/>
          </a:prstGeom>
          <a:solidFill>
            <a:srgbClr val="F7F7F7"/>
          </a:solidFill>
          <a:ln w="12700">
            <a:solidFill>
              <a:srgbClr val="F7F7F7"/>
            </a:solidFill>
            <a:prstDash val="solid"/>
          </a:ln>
        </p:spPr>
      </p:sp>
      <p:sp>
        <p:nvSpPr>
          <p:cNvPr id="4" name="Shape 2"/>
          <p:cNvSpPr/>
          <p:nvPr/>
        </p:nvSpPr>
        <p:spPr>
          <a:xfrm>
            <a:off x="457200" y="1463040"/>
            <a:ext cx="73152" cy="4206240"/>
          </a:xfrm>
          <a:prstGeom prst="rect">
            <a:avLst/>
          </a:prstGeom>
          <a:solidFill>
            <a:srgbClr val="1A3D28"/>
          </a:solidFill>
          <a:ln w="12700">
            <a:solidFill>
              <a:srgbClr val="1A3D28"/>
            </a:solidFill>
            <a:prstDash val="solid"/>
          </a:ln>
        </p:spPr>
      </p:sp>
      <p:sp>
        <p:nvSpPr>
          <p:cNvPr id="5" name="Text 3"/>
          <p:cNvSpPr/>
          <p:nvPr/>
        </p:nvSpPr>
        <p:spPr>
          <a:xfrm>
            <a:off x="685800" y="1691640"/>
            <a:ext cx="5074920" cy="640080"/>
          </a:xfrm>
          <a:prstGeom prst="rect">
            <a:avLst/>
          </a:prstGeom>
          <a:noFill/>
          <a:ln/>
        </p:spPr>
        <p:txBody>
          <a:bodyPr wrap="square" rtlCol="0" anchor="t"/>
          <a:lstStyle/>
          <a:p>
            <a:pPr algn="l" indent="0" marL="0">
              <a:buNone/>
            </a:pPr>
            <a:r>
              <a:rPr lang="en-US" sz="2400" b="1" dirty="0">
                <a:solidFill>
                  <a:srgbClr val="1A3D28"/>
                </a:solidFill>
                <a:latin typeface="Aptos Display" pitchFamily="34" charset="0"/>
                <a:ea typeface="Aptos Display" pitchFamily="34" charset="-122"/>
                <a:cs typeface="Aptos Display" pitchFamily="34" charset="-120"/>
              </a:rPr>
              <a:t>Long-horizon yield</a:t>
            </a:r>
            <a:endParaRPr lang="en-US" sz="2400" dirty="0"/>
          </a:p>
        </p:txBody>
      </p:sp>
      <p:sp>
        <p:nvSpPr>
          <p:cNvPr id="6" name="Text 4"/>
          <p:cNvSpPr/>
          <p:nvPr/>
        </p:nvSpPr>
        <p:spPr>
          <a:xfrm>
            <a:off x="685800" y="2423160"/>
            <a:ext cx="5074920" cy="1005840"/>
          </a:xfrm>
          <a:prstGeom prst="rect">
            <a:avLst/>
          </a:prstGeom>
          <a:noFill/>
          <a:ln/>
        </p:spPr>
        <p:txBody>
          <a:bodyPr wrap="square" rtlCol="0" anchor="t"/>
          <a:lstStyle/>
          <a:p>
            <a:pPr algn="l" indent="0" marL="0">
              <a:buNone/>
            </a:pPr>
            <a:r>
              <a:rPr lang="en-US" sz="1800" dirty="0">
                <a:solidFill>
                  <a:srgbClr val="333333"/>
                </a:solidFill>
                <a:latin typeface="Aptos" pitchFamily="34" charset="0"/>
                <a:ea typeface="Aptos" pitchFamily="34" charset="-122"/>
                <a:cs typeface="Aptos" pitchFamily="34" charset="-120"/>
              </a:rPr>
              <a:t>What will a Mixedwood A+B stand yield in cords over 100 years?</a:t>
            </a:r>
            <a:endParaRPr lang="en-US" sz="1800" dirty="0"/>
          </a:p>
        </p:txBody>
      </p:sp>
      <p:sp>
        <p:nvSpPr>
          <p:cNvPr id="7" name="Text 5"/>
          <p:cNvSpPr/>
          <p:nvPr/>
        </p:nvSpPr>
        <p:spPr>
          <a:xfrm>
            <a:off x="685800" y="3520440"/>
            <a:ext cx="5074920" cy="9144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Driver: AcadianGY byStrata trajectories on the 11 SILC matrix stands, projected to 2123</a:t>
            </a:r>
            <a:endParaRPr lang="en-US" sz="1400" dirty="0"/>
          </a:p>
        </p:txBody>
      </p:sp>
      <p:sp>
        <p:nvSpPr>
          <p:cNvPr id="8" name="Text 6"/>
          <p:cNvSpPr/>
          <p:nvPr/>
        </p:nvSpPr>
        <p:spPr>
          <a:xfrm>
            <a:off x="685800" y="5074920"/>
            <a:ext cx="5074920" cy="365760"/>
          </a:xfrm>
          <a:prstGeom prst="rect">
            <a:avLst/>
          </a:prstGeom>
          <a:noFill/>
          <a:ln/>
        </p:spPr>
        <p:txBody>
          <a:bodyPr wrap="square" rtlCol="0" anchor="b"/>
          <a:lstStyle/>
          <a:p>
            <a:pPr algn="l" indent="0" marL="0">
              <a:buNone/>
            </a:pPr>
            <a:r>
              <a:rPr lang="en-US" sz="1300" dirty="0">
                <a:solidFill>
                  <a:srgbClr val="999999"/>
                </a:solidFill>
                <a:latin typeface="Aptos" pitchFamily="34" charset="0"/>
                <a:ea typeface="Aptos" pitchFamily="34" charset="-122"/>
                <a:cs typeface="Aptos" pitchFamily="34" charset="-120"/>
              </a:rPr>
              <a:t>Section 1 of this deck</a:t>
            </a:r>
            <a:endParaRPr lang="en-US" sz="1300" dirty="0"/>
          </a:p>
        </p:txBody>
      </p:sp>
      <p:sp>
        <p:nvSpPr>
          <p:cNvPr id="9" name="Shape 7"/>
          <p:cNvSpPr/>
          <p:nvPr/>
        </p:nvSpPr>
        <p:spPr>
          <a:xfrm>
            <a:off x="6263640" y="1463040"/>
            <a:ext cx="5440680" cy="4206240"/>
          </a:xfrm>
          <a:prstGeom prst="rect">
            <a:avLst/>
          </a:prstGeom>
          <a:solidFill>
            <a:srgbClr val="F7F7F7"/>
          </a:solidFill>
          <a:ln w="12700">
            <a:solidFill>
              <a:srgbClr val="F7F7F7"/>
            </a:solidFill>
            <a:prstDash val="solid"/>
          </a:ln>
        </p:spPr>
      </p:sp>
      <p:sp>
        <p:nvSpPr>
          <p:cNvPr id="10" name="Shape 8"/>
          <p:cNvSpPr/>
          <p:nvPr/>
        </p:nvSpPr>
        <p:spPr>
          <a:xfrm>
            <a:off x="6263640" y="1463040"/>
            <a:ext cx="73152" cy="4206240"/>
          </a:xfrm>
          <a:prstGeom prst="rect">
            <a:avLst/>
          </a:prstGeom>
          <a:solidFill>
            <a:srgbClr val="88A47A"/>
          </a:solidFill>
          <a:ln w="12700">
            <a:solidFill>
              <a:srgbClr val="88A47A"/>
            </a:solidFill>
            <a:prstDash val="solid"/>
          </a:ln>
        </p:spPr>
      </p:sp>
      <p:sp>
        <p:nvSpPr>
          <p:cNvPr id="11" name="Text 9"/>
          <p:cNvSpPr/>
          <p:nvPr/>
        </p:nvSpPr>
        <p:spPr>
          <a:xfrm>
            <a:off x="6492240" y="1691640"/>
            <a:ext cx="5074920" cy="640080"/>
          </a:xfrm>
          <a:prstGeom prst="rect">
            <a:avLst/>
          </a:prstGeom>
          <a:noFill/>
          <a:ln/>
        </p:spPr>
        <p:txBody>
          <a:bodyPr wrap="square" rtlCol="0" anchor="t"/>
          <a:lstStyle/>
          <a:p>
            <a:pPr algn="l" indent="0" marL="0">
              <a:buNone/>
            </a:pPr>
            <a:r>
              <a:rPr lang="en-US" sz="2400" b="1" dirty="0">
                <a:solidFill>
                  <a:srgbClr val="1A3D28"/>
                </a:solidFill>
                <a:latin typeface="Aptos Display" pitchFamily="34" charset="0"/>
                <a:ea typeface="Aptos Display" pitchFamily="34" charset="-122"/>
                <a:cs typeface="Aptos Display" pitchFamily="34" charset="-120"/>
              </a:rPr>
              <a:t>Short-horizon accuracy</a:t>
            </a:r>
            <a:endParaRPr lang="en-US" sz="2400" dirty="0"/>
          </a:p>
        </p:txBody>
      </p:sp>
      <p:sp>
        <p:nvSpPr>
          <p:cNvPr id="12" name="Text 10"/>
          <p:cNvSpPr/>
          <p:nvPr/>
        </p:nvSpPr>
        <p:spPr>
          <a:xfrm>
            <a:off x="6492240" y="2423160"/>
            <a:ext cx="5074920" cy="1005840"/>
          </a:xfrm>
          <a:prstGeom prst="rect">
            <a:avLst/>
          </a:prstGeom>
          <a:noFill/>
          <a:ln/>
        </p:spPr>
        <p:txBody>
          <a:bodyPr wrap="square" rtlCol="0" anchor="t"/>
          <a:lstStyle/>
          <a:p>
            <a:pPr algn="l" indent="0" marL="0">
              <a:buNone/>
            </a:pPr>
            <a:r>
              <a:rPr lang="en-US" sz="1800" dirty="0">
                <a:solidFill>
                  <a:srgbClr val="333333"/>
                </a:solidFill>
                <a:latin typeface="Aptos" pitchFamily="34" charset="0"/>
                <a:ea typeface="Aptos" pitchFamily="34" charset="-122"/>
                <a:cs typeface="Aptos" pitchFamily="34" charset="-120"/>
              </a:rPr>
              <a:t>How close does the model land at 5 to 10 year remeasurement on SILC's own plots?</a:t>
            </a:r>
            <a:endParaRPr lang="en-US" sz="1800" dirty="0"/>
          </a:p>
        </p:txBody>
      </p:sp>
      <p:sp>
        <p:nvSpPr>
          <p:cNvPr id="13" name="Text 11"/>
          <p:cNvSpPr/>
          <p:nvPr/>
        </p:nvSpPr>
        <p:spPr>
          <a:xfrm>
            <a:off x="6492240" y="3520440"/>
            <a:ext cx="5074920" cy="9144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Driver: SILC CFI database (10 plots, 1981 to 2000) with 24 remeasurement intervals</a:t>
            </a:r>
            <a:endParaRPr lang="en-US" sz="1400" dirty="0"/>
          </a:p>
        </p:txBody>
      </p:sp>
      <p:sp>
        <p:nvSpPr>
          <p:cNvPr id="14" name="Text 12"/>
          <p:cNvSpPr/>
          <p:nvPr/>
        </p:nvSpPr>
        <p:spPr>
          <a:xfrm>
            <a:off x="6492240" y="5074920"/>
            <a:ext cx="5074920" cy="365760"/>
          </a:xfrm>
          <a:prstGeom prst="rect">
            <a:avLst/>
          </a:prstGeom>
          <a:noFill/>
          <a:ln/>
        </p:spPr>
        <p:txBody>
          <a:bodyPr wrap="square" rtlCol="0" anchor="b"/>
          <a:lstStyle/>
          <a:p>
            <a:pPr algn="l" indent="0" marL="0">
              <a:buNone/>
            </a:pPr>
            <a:r>
              <a:rPr lang="en-US" sz="1300" dirty="0">
                <a:solidFill>
                  <a:srgbClr val="999999"/>
                </a:solidFill>
                <a:latin typeface="Aptos" pitchFamily="34" charset="0"/>
                <a:ea typeface="Aptos" pitchFamily="34" charset="-122"/>
                <a:cs typeface="Aptos" pitchFamily="34" charset="-120"/>
              </a:rPr>
              <a:t>Section 2 of this deck</a:t>
            </a:r>
            <a:endParaRPr lang="en-US" sz="1300" dirty="0"/>
          </a:p>
        </p:txBody>
      </p:sp>
      <p:sp>
        <p:nvSpPr>
          <p:cNvPr id="15" name="Shape 13"/>
          <p:cNvSpPr/>
          <p:nvPr/>
        </p:nvSpPr>
        <p:spPr>
          <a:xfrm>
            <a:off x="0" y="6263640"/>
            <a:ext cx="12188952" cy="594360"/>
          </a:xfrm>
          <a:prstGeom prst="rect">
            <a:avLst/>
          </a:prstGeom>
          <a:solidFill>
            <a:srgbClr val="1A3D28"/>
          </a:solidFill>
          <a:ln w="12700">
            <a:solidFill>
              <a:srgbClr val="1A3D28"/>
            </a:solidFill>
            <a:prstDash val="solid"/>
          </a:ln>
        </p:spPr>
      </p:sp>
      <p:sp>
        <p:nvSpPr>
          <p:cNvPr id="16" name="Text 1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Long horizon for planning, short horizon for trust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777240"/>
          </a:xfrm>
          <a:prstGeom prst="rect">
            <a:avLst/>
          </a:prstGeom>
          <a:noFill/>
          <a:ln/>
        </p:spPr>
        <p:txBody>
          <a:bodyPr wrap="square" rtlCol="0" anchor="ctr"/>
          <a:lstStyle/>
          <a:p>
            <a:pPr algn="l" indent="0" marL="0">
              <a:buNone/>
            </a:pPr>
            <a:r>
              <a:rPr lang="en-US" sz="2800" b="1" dirty="0">
                <a:solidFill>
                  <a:srgbClr val="333333"/>
                </a:solidFill>
                <a:latin typeface="Aptos Display" pitchFamily="34" charset="0"/>
                <a:ea typeface="Aptos Display" pitchFamily="34" charset="-122"/>
                <a:cs typeface="Aptos Display" pitchFamily="34" charset="-120"/>
              </a:rPr>
              <a:t>Important clarification: AGM ≠ AcadianGY</a:t>
            </a:r>
            <a:endParaRPr lang="en-US" sz="2800" dirty="0"/>
          </a:p>
        </p:txBody>
      </p:sp>
      <p:sp>
        <p:nvSpPr>
          <p:cNvPr id="3" name="Text 1"/>
          <p:cNvSpPr/>
          <p:nvPr/>
        </p:nvSpPr>
        <p:spPr>
          <a:xfrm>
            <a:off x="457200" y="1097280"/>
            <a:ext cx="11247120" cy="45720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Three models benchmarked here. SILC's operational AGM is NOT one of them.</a:t>
            </a:r>
            <a:endParaRPr lang="en-US" sz="1600" dirty="0"/>
          </a:p>
        </p:txBody>
      </p:sp>
      <p:sp>
        <p:nvSpPr>
          <p:cNvPr id="4" name="Shape 2"/>
          <p:cNvSpPr/>
          <p:nvPr/>
        </p:nvSpPr>
        <p:spPr>
          <a:xfrm>
            <a:off x="457200" y="1645920"/>
            <a:ext cx="5532120" cy="2331720"/>
          </a:xfrm>
          <a:prstGeom prst="rect">
            <a:avLst/>
          </a:prstGeom>
          <a:solidFill>
            <a:srgbClr val="F7F7F7"/>
          </a:solidFill>
          <a:ln w="12700">
            <a:solidFill>
              <a:srgbClr val="F7F7F7"/>
            </a:solidFill>
            <a:prstDash val="solid"/>
          </a:ln>
        </p:spPr>
      </p:sp>
      <p:sp>
        <p:nvSpPr>
          <p:cNvPr id="5" name="Shape 3"/>
          <p:cNvSpPr/>
          <p:nvPr/>
        </p:nvSpPr>
        <p:spPr>
          <a:xfrm>
            <a:off x="457200" y="1645920"/>
            <a:ext cx="73152" cy="2331720"/>
          </a:xfrm>
          <a:prstGeom prst="rect">
            <a:avLst/>
          </a:prstGeom>
          <a:solidFill>
            <a:srgbClr val="1A3D28"/>
          </a:solidFill>
          <a:ln w="12700">
            <a:solidFill>
              <a:srgbClr val="1A3D28"/>
            </a:solidFill>
            <a:prstDash val="solid"/>
          </a:ln>
        </p:spPr>
      </p:sp>
      <p:sp>
        <p:nvSpPr>
          <p:cNvPr id="6" name="Text 4"/>
          <p:cNvSpPr/>
          <p:nvPr/>
        </p:nvSpPr>
        <p:spPr>
          <a:xfrm>
            <a:off x="685800" y="173736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AcadianGY (this deck)</a:t>
            </a:r>
            <a:endParaRPr lang="en-US" sz="1700" dirty="0"/>
          </a:p>
        </p:txBody>
      </p:sp>
      <p:sp>
        <p:nvSpPr>
          <p:cNvPr id="7" name="Text 5"/>
          <p:cNvSpPr/>
          <p:nvPr/>
        </p:nvSpPr>
        <p:spPr>
          <a:xfrm>
            <a:off x="4617720" y="173736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8" name="Text 6"/>
          <p:cNvSpPr/>
          <p:nvPr/>
        </p:nvSpPr>
        <p:spPr>
          <a:xfrm>
            <a:off x="685800" y="210312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Hennigar et al. R model, v12.3.9</a:t>
            </a:r>
            <a:endParaRPr lang="en-US" sz="1200" dirty="0"/>
          </a:p>
        </p:txBody>
      </p:sp>
      <p:sp>
        <p:nvSpPr>
          <p:cNvPr id="9" name="Text 7"/>
          <p:cNvSpPr/>
          <p:nvPr/>
        </p:nvSpPr>
        <p:spPr>
          <a:xfrm>
            <a:off x="685800" y="246888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CRSF research implementation of the Acadian growth and yield model. R code, in source MORTCAL patch, runs as a standalone simulator. Drives the 100 yr trajectories and CFI scorecard in this deck.</a:t>
            </a:r>
            <a:endParaRPr lang="en-US" sz="1200" dirty="0"/>
          </a:p>
        </p:txBody>
      </p:sp>
      <p:sp>
        <p:nvSpPr>
          <p:cNvPr id="10" name="Shape 8"/>
          <p:cNvSpPr/>
          <p:nvPr/>
        </p:nvSpPr>
        <p:spPr>
          <a:xfrm>
            <a:off x="6263640" y="1645920"/>
            <a:ext cx="5532120" cy="2331720"/>
          </a:xfrm>
          <a:prstGeom prst="rect">
            <a:avLst/>
          </a:prstGeom>
          <a:solidFill>
            <a:srgbClr val="F7F7F7"/>
          </a:solidFill>
          <a:ln w="12700">
            <a:solidFill>
              <a:srgbClr val="F7F7F7"/>
            </a:solidFill>
            <a:prstDash val="solid"/>
          </a:ln>
        </p:spPr>
      </p:sp>
      <p:sp>
        <p:nvSpPr>
          <p:cNvPr id="11" name="Shape 9"/>
          <p:cNvSpPr/>
          <p:nvPr/>
        </p:nvSpPr>
        <p:spPr>
          <a:xfrm>
            <a:off x="6263640" y="1645920"/>
            <a:ext cx="73152" cy="2331720"/>
          </a:xfrm>
          <a:prstGeom prst="rect">
            <a:avLst/>
          </a:prstGeom>
          <a:solidFill>
            <a:srgbClr val="1A3D28"/>
          </a:solidFill>
          <a:ln w="12700">
            <a:solidFill>
              <a:srgbClr val="1A3D28"/>
            </a:solidFill>
            <a:prstDash val="solid"/>
          </a:ln>
        </p:spPr>
      </p:sp>
      <p:sp>
        <p:nvSpPr>
          <p:cNvPr id="12" name="Text 10"/>
          <p:cNvSpPr/>
          <p:nvPr/>
        </p:nvSpPr>
        <p:spPr>
          <a:xfrm>
            <a:off x="6492240" y="173736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FVS-NE (this deck)</a:t>
            </a:r>
            <a:endParaRPr lang="en-US" sz="1700" dirty="0"/>
          </a:p>
        </p:txBody>
      </p:sp>
      <p:sp>
        <p:nvSpPr>
          <p:cNvPr id="13" name="Text 11"/>
          <p:cNvSpPr/>
          <p:nvPr/>
        </p:nvSpPr>
        <p:spPr>
          <a:xfrm>
            <a:off x="10424160" y="173736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14" name="Text 12"/>
          <p:cNvSpPr/>
          <p:nvPr/>
        </p:nvSpPr>
        <p:spPr>
          <a:xfrm>
            <a:off x="6492240" y="210312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USDA standalone, Acadian variant</a:t>
            </a:r>
            <a:endParaRPr lang="en-US" sz="1200" dirty="0"/>
          </a:p>
        </p:txBody>
      </p:sp>
      <p:sp>
        <p:nvSpPr>
          <p:cNvPr id="15" name="Text 13"/>
          <p:cNvSpPr/>
          <p:nvPr/>
        </p:nvSpPr>
        <p:spPr>
          <a:xfrm>
            <a:off x="6492240" y="246888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Standalone FVS-NE binary, default plus calibrated configurations. Cardinal job 11078908. Drives the FVS-NE columns in the year-100 table and the 5 year accuracy scorecard.</a:t>
            </a:r>
            <a:endParaRPr lang="en-US" sz="1200" dirty="0"/>
          </a:p>
        </p:txBody>
      </p:sp>
      <p:sp>
        <p:nvSpPr>
          <p:cNvPr id="16" name="Shape 14"/>
          <p:cNvSpPr/>
          <p:nvPr/>
        </p:nvSpPr>
        <p:spPr>
          <a:xfrm>
            <a:off x="457200" y="4251960"/>
            <a:ext cx="5532120" cy="2331720"/>
          </a:xfrm>
          <a:prstGeom prst="rect">
            <a:avLst/>
          </a:prstGeom>
          <a:solidFill>
            <a:srgbClr val="F7F7F7"/>
          </a:solidFill>
          <a:ln w="12700">
            <a:solidFill>
              <a:srgbClr val="F7F7F7"/>
            </a:solidFill>
            <a:prstDash val="solid"/>
          </a:ln>
        </p:spPr>
      </p:sp>
      <p:sp>
        <p:nvSpPr>
          <p:cNvPr id="17" name="Shape 15"/>
          <p:cNvSpPr/>
          <p:nvPr/>
        </p:nvSpPr>
        <p:spPr>
          <a:xfrm>
            <a:off x="457200" y="4251960"/>
            <a:ext cx="73152" cy="2331720"/>
          </a:xfrm>
          <a:prstGeom prst="rect">
            <a:avLst/>
          </a:prstGeom>
          <a:solidFill>
            <a:srgbClr val="1A3D28"/>
          </a:solidFill>
          <a:ln w="12700">
            <a:solidFill>
              <a:srgbClr val="1A3D28"/>
            </a:solidFill>
            <a:prstDash val="solid"/>
          </a:ln>
        </p:spPr>
      </p:sp>
      <p:sp>
        <p:nvSpPr>
          <p:cNvPr id="18" name="Text 16"/>
          <p:cNvSpPr/>
          <p:nvPr/>
        </p:nvSpPr>
        <p:spPr>
          <a:xfrm>
            <a:off x="685800" y="434340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OSM-ACD (this deck)</a:t>
            </a:r>
            <a:endParaRPr lang="en-US" sz="1700" dirty="0"/>
          </a:p>
        </p:txBody>
      </p:sp>
      <p:sp>
        <p:nvSpPr>
          <p:cNvPr id="19" name="Text 17"/>
          <p:cNvSpPr/>
          <p:nvPr/>
        </p:nvSpPr>
        <p:spPr>
          <a:xfrm>
            <a:off x="4617720" y="434340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20" name="Text 18"/>
          <p:cNvSpPr/>
          <p:nvPr/>
        </p:nvSpPr>
        <p:spPr>
          <a:xfrm>
            <a:off x="685800" y="470916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Open Stand Model v2.26.1</a:t>
            </a:r>
            <a:endParaRPr lang="en-US" sz="1200" dirty="0"/>
          </a:p>
        </p:txBody>
      </p:sp>
      <p:sp>
        <p:nvSpPr>
          <p:cNvPr id="21" name="Text 19"/>
          <p:cNvSpPr/>
          <p:nvPr/>
        </p:nvSpPr>
        <p:spPr>
          <a:xfrm>
            <a:off x="685800" y="507492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.NET console binary, Acadian variant. Cardinal job 11091396. Drives the OSM-ACD columns in the year-100 table. 9 of 11 stands cover; Hardwood A+B uncovered.</a:t>
            </a:r>
            <a:endParaRPr lang="en-US" sz="1200" dirty="0"/>
          </a:p>
        </p:txBody>
      </p:sp>
      <p:sp>
        <p:nvSpPr>
          <p:cNvPr id="22" name="Shape 20"/>
          <p:cNvSpPr/>
          <p:nvPr/>
        </p:nvSpPr>
        <p:spPr>
          <a:xfrm>
            <a:off x="6263640" y="4251960"/>
            <a:ext cx="5532120" cy="2331720"/>
          </a:xfrm>
          <a:prstGeom prst="rect">
            <a:avLst/>
          </a:prstGeom>
          <a:solidFill>
            <a:srgbClr val="F7F7F7"/>
          </a:solidFill>
          <a:ln w="12700">
            <a:solidFill>
              <a:srgbClr val="F7F7F7"/>
            </a:solidFill>
            <a:prstDash val="solid"/>
          </a:ln>
        </p:spPr>
      </p:sp>
      <p:sp>
        <p:nvSpPr>
          <p:cNvPr id="23" name="Shape 21"/>
          <p:cNvSpPr/>
          <p:nvPr/>
        </p:nvSpPr>
        <p:spPr>
          <a:xfrm>
            <a:off x="6263640" y="4251960"/>
            <a:ext cx="73152" cy="2331720"/>
          </a:xfrm>
          <a:prstGeom prst="rect">
            <a:avLst/>
          </a:prstGeom>
          <a:solidFill>
            <a:srgbClr val="A03A2A"/>
          </a:solidFill>
          <a:ln w="12700">
            <a:solidFill>
              <a:srgbClr val="A03A2A"/>
            </a:solidFill>
            <a:prstDash val="solid"/>
          </a:ln>
        </p:spPr>
      </p:sp>
      <p:sp>
        <p:nvSpPr>
          <p:cNvPr id="24" name="Text 22"/>
          <p:cNvSpPr/>
          <p:nvPr/>
        </p:nvSpPr>
        <p:spPr>
          <a:xfrm>
            <a:off x="6492240" y="4343400"/>
            <a:ext cx="4114800" cy="365760"/>
          </a:xfrm>
          <a:prstGeom prst="rect">
            <a:avLst/>
          </a:prstGeom>
          <a:noFill/>
          <a:ln/>
        </p:spPr>
        <p:txBody>
          <a:bodyPr wrap="square" rtlCol="0" anchor="ctr"/>
          <a:lstStyle/>
          <a:p>
            <a:pPr algn="l" indent="0" marL="0">
              <a:buNone/>
            </a:pPr>
            <a:r>
              <a:rPr lang="en-US" sz="1700" b="1" dirty="0">
                <a:solidFill>
                  <a:srgbClr val="A03A2A"/>
                </a:solidFill>
                <a:latin typeface="Aptos Display" pitchFamily="34" charset="0"/>
                <a:ea typeface="Aptos Display" pitchFamily="34" charset="-122"/>
                <a:cs typeface="Aptos Display" pitchFamily="34" charset="-120"/>
              </a:rPr>
              <a:t>AGM (SILC operational)</a:t>
            </a:r>
            <a:endParaRPr lang="en-US" sz="1700" dirty="0"/>
          </a:p>
        </p:txBody>
      </p:sp>
      <p:sp>
        <p:nvSpPr>
          <p:cNvPr id="25" name="Text 23"/>
          <p:cNvSpPr/>
          <p:nvPr/>
        </p:nvSpPr>
        <p:spPr>
          <a:xfrm>
            <a:off x="10424160" y="4343400"/>
            <a:ext cx="1280160" cy="365760"/>
          </a:xfrm>
          <a:prstGeom prst="rect">
            <a:avLst/>
          </a:prstGeom>
          <a:solidFill>
            <a:srgbClr val="A03A2A"/>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NOT YET RUN</a:t>
            </a:r>
            <a:endParaRPr lang="en-US" sz="1000" dirty="0"/>
          </a:p>
        </p:txBody>
      </p:sp>
      <p:sp>
        <p:nvSpPr>
          <p:cNvPr id="26" name="Text 24"/>
          <p:cNvSpPr/>
          <p:nvPr/>
        </p:nvSpPr>
        <p:spPr>
          <a:xfrm>
            <a:off x="6492240" y="470916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Seven Islands' production model</a:t>
            </a:r>
            <a:endParaRPr lang="en-US" sz="1200" dirty="0"/>
          </a:p>
        </p:txBody>
      </p:sp>
      <p:sp>
        <p:nvSpPr>
          <p:cNvPr id="27" name="Text 25"/>
          <p:cNvSpPr/>
          <p:nvPr/>
        </p:nvSpPr>
        <p:spPr>
          <a:xfrm>
            <a:off x="6492240" y="507492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SILC's in house operational Acadian Growth Model. Different lineage from AcadianGY R. Has NOT been benchmarked on the SILC CFI data in this deck. Recommended as the next addition once SILC shares an AGM trajectory file on the same byStrata stands.</a:t>
            </a:r>
            <a:endParaRPr lang="en-US" sz="1200" dirty="0"/>
          </a:p>
        </p:txBody>
      </p:sp>
      <p:sp>
        <p:nvSpPr>
          <p:cNvPr id="28" name="Shape 26"/>
          <p:cNvSpPr/>
          <p:nvPr/>
        </p:nvSpPr>
        <p:spPr>
          <a:xfrm>
            <a:off x="0" y="6263640"/>
            <a:ext cx="12188952" cy="594360"/>
          </a:xfrm>
          <a:prstGeom prst="rect">
            <a:avLst/>
          </a:prstGeom>
          <a:solidFill>
            <a:srgbClr val="1A3D28"/>
          </a:solidFill>
          <a:ln w="12700">
            <a:solidFill>
              <a:srgbClr val="1A3D28"/>
            </a:solidFill>
            <a:prstDash val="solid"/>
          </a:ln>
        </p:spPr>
      </p:sp>
      <p:sp>
        <p:nvSpPr>
          <p:cNvPr id="29" name="Text 27"/>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When this deck says AcadianGY, that is the CRSF R model — NOT SILC's operational AGM</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Five forest types x two density classes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Replaces the prior 11 byStrata stand grouping with 10 operational cells</a:t>
            </a:r>
            <a:endParaRPr lang="en-US" sz="1600" dirty="0"/>
          </a:p>
        </p:txBody>
      </p:sp>
      <p:pic>
        <p:nvPicPr>
          <p:cNvPr id="4" name="Image 0" descr="/sessions/friendly-compassionate-rubin/mnt/repos--fvs-modern/calibration/output/comparisons_overstory/silc_strata_5x2_plot_counts.png">    </p:cNvPr>
          <p:cNvPicPr>
            <a:picLocks noChangeAspect="1"/>
          </p:cNvPicPr>
          <p:nvPr/>
        </p:nvPicPr>
        <p:blipFill>
          <a:blip r:embed="rId1"/>
          <a:stretch>
            <a:fillRect/>
          </a:stretch>
        </p:blipFill>
        <p:spPr>
          <a:xfrm>
            <a:off x="1746504" y="1417320"/>
            <a:ext cx="8659368"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Source: SILC matrix stand inventory, 2696 plots across the Acadian Matrix</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Hardwood and Commercial Softwood dominate the 10-cell map</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Stratification rules for SILC sign off</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How each SILC plot is assigned to the 5×2 grid</a:t>
            </a:r>
            <a:endParaRPr lang="en-US" sz="1600" dirty="0"/>
          </a:p>
        </p:txBody>
      </p:sp>
      <p:sp>
        <p:nvSpPr>
          <p:cNvPr id="4" name="Shape 2"/>
          <p:cNvSpPr/>
          <p:nvPr/>
        </p:nvSpPr>
        <p:spPr>
          <a:xfrm>
            <a:off x="457200" y="1463040"/>
            <a:ext cx="5440680" cy="4206240"/>
          </a:xfrm>
          <a:prstGeom prst="rect">
            <a:avLst/>
          </a:prstGeom>
          <a:solidFill>
            <a:srgbClr val="F7F7F7"/>
          </a:solidFill>
          <a:ln w="12700">
            <a:solidFill>
              <a:srgbClr val="F7F7F7"/>
            </a:solidFill>
            <a:prstDash val="solid"/>
          </a:ln>
        </p:spPr>
      </p:sp>
      <p:sp>
        <p:nvSpPr>
          <p:cNvPr id="5" name="Shape 3"/>
          <p:cNvSpPr/>
          <p:nvPr/>
        </p:nvSpPr>
        <p:spPr>
          <a:xfrm>
            <a:off x="457200" y="1463040"/>
            <a:ext cx="73152" cy="4206240"/>
          </a:xfrm>
          <a:prstGeom prst="rect">
            <a:avLst/>
          </a:prstGeom>
          <a:solidFill>
            <a:srgbClr val="1A3D28"/>
          </a:solidFill>
          <a:ln w="12700">
            <a:solidFill>
              <a:srgbClr val="1A3D28"/>
            </a:solidFill>
            <a:prstDash val="solid"/>
          </a:ln>
        </p:spPr>
      </p:sp>
      <p:sp>
        <p:nvSpPr>
          <p:cNvPr id="6" name="Text 4"/>
          <p:cNvSpPr/>
          <p:nvPr/>
        </p:nvSpPr>
        <p:spPr>
          <a:xfrm>
            <a:off x="685800" y="1627632"/>
            <a:ext cx="5074920" cy="457200"/>
          </a:xfrm>
          <a:prstGeom prst="rect">
            <a:avLst/>
          </a:prstGeom>
          <a:noFill/>
          <a:ln/>
        </p:spPr>
        <p:txBody>
          <a:bodyPr wrap="square" rtlCol="0" anchor="ctr"/>
          <a:lstStyle/>
          <a:p>
            <a:pPr indent="0" marL="0">
              <a:buNone/>
            </a:pPr>
            <a:r>
              <a:rPr lang="en-US" sz="2000" b="1" dirty="0">
                <a:solidFill>
                  <a:srgbClr val="1A3D28"/>
                </a:solidFill>
                <a:latin typeface="Aptos Display" pitchFamily="34" charset="0"/>
                <a:ea typeface="Aptos Display" pitchFamily="34" charset="-122"/>
                <a:cs typeface="Aptos Display" pitchFamily="34" charset="-120"/>
              </a:rPr>
              <a:t>Forest type assignment (by % stand BA)</a:t>
            </a:r>
            <a:endParaRPr lang="en-US" sz="2000" dirty="0"/>
          </a:p>
        </p:txBody>
      </p:sp>
      <p:sp>
        <p:nvSpPr>
          <p:cNvPr id="7" name="Text 5"/>
          <p:cNvSpPr/>
          <p:nvPr/>
        </p:nvSpPr>
        <p:spPr>
          <a:xfrm>
            <a:off x="777240" y="2240280"/>
            <a:ext cx="4983480" cy="329184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Cedar: white cedar share &gt;=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Other Softwood: pines &gt;= 50% (JP, RP, WP)</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Mixedwood: hardwood &gt;= 30% AND softwood &gt;= 30% (folds HS + SH)</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Hardwood: HW dominant when softwood &lt;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Commercial Softwood: SW dominant (spruce, fir, hemlock) when HW &lt;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Unclassifiable: total identified species below 50% (CFI plot 1103)</a:t>
            </a:r>
            <a:endParaRPr lang="en-US" sz="1400" dirty="0"/>
          </a:p>
        </p:txBody>
      </p:sp>
      <p:sp>
        <p:nvSpPr>
          <p:cNvPr id="8" name="Shape 6"/>
          <p:cNvSpPr/>
          <p:nvPr/>
        </p:nvSpPr>
        <p:spPr>
          <a:xfrm>
            <a:off x="6263640" y="1463040"/>
            <a:ext cx="5440680" cy="4206240"/>
          </a:xfrm>
          <a:prstGeom prst="rect">
            <a:avLst/>
          </a:prstGeom>
          <a:solidFill>
            <a:srgbClr val="F7F7F7"/>
          </a:solidFill>
          <a:ln w="12700">
            <a:solidFill>
              <a:srgbClr val="F7F7F7"/>
            </a:solidFill>
            <a:prstDash val="solid"/>
          </a:ln>
        </p:spPr>
      </p:sp>
      <p:sp>
        <p:nvSpPr>
          <p:cNvPr id="9" name="Shape 7"/>
          <p:cNvSpPr/>
          <p:nvPr/>
        </p:nvSpPr>
        <p:spPr>
          <a:xfrm>
            <a:off x="6263640" y="1463040"/>
            <a:ext cx="73152" cy="4206240"/>
          </a:xfrm>
          <a:prstGeom prst="rect">
            <a:avLst/>
          </a:prstGeom>
          <a:solidFill>
            <a:srgbClr val="1A3D28"/>
          </a:solidFill>
          <a:ln w="12700">
            <a:solidFill>
              <a:srgbClr val="1A3D28"/>
            </a:solidFill>
            <a:prstDash val="solid"/>
          </a:ln>
        </p:spPr>
      </p:sp>
      <p:sp>
        <p:nvSpPr>
          <p:cNvPr id="10" name="Text 8"/>
          <p:cNvSpPr/>
          <p:nvPr/>
        </p:nvSpPr>
        <p:spPr>
          <a:xfrm>
            <a:off x="6492240" y="1627632"/>
            <a:ext cx="5074920" cy="457200"/>
          </a:xfrm>
          <a:prstGeom prst="rect">
            <a:avLst/>
          </a:prstGeom>
          <a:noFill/>
          <a:ln/>
        </p:spPr>
        <p:txBody>
          <a:bodyPr wrap="square" rtlCol="0" anchor="ctr"/>
          <a:lstStyle/>
          <a:p>
            <a:pPr indent="0" marL="0">
              <a:buNone/>
            </a:pPr>
            <a:r>
              <a:rPr lang="en-US" sz="2000" b="1" dirty="0">
                <a:solidFill>
                  <a:srgbClr val="1A3D28"/>
                </a:solidFill>
                <a:latin typeface="Aptos Display" pitchFamily="34" charset="0"/>
                <a:ea typeface="Aptos Display" pitchFamily="34" charset="-122"/>
                <a:cs typeface="Aptos Display" pitchFamily="34" charset="-120"/>
              </a:rPr>
              <a:t>Density class assignment</a:t>
            </a:r>
            <a:endParaRPr lang="en-US" sz="2000" dirty="0"/>
          </a:p>
        </p:txBody>
      </p:sp>
      <p:sp>
        <p:nvSpPr>
          <p:cNvPr id="11" name="Text 9"/>
          <p:cNvSpPr/>
          <p:nvPr/>
        </p:nvSpPr>
        <p:spPr>
          <a:xfrm>
            <a:off x="6583680" y="2240280"/>
            <a:ext cx="4983480" cy="329184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A+B (high): REL_DENSITY &gt;= 0.28</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C+D (low): REL_DENSITY &lt; 0.28</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REL_DENSITY = SDI / SDI_max with SDI_max = 450 (Long 1985 NE softwood)</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Threshold = CFI sample median; balances 5/5 plot split</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Operational alternative: SILC Matrix BA stocking lines A (&gt;=100), B (80-100), C (60-80), D (&lt;60)</a:t>
            </a:r>
            <a:endParaRPr lang="en-US" sz="1400" dirty="0"/>
          </a:p>
        </p:txBody>
      </p:sp>
      <p:sp>
        <p:nvSpPr>
          <p:cNvPr id="12" name="Text 10"/>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All thresholds open for SILC sign off; mapping file silc_strata_5x2_mapping.csv</a:t>
            </a:r>
            <a:endParaRPr lang="en-US" sz="1000" dirty="0"/>
          </a:p>
        </p:txBody>
      </p:sp>
      <p:sp>
        <p:nvSpPr>
          <p:cNvPr id="13" name="Shape 11"/>
          <p:cNvSpPr/>
          <p:nvPr/>
        </p:nvSpPr>
        <p:spPr>
          <a:xfrm>
            <a:off x="0" y="6263640"/>
            <a:ext cx="12188952" cy="594360"/>
          </a:xfrm>
          <a:prstGeom prst="rect">
            <a:avLst/>
          </a:prstGeom>
          <a:solidFill>
            <a:srgbClr val="1A3D28"/>
          </a:solidFill>
          <a:ln w="12700">
            <a:solidFill>
              <a:srgbClr val="1A3D28"/>
            </a:solidFill>
            <a:prstDash val="solid"/>
          </a:ln>
        </p:spPr>
      </p:sp>
      <p:sp>
        <p:nvSpPr>
          <p:cNvPr id="14" name="Text 12"/>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Awaiting SILC confirmation on species cutoffs and density threshold</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100-yr AcadianGY trajectories: default vs MORTCAL</a:t>
            </a:r>
            <a:endParaRPr lang="en-US" sz="32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Default (green) climbs to ~200 ft²/ac at year 100. MORTCAL (gold) plateaus at 80-110 ft²/ac — operationally credible carrying capacity.</a:t>
            </a:r>
            <a:endParaRPr lang="en-US" sz="1400" dirty="0"/>
          </a:p>
        </p:txBody>
      </p:sp>
      <p:pic>
        <p:nvPicPr>
          <p:cNvPr id="4" name="Image 0" descr="/sessions/friendly-compassionate-rubin/mnt/repos--fvs-modern/calibration/output/comparisons_overstory/silc_strata_5x2_AGM_MORTCAL_BA.png">    </p:cNvPr>
          <p:cNvPicPr>
            <a:picLocks noChangeAspect="1"/>
          </p:cNvPicPr>
          <p:nvPr/>
        </p:nvPicPr>
        <p:blipFill>
          <a:blip r:embed="rId1"/>
          <a:stretch>
            <a:fillRect/>
          </a:stretch>
        </p:blipFill>
        <p:spPr>
          <a:xfrm>
            <a:off x="2560320" y="1508760"/>
            <a:ext cx="7050024"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AcadianGY v12.3.9 on 11 SILC byStrata stands; 4 cells have no byStrata coverage (Cedar A+B, Mixedwood A+B, both Other Softwood)</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Default AcadianGY over-projects standing BA by ~2x at year 100; MORTCAL corrects this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Year-100 outcomes by stratum</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Year-100 BA in ft²/ac, Cords in cords/ac</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37160" y="1508760"/>
          <a:ext cx="11932920" cy="4114800"/>
        </p:xfrm>
        <a:graphic>
          <a:graphicData uri="http://schemas.openxmlformats.org/drawingml/2006/table">
            <a:tbl>
              <a:tblPr/>
              <a:tblGrid>
                <a:gridCol w="2194560"/>
                <a:gridCol w="438912"/>
                <a:gridCol w="960120"/>
                <a:gridCol w="1298448"/>
                <a:gridCol w="1078992"/>
                <a:gridCol w="1078992"/>
                <a:gridCol w="1078992"/>
                <a:gridCol w="1371600"/>
                <a:gridCol w="1517904"/>
              </a:tblGrid>
              <a:tr h="347472">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Stratum</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n</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def</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MORTCAL</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FVS-NE def</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FVS-NE cal</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OSM-ACD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mc Cords</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OSM Cords</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347472">
                <a:tc>
                  <a:txBody>
                    <a:bodyPr/>
                    <a:lstStyle/>
                    <a:p>
                      <a:pPr algn="ctr" indent="0" marL="0">
                        <a:buNone/>
                      </a:pPr>
                      <a:r>
                        <a:rPr lang="en-US" sz="1100" i="1" dirty="0">
                          <a:solidFill>
                            <a:srgbClr val="333333"/>
                          </a:solidFill>
                          <a:latin typeface="Aptos" pitchFamily="34" charset="0"/>
                          <a:ea typeface="Aptos" pitchFamily="34" charset="-122"/>
                          <a:cs typeface="Aptos" pitchFamily="34" charset="-120"/>
                        </a:rPr>
                        <a:t>Cedar / A+B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81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35.8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Cedar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291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249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41.5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Hardwood / A+B</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107</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144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39.3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Hardwood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198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125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174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38.9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32.4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i="1" dirty="0">
                          <a:solidFill>
                            <a:srgbClr val="333333"/>
                          </a:solidFill>
                          <a:latin typeface="Aptos" pitchFamily="34" charset="0"/>
                          <a:ea typeface="Aptos" pitchFamily="34" charset="-122"/>
                          <a:cs typeface="Aptos" pitchFamily="34" charset="-120"/>
                        </a:rPr>
                        <a:t>Mixedwood / A+B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52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Mixedwood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239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153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183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37.6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34.6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Commercial SW / A+B</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274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225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222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35.9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40.0</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Commercial SW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264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186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i="1" dirty="0">
                          <a:solidFill>
                            <a:srgbClr val="888888"/>
                          </a:solidFill>
                          <a:latin typeface="Aptos" pitchFamily="34" charset="0"/>
                          <a:ea typeface="Aptos" pitchFamily="34" charset="-122"/>
                          <a:cs typeface="Aptos" pitchFamily="34" charset="-120"/>
                        </a:rPr>
                        <a:t>Other Softwood (no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0</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Year-100 (2123) BA in ft²/ac, Cords/ac. AcadianGY 12.3.9; FVS-NE job 11078908; OSM-ACD job 11091396 (5 of 6 cells; H3B-N + H3C-N still failing — Hardwood A+B uncovered)</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MORTCAL anchors low; OSM-ACD + FVS-NE cal cluster around 170-250 BA</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Refined model inputs from SILC CFI lat/long (v3)</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v3 SILC CFI now has approximate lat/long (46.46° N, 68.43° W, Davistown). Used to sample BGI and CSI rasters.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691640"/>
          <a:ext cx="11430000" cy="2743200"/>
        </p:xfrm>
        <a:graphic>
          <a:graphicData uri="http://schemas.openxmlformats.org/drawingml/2006/table">
            <a:tbl>
              <a:tblPr/>
              <a:tblGrid>
                <a:gridCol w="2194560"/>
                <a:gridCol w="1371600"/>
                <a:gridCol w="1463040"/>
                <a:gridCol w="2743200"/>
                <a:gridCol w="3657600"/>
              </a:tblGrid>
              <a:tr h="502920">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Parameter</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Default</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Refined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Source</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Effect on year 100 projection</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BGI (OSM)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3000</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3902</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ME_BGI_V1.tif @ lat/long</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Higher productivity input; OSM uses it via climate channel</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CSI (AcadianGY, FVS-ACD)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12.0 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15.78 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CSI_2030.tif @ lat/long</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Mean was already 14.33 m for byStrata stands; CFI plots updated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FVS-NE site index</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42 ft (BF)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35 ft (BF)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Empirical from CFI dominant heights</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Default too optimistic; SI=35 reduces FVS-NE growth slightly</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AcadianGY MORTCAL</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off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TRUE</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#126b in-source patch</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Cuts long horizon over projection in half (10 yr +18.5% to +7.8%)</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365760" y="4663440"/>
            <a:ext cx="11430000" cy="1097280"/>
          </a:xfrm>
          <a:prstGeom prst="rect">
            <a:avLst/>
          </a:prstGeom>
          <a:noFill/>
          <a:ln/>
        </p:spPr>
        <p:txBody>
          <a:bodyPr wrap="square" rtlCol="0" anchor="t"/>
          <a:lstStyle/>
          <a:p>
            <a:pPr algn="l" indent="0" marL="0">
              <a:buNone/>
            </a:pPr>
            <a:r>
              <a:rPr lang="en-US" sz="1400" dirty="0">
                <a:solidFill>
                  <a:srgbClr val="333333"/>
                </a:solidFill>
                <a:latin typeface="Aptos" pitchFamily="34" charset="0"/>
                <a:ea typeface="Aptos" pitchFamily="34" charset="-122"/>
                <a:cs typeface="Aptos" pitchFamily="34" charset="-120"/>
              </a:rPr>
              <a:t>Sensitivity check on the v9 vs v10 FVS-NE: SI=42 -&gt; SI=35 changed year 100 BA by &lt; 0.3% for every cell. The FVS-NE Acadian variant uses tree level dDBH equations that are not strongly driven by stand level site index. The OSM BGI swap (3000 -&gt; 3902) was the larger lever; it pushed OSM productivity up but the model remained convergent.</a:t>
            </a:r>
            <a:endParaRPr lang="en-US" sz="1400" dirty="0"/>
          </a:p>
        </p:txBody>
      </p:sp>
      <p:sp>
        <p:nvSpPr>
          <p:cNvPr id="6" name="Text 3"/>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BGI: ME_BGI_V1.tif (FORUS); CSI: CSI_2030.tif (Hennigar figshare); SI: empirical from STAND_METRICS HT_MEAN_FT</a:t>
            </a:r>
            <a:endParaRPr lang="en-US" sz="1000" dirty="0"/>
          </a:p>
        </p:txBody>
      </p:sp>
      <p:sp>
        <p:nvSpPr>
          <p:cNvPr id="7" name="Shape 4"/>
          <p:cNvSpPr/>
          <p:nvPr/>
        </p:nvSpPr>
        <p:spPr>
          <a:xfrm>
            <a:off x="0" y="6263640"/>
            <a:ext cx="12188952" cy="594360"/>
          </a:xfrm>
          <a:prstGeom prst="rect">
            <a:avLst/>
          </a:prstGeom>
          <a:solidFill>
            <a:srgbClr val="1A3D28"/>
          </a:solidFill>
          <a:ln w="12700">
            <a:solidFill>
              <a:srgbClr val="1A3D28"/>
            </a:solidFill>
            <a:prstDash val="solid"/>
          </a:ln>
        </p:spPr>
      </p:sp>
      <p:sp>
        <p:nvSpPr>
          <p:cNvPr id="8" name="Text 5"/>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Refined inputs change rankings minimally; AcadianGY MORTCAL still anchors low</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SILC CFI gives us the empirical anchor</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Davistown / Town 13 Tract 2, northern Maine | v16 expansion: 154 plots, 65 long-horizon routine pairs</a:t>
            </a:r>
            <a:endParaRPr lang="en-US" sz="1600" dirty="0"/>
          </a:p>
        </p:txBody>
      </p:sp>
      <p:sp>
        <p:nvSpPr>
          <p:cNvPr id="4" name="Text 2"/>
          <p:cNvSpPr/>
          <p:nvPr/>
        </p:nvSpPr>
        <p:spPr>
          <a:xfrm>
            <a:off x="548640"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154</a:t>
            </a:r>
            <a:endParaRPr lang="en-US" sz="5400" dirty="0"/>
          </a:p>
        </p:txBody>
      </p:sp>
      <p:sp>
        <p:nvSpPr>
          <p:cNvPr id="5" name="Text 3"/>
          <p:cNvSpPr/>
          <p:nvPr/>
        </p:nvSpPr>
        <p:spPr>
          <a:xfrm>
            <a:off x="548640"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fixed-area plots</a:t>
            </a:r>
            <a:endParaRPr lang="en-US" sz="1600" dirty="0"/>
          </a:p>
        </p:txBody>
      </p:sp>
      <p:sp>
        <p:nvSpPr>
          <p:cNvPr id="6" name="Text 4"/>
          <p:cNvSpPr/>
          <p:nvPr/>
        </p:nvSpPr>
        <p:spPr>
          <a:xfrm>
            <a:off x="548640"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v16 (was 10 in v3)</a:t>
            </a:r>
            <a:endParaRPr lang="en-US" sz="1300" dirty="0"/>
          </a:p>
        </p:txBody>
      </p:sp>
      <p:sp>
        <p:nvSpPr>
          <p:cNvPr id="7" name="Text 5"/>
          <p:cNvSpPr/>
          <p:nvPr/>
        </p:nvSpPr>
        <p:spPr>
          <a:xfrm>
            <a:off x="2953512"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7</a:t>
            </a:r>
            <a:endParaRPr lang="en-US" sz="5400" dirty="0"/>
          </a:p>
        </p:txBody>
      </p:sp>
      <p:sp>
        <p:nvSpPr>
          <p:cNvPr id="8" name="Text 6"/>
          <p:cNvSpPr/>
          <p:nvPr/>
        </p:nvSpPr>
        <p:spPr>
          <a:xfrm>
            <a:off x="2953512"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measurement waves</a:t>
            </a:r>
            <a:endParaRPr lang="en-US" sz="1600" dirty="0"/>
          </a:p>
        </p:txBody>
      </p:sp>
      <p:sp>
        <p:nvSpPr>
          <p:cNvPr id="9" name="Text 7"/>
          <p:cNvSpPr/>
          <p:nvPr/>
        </p:nvSpPr>
        <p:spPr>
          <a:xfrm>
            <a:off x="2953512"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1981 → 2002</a:t>
            </a:r>
            <a:endParaRPr lang="en-US" sz="1300" dirty="0"/>
          </a:p>
        </p:txBody>
      </p:sp>
      <p:sp>
        <p:nvSpPr>
          <p:cNvPr id="10" name="Text 8"/>
          <p:cNvSpPr/>
          <p:nvPr/>
        </p:nvSpPr>
        <p:spPr>
          <a:xfrm>
            <a:off x="5358384"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11,068</a:t>
            </a:r>
            <a:endParaRPr lang="en-US" sz="5400" dirty="0"/>
          </a:p>
        </p:txBody>
      </p:sp>
      <p:sp>
        <p:nvSpPr>
          <p:cNvPr id="11" name="Text 9"/>
          <p:cNvSpPr/>
          <p:nvPr/>
        </p:nvSpPr>
        <p:spPr>
          <a:xfrm>
            <a:off x="5358384"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tree records</a:t>
            </a:r>
            <a:endParaRPr lang="en-US" sz="1600" dirty="0"/>
          </a:p>
        </p:txBody>
      </p:sp>
      <p:sp>
        <p:nvSpPr>
          <p:cNvPr id="12" name="Text 10"/>
          <p:cNvSpPr/>
          <p:nvPr/>
        </p:nvSpPr>
        <p:spPr>
          <a:xfrm>
            <a:off x="5358384"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v16 (was 1,996)</a:t>
            </a:r>
            <a:endParaRPr lang="en-US" sz="1300" dirty="0"/>
          </a:p>
        </p:txBody>
      </p:sp>
      <p:sp>
        <p:nvSpPr>
          <p:cNvPr id="13" name="Text 11"/>
          <p:cNvSpPr/>
          <p:nvPr/>
        </p:nvSpPr>
        <p:spPr>
          <a:xfrm>
            <a:off x="7763256"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9,542</a:t>
            </a:r>
            <a:endParaRPr lang="en-US" sz="5400" dirty="0"/>
          </a:p>
        </p:txBody>
      </p:sp>
      <p:sp>
        <p:nvSpPr>
          <p:cNvPr id="14" name="Text 12"/>
          <p:cNvSpPr/>
          <p:nvPr/>
        </p:nvSpPr>
        <p:spPr>
          <a:xfrm>
            <a:off x="7763256"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paired growth records</a:t>
            </a:r>
            <a:endParaRPr lang="en-US" sz="1600" dirty="0"/>
          </a:p>
        </p:txBody>
      </p:sp>
      <p:sp>
        <p:nvSpPr>
          <p:cNvPr id="15" name="Text 13"/>
          <p:cNvSpPr/>
          <p:nvPr/>
        </p:nvSpPr>
        <p:spPr>
          <a:xfrm>
            <a:off x="7763256"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GRM table v16</a:t>
            </a:r>
            <a:endParaRPr lang="en-US" sz="1300" dirty="0"/>
          </a:p>
        </p:txBody>
      </p:sp>
      <p:sp>
        <p:nvSpPr>
          <p:cNvPr id="16" name="Text 14"/>
          <p:cNvSpPr/>
          <p:nvPr/>
        </p:nvSpPr>
        <p:spPr>
          <a:xfrm>
            <a:off x="10168128"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73</a:t>
            </a:r>
            <a:endParaRPr lang="en-US" sz="5400" dirty="0"/>
          </a:p>
        </p:txBody>
      </p:sp>
      <p:sp>
        <p:nvSpPr>
          <p:cNvPr id="17" name="Text 15"/>
          <p:cNvSpPr/>
          <p:nvPr/>
        </p:nvSpPr>
        <p:spPr>
          <a:xfrm>
            <a:off x="10168128"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long-horizon pairs</a:t>
            </a:r>
            <a:endParaRPr lang="en-US" sz="1600" dirty="0"/>
          </a:p>
        </p:txBody>
      </p:sp>
      <p:sp>
        <p:nvSpPr>
          <p:cNvPr id="18" name="Text 16"/>
          <p:cNvSpPr/>
          <p:nvPr/>
        </p:nvSpPr>
        <p:spPr>
          <a:xfrm>
            <a:off x="10168128"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65 routine + 8 establishment</a:t>
            </a:r>
            <a:endParaRPr lang="en-US" sz="1300" dirty="0"/>
          </a:p>
        </p:txBody>
      </p:sp>
      <p:sp>
        <p:nvSpPr>
          <p:cNvPr id="19" name="Text 17"/>
          <p:cNvSpPr/>
          <p:nvPr/>
        </p:nvSpPr>
        <p:spPr>
          <a:xfrm>
            <a:off x="548640" y="4206240"/>
            <a:ext cx="11064240" cy="457200"/>
          </a:xfrm>
          <a:prstGeom prst="rect">
            <a:avLst/>
          </a:prstGeom>
          <a:noFill/>
          <a:ln/>
        </p:spPr>
        <p:txBody>
          <a:bodyPr wrap="square" rtlCol="0" anchor="ctr"/>
          <a:lstStyle/>
          <a:p>
            <a:pPr algn="l" indent="0" marL="0">
              <a:buNone/>
            </a:pPr>
            <a:r>
              <a:rPr lang="en-US" sz="1400" dirty="0">
                <a:solidFill>
                  <a:srgbClr val="333333"/>
                </a:solidFill>
                <a:latin typeface="Aptos" pitchFamily="34" charset="0"/>
                <a:ea typeface="Aptos" pitchFamily="34" charset="-122"/>
                <a:cs typeface="Aptos" pitchFamily="34" charset="-120"/>
              </a:rPr>
              <a:t>5 of 10 strata cells covered by CFI plots: Cedar / Hardwood (both densities) / Mixedwood (both) / Commercial Softwood / C+D</a:t>
            </a:r>
            <a:endParaRPr lang="en-US" sz="1400" dirty="0"/>
          </a:p>
        </p:txBody>
      </p:sp>
      <p:sp>
        <p:nvSpPr>
          <p:cNvPr id="20" name="Text 18"/>
          <p:cNvSpPr/>
          <p:nvPr/>
        </p:nvSpPr>
        <p:spPr>
          <a:xfrm>
            <a:off x="548640" y="4663440"/>
            <a:ext cx="11064240" cy="457200"/>
          </a:xfrm>
          <a:prstGeom prst="rect">
            <a:avLst/>
          </a:prstGeom>
          <a:noFill/>
          <a:ln/>
        </p:spPr>
        <p:txBody>
          <a:bodyPr wrap="square" rtlCol="0" anchor="ctr"/>
          <a:lstStyle/>
          <a:p>
            <a:pPr algn="l" indent="0" marL="0">
              <a:buNone/>
            </a:pPr>
            <a:r>
              <a:rPr lang="en-US" sz="1400" b="1" dirty="0">
                <a:solidFill>
                  <a:srgbClr val="333333"/>
                </a:solidFill>
                <a:latin typeface="Aptos" pitchFamily="34" charset="0"/>
                <a:ea typeface="Aptos" pitchFamily="34" charset="-122"/>
                <a:cs typeface="Aptos" pitchFamily="34" charset="-120"/>
              </a:rPr>
              <a:t>Cedar / A+B is uniquely covered by CFI but NOT by AcadianGY byStrata — the two anchors are complementary</a:t>
            </a:r>
            <a:endParaRPr lang="en-US" sz="1400" dirty="0"/>
          </a:p>
        </p:txBody>
      </p:sp>
      <p:sp>
        <p:nvSpPr>
          <p:cNvPr id="21" name="Text 19"/>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Source: SILC_CFI_FIADB_Database_v16.xlsx, FIADB-structured. AcadianGY MORTCAL Cardinal job 11105908.</a:t>
            </a:r>
            <a:endParaRPr lang="en-US" sz="1000" dirty="0"/>
          </a:p>
        </p:txBody>
      </p:sp>
      <p:sp>
        <p:nvSpPr>
          <p:cNvPr id="22" name="Shape 20"/>
          <p:cNvSpPr/>
          <p:nvPr/>
        </p:nvSpPr>
        <p:spPr>
          <a:xfrm>
            <a:off x="0" y="6263640"/>
            <a:ext cx="12188952" cy="594360"/>
          </a:xfrm>
          <a:prstGeom prst="rect">
            <a:avLst/>
          </a:prstGeom>
          <a:solidFill>
            <a:srgbClr val="1A3D28"/>
          </a:solidFill>
          <a:ln w="12700">
            <a:solidFill>
              <a:srgbClr val="1A3D28"/>
            </a:solidFill>
            <a:prstDash val="solid"/>
          </a:ln>
        </p:spPr>
      </p:sp>
      <p:sp>
        <p:nvSpPr>
          <p:cNvPr id="23" name="Text 21"/>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v16 expansion: 9× larger empirical anchor across 154 SILC plots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Three models bracket the truth on CFI</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FVS-NE calibrated lands closest, AcadianGY over projects, OSM-ACD under projects</a:t>
            </a:r>
            <a:endParaRPr lang="en-US" sz="1600" dirty="0"/>
          </a:p>
        </p:txBody>
      </p:sp>
      <p:pic>
        <p:nvPicPr>
          <p:cNvPr id="4" name="Image 0" descr="/sessions/friendly-compassionate-rubin/mnt/repos--fvs-modern/calibration/output/comparisons_overstory/silc_cfi/silc_cfi_multimodel_scatter.png">    </p:cNvPr>
          <p:cNvPicPr>
            <a:picLocks noChangeAspect="1"/>
          </p:cNvPicPr>
          <p:nvPr/>
        </p:nvPicPr>
        <p:blipFill>
          <a:blip r:embed="rId1"/>
          <a:stretch>
            <a:fillRect/>
          </a:stretch>
        </p:blipFill>
        <p:spPr>
          <a:xfrm>
            <a:off x="2615184" y="1417320"/>
            <a:ext cx="6940296"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AcadianGY 12.3.9 (in-source mortality + ingrowth fix); OSM-ACD = Open Stand Model Acadian v2.26.1, Cardinal SLURM 10988107 + 10990880</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FVS-NE calibrated and AcadianGY near zero, OSM is the under bracket</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Multi model CFI accuracy at a glance</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Routine growth subset, n=17. Best of each metric in green, worst in red</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417320"/>
          <a:ext cx="11612880" cy="3657600"/>
        </p:xfrm>
        <a:graphic>
          <a:graphicData uri="http://schemas.openxmlformats.org/drawingml/2006/table">
            <a:tbl>
              <a:tblPr/>
              <a:tblGrid>
                <a:gridCol w="2560320"/>
                <a:gridCol w="1371600"/>
                <a:gridCol w="1371600"/>
                <a:gridCol w="2194560"/>
                <a:gridCol w="1371600"/>
                <a:gridCol w="1371600"/>
              </a:tblGrid>
              <a:tr h="457200">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Predictor</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BA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Cords</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BdFt (Intl ¼)</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SDI</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Curtis RD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zero growth</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-15.9%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+4.8%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+5.2%</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FIA prior PAI</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+3.9%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+1.4%</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-8.9%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n/a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n/a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AcadianGY 12.3.9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+7.0%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+8.4%</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FVS-NE default</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+4.6%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FVS-NE calibrated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-3.8%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-13.6%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FVS-ACD (default = cal *)</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-2.5%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-0.5%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-0.7%</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OSM-ACD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-8.0%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-7.3%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+2.0%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 FVS-ACD calibration tweaks BAMAX stocking caps which do not bind below 150 ft²/ac BA; default and calibrated produce identical projections on these CFI plots. n=17 routine-growth subset</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FVS-NE calibrated wins BA, FVS-ACD wins cords, AcadianGY wins BdFt SDI RD</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Species composition matched by AcadianGY and OSM-ACD</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AcadianGY within 1.3 pp on Comm SW share, OSM-ACD within 3 pp on all four groups</a:t>
            </a:r>
            <a:endParaRPr lang="en-US" sz="1600" dirty="0"/>
          </a:p>
        </p:txBody>
      </p:sp>
      <p:pic>
        <p:nvPicPr>
          <p:cNvPr id="4" name="Image 0" descr="/sessions/friendly-compassionate-rubin/mnt/repos--fvs-modern/calibration/output/comparisons_overstory/silc_cfi/silc_cfi_species_full.png">    </p:cNvPr>
          <p:cNvPicPr>
            <a:picLocks noChangeAspect="1"/>
          </p:cNvPicPr>
          <p:nvPr/>
        </p:nvPicPr>
        <p:blipFill>
          <a:blip r:embed="rId1"/>
          <a:stretch>
            <a:fillRect/>
          </a:stretch>
        </p:blipFill>
        <p:spPr>
          <a:xfrm>
            <a:off x="1591056" y="1371600"/>
            <a:ext cx="8979408"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Mean of routine-growth subset n=17. Bias annotations are predicted minus observed in percentage points. FVS per tree species output deferred (TREELIST scheduling)</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and OSM-ACD both track the observed Comm SW + Hardwood mix</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What this means for SILC operational use</a:t>
            </a:r>
            <a:endParaRPr lang="en-US" sz="3200" dirty="0"/>
          </a:p>
        </p:txBody>
      </p:sp>
      <p:sp>
        <p:nvSpPr>
          <p:cNvPr id="3" name="Shape 1"/>
          <p:cNvSpPr/>
          <p:nvPr/>
        </p:nvSpPr>
        <p:spPr>
          <a:xfrm>
            <a:off x="457200" y="1371600"/>
            <a:ext cx="11064240" cy="1371600"/>
          </a:xfrm>
          <a:prstGeom prst="rect">
            <a:avLst/>
          </a:prstGeom>
          <a:solidFill>
            <a:srgbClr val="F7F7F7"/>
          </a:solidFill>
          <a:ln w="12700">
            <a:solidFill>
              <a:srgbClr val="F7F7F7"/>
            </a:solidFill>
            <a:prstDash val="solid"/>
          </a:ln>
        </p:spPr>
      </p:sp>
      <p:sp>
        <p:nvSpPr>
          <p:cNvPr id="4" name="Shape 2"/>
          <p:cNvSpPr/>
          <p:nvPr/>
        </p:nvSpPr>
        <p:spPr>
          <a:xfrm>
            <a:off x="457200" y="1371600"/>
            <a:ext cx="73152" cy="1371600"/>
          </a:xfrm>
          <a:prstGeom prst="rect">
            <a:avLst/>
          </a:prstGeom>
          <a:solidFill>
            <a:srgbClr val="A03A2A"/>
          </a:solidFill>
          <a:ln w="12700">
            <a:solidFill>
              <a:srgbClr val="A03A2A"/>
            </a:solidFill>
            <a:prstDash val="solid"/>
          </a:ln>
        </p:spPr>
      </p:sp>
      <p:sp>
        <p:nvSpPr>
          <p:cNvPr id="5" name="Text 3"/>
          <p:cNvSpPr/>
          <p:nvPr/>
        </p:nvSpPr>
        <p:spPr>
          <a:xfrm>
            <a:off x="685800" y="150876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Benchmark SILC AGM on the same CFI and byStrata data — the missing model</a:t>
            </a:r>
            <a:endParaRPr lang="en-US" sz="2000" dirty="0"/>
          </a:p>
        </p:txBody>
      </p:sp>
      <p:sp>
        <p:nvSpPr>
          <p:cNvPr id="6" name="Text 4"/>
          <p:cNvSpPr/>
          <p:nvPr/>
        </p:nvSpPr>
        <p:spPr>
          <a:xfrm>
            <a:off x="685800" y="196596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AcadianGY is the CRSF R model in this deck. SILC's operational AGM has NOT been run on the SILC CFI pairs or on the same 11 byStrata stands. The clearest single next step is for SILC to share AGM trajectories on these stands so the four model picture becomes a five model picture with the operational anchor included.</a:t>
            </a:r>
            <a:endParaRPr lang="en-US" sz="1500" dirty="0"/>
          </a:p>
        </p:txBody>
      </p:sp>
      <p:sp>
        <p:nvSpPr>
          <p:cNvPr id="7" name="Shape 5"/>
          <p:cNvSpPr/>
          <p:nvPr/>
        </p:nvSpPr>
        <p:spPr>
          <a:xfrm>
            <a:off x="457200" y="2880360"/>
            <a:ext cx="11064240" cy="1371600"/>
          </a:xfrm>
          <a:prstGeom prst="rect">
            <a:avLst/>
          </a:prstGeom>
          <a:solidFill>
            <a:srgbClr val="F7F7F7"/>
          </a:solidFill>
          <a:ln w="12700">
            <a:solidFill>
              <a:srgbClr val="F7F7F7"/>
            </a:solidFill>
            <a:prstDash val="solid"/>
          </a:ln>
        </p:spPr>
      </p:sp>
      <p:sp>
        <p:nvSpPr>
          <p:cNvPr id="8" name="Shape 6"/>
          <p:cNvSpPr/>
          <p:nvPr/>
        </p:nvSpPr>
        <p:spPr>
          <a:xfrm>
            <a:off x="457200" y="2880360"/>
            <a:ext cx="73152" cy="1371600"/>
          </a:xfrm>
          <a:prstGeom prst="rect">
            <a:avLst/>
          </a:prstGeom>
          <a:solidFill>
            <a:srgbClr val="1A3D28"/>
          </a:solidFill>
          <a:ln w="12700">
            <a:solidFill>
              <a:srgbClr val="1A3D28"/>
            </a:solidFill>
            <a:prstDash val="solid"/>
          </a:ln>
        </p:spPr>
      </p:sp>
      <p:sp>
        <p:nvSpPr>
          <p:cNvPr id="9" name="Text 7"/>
          <p:cNvSpPr/>
          <p:nvPr/>
        </p:nvSpPr>
        <p:spPr>
          <a:xfrm>
            <a:off x="685800" y="301752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AcadianGY with MORTCAL is the closest CRSF analog for an operational anchor</a:t>
            </a:r>
            <a:endParaRPr lang="en-US" sz="2000" dirty="0"/>
          </a:p>
        </p:txBody>
      </p:sp>
      <p:sp>
        <p:nvSpPr>
          <p:cNvPr id="10" name="Text 8"/>
          <p:cNvSpPr/>
          <p:nvPr/>
        </p:nvSpPr>
        <p:spPr>
          <a:xfrm>
            <a:off x="685800" y="347472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Cuts 10 yr empirical BA bias from +18.5% to +7.8%; year 100 BA settles at 98 to 108 ft²/ac, Cords 35 to 39 cords/ac. Sawlog BdFt R² = 0.84 with single digit bias. Until SILC AGM is benchmarked, use AcadianGY MORTCAL as the operational floor.</a:t>
            </a:r>
            <a:endParaRPr lang="en-US" sz="1500" dirty="0"/>
          </a:p>
        </p:txBody>
      </p:sp>
      <p:sp>
        <p:nvSpPr>
          <p:cNvPr id="11" name="Shape 9"/>
          <p:cNvSpPr/>
          <p:nvPr/>
        </p:nvSpPr>
        <p:spPr>
          <a:xfrm>
            <a:off x="457200" y="4389120"/>
            <a:ext cx="11064240" cy="1371600"/>
          </a:xfrm>
          <a:prstGeom prst="rect">
            <a:avLst/>
          </a:prstGeom>
          <a:solidFill>
            <a:srgbClr val="F7F7F7"/>
          </a:solidFill>
          <a:ln w="12700">
            <a:solidFill>
              <a:srgbClr val="F7F7F7"/>
            </a:solidFill>
            <a:prstDash val="solid"/>
          </a:ln>
        </p:spPr>
      </p:sp>
      <p:sp>
        <p:nvSpPr>
          <p:cNvPr id="12" name="Shape 10"/>
          <p:cNvSpPr/>
          <p:nvPr/>
        </p:nvSpPr>
        <p:spPr>
          <a:xfrm>
            <a:off x="457200" y="4389120"/>
            <a:ext cx="73152" cy="1371600"/>
          </a:xfrm>
          <a:prstGeom prst="rect">
            <a:avLst/>
          </a:prstGeom>
          <a:solidFill>
            <a:srgbClr val="1A3D28"/>
          </a:solidFill>
          <a:ln w="12700">
            <a:solidFill>
              <a:srgbClr val="1A3D28"/>
            </a:solidFill>
            <a:prstDash val="solid"/>
          </a:ln>
        </p:spPr>
      </p:sp>
      <p:sp>
        <p:nvSpPr>
          <p:cNvPr id="13" name="Text 11"/>
          <p:cNvSpPr/>
          <p:nvPr/>
        </p:nvSpPr>
        <p:spPr>
          <a:xfrm>
            <a:off x="685800" y="452628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FVS-NE calibrated brackets the upper bound on year 100 and is best on short horizon</a:t>
            </a:r>
            <a:endParaRPr lang="en-US" sz="2000" dirty="0"/>
          </a:p>
        </p:txBody>
      </p:sp>
      <p:sp>
        <p:nvSpPr>
          <p:cNvPr id="14" name="Text 12"/>
          <p:cNvSpPr/>
          <p:nvPr/>
        </p:nvSpPr>
        <p:spPr>
          <a:xfrm>
            <a:off x="685800" y="498348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Year 100 BA 125 to 225 ft²/ac, Cords 44 to 70. Sits between AcadianGY default and MORTCAL on every cell. Lowest 5 yr CFI bias (-0.3% BA, -3.8% Cords). Use as the FVS variant cross check.</a:t>
            </a:r>
            <a:endParaRPr lang="en-US" sz="1500" dirty="0"/>
          </a:p>
        </p:txBody>
      </p:sp>
      <p:sp>
        <p:nvSpPr>
          <p:cNvPr id="15" name="Shape 13"/>
          <p:cNvSpPr/>
          <p:nvPr/>
        </p:nvSpPr>
        <p:spPr>
          <a:xfrm>
            <a:off x="457200" y="5897880"/>
            <a:ext cx="11064240" cy="1371600"/>
          </a:xfrm>
          <a:prstGeom prst="rect">
            <a:avLst/>
          </a:prstGeom>
          <a:solidFill>
            <a:srgbClr val="F7F7F7"/>
          </a:solidFill>
          <a:ln w="12700">
            <a:solidFill>
              <a:srgbClr val="F7F7F7"/>
            </a:solidFill>
            <a:prstDash val="solid"/>
          </a:ln>
        </p:spPr>
      </p:sp>
      <p:sp>
        <p:nvSpPr>
          <p:cNvPr id="16" name="Shape 14"/>
          <p:cNvSpPr/>
          <p:nvPr/>
        </p:nvSpPr>
        <p:spPr>
          <a:xfrm>
            <a:off x="457200" y="5897880"/>
            <a:ext cx="73152" cy="1371600"/>
          </a:xfrm>
          <a:prstGeom prst="rect">
            <a:avLst/>
          </a:prstGeom>
          <a:solidFill>
            <a:srgbClr val="1A3D28"/>
          </a:solidFill>
          <a:ln w="12700">
            <a:solidFill>
              <a:srgbClr val="1A3D28"/>
            </a:solidFill>
            <a:prstDash val="solid"/>
          </a:ln>
        </p:spPr>
      </p:sp>
      <p:sp>
        <p:nvSpPr>
          <p:cNvPr id="17" name="Text 15"/>
          <p:cNvSpPr/>
          <p:nvPr/>
        </p:nvSpPr>
        <p:spPr>
          <a:xfrm>
            <a:off x="685800" y="603504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OSM-ACD as the additional bracket</a:t>
            </a:r>
            <a:endParaRPr lang="en-US" sz="2000" dirty="0"/>
          </a:p>
        </p:txBody>
      </p:sp>
      <p:sp>
        <p:nvSpPr>
          <p:cNvPr id="18" name="Text 16"/>
          <p:cNvSpPr/>
          <p:nvPr/>
        </p:nvSpPr>
        <p:spPr>
          <a:xfrm>
            <a:off x="685800" y="649224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OSM-ACD lands at year 100 BA 174 to 249 ft²/ac, Cords 32 to 42 across covered cells, sitting close to FVS-NE calibrated. Report AcadianGY MORTCAL plus FVS-NE cal plus OSM-ACD as the range until SILC AGM is added.</a:t>
            </a:r>
            <a:endParaRPr lang="en-US" sz="1500" dirty="0"/>
          </a:p>
        </p:txBody>
      </p:sp>
      <p:sp>
        <p:nvSpPr>
          <p:cNvPr id="19" name="Shape 17"/>
          <p:cNvSpPr/>
          <p:nvPr/>
        </p:nvSpPr>
        <p:spPr>
          <a:xfrm>
            <a:off x="0" y="6263640"/>
            <a:ext cx="12188952" cy="594360"/>
          </a:xfrm>
          <a:prstGeom prst="rect">
            <a:avLst/>
          </a:prstGeom>
          <a:solidFill>
            <a:srgbClr val="1A3D28"/>
          </a:solidFill>
          <a:ln w="12700">
            <a:solidFill>
              <a:srgbClr val="1A3D28"/>
            </a:solidFill>
            <a:prstDash val="solid"/>
          </a:ln>
        </p:spPr>
      </p:sp>
      <p:sp>
        <p:nvSpPr>
          <p:cNvPr id="20" name="Text 18"/>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SILC AGM benchmark is the missing piece; AcadianGY MORTCAL is the closest CRSF analog</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Long horizon scorecard expanded to n=65 plots (v16 CFI)</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SILC shared CFI v16 with 154 plots (was 10 in v3). The empirical anchor is now ~9× larger. AcadianGY MORTCAL on 65 routine pairs.</a:t>
            </a:r>
            <a:endParaRPr lang="en-US" sz="1400" dirty="0"/>
          </a:p>
        </p:txBody>
      </p:sp>
      <p:pic>
        <p:nvPicPr>
          <p:cNvPr id="4" name="Image 0" descr="/sessions/friendly-compassionate-rubin/mnt/repos--fvs-modern/calibration/output/comparisons_overstory/silc_cfi/silc_cfi_long_v16_scatter.png">    </p:cNvPr>
          <p:cNvPicPr>
            <a:picLocks noChangeAspect="1"/>
          </p:cNvPicPr>
          <p:nvPr/>
        </p:nvPicPr>
        <p:blipFill>
          <a:blip r:embed="rId1"/>
          <a:stretch>
            <a:fillRect/>
          </a:stretch>
        </p:blipFill>
        <p:spPr>
          <a:xfrm>
            <a:off x="2240280" y="1417320"/>
            <a:ext cx="7635240" cy="2743200"/>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4297680"/>
          <a:ext cx="11430000" cy="1417320"/>
        </p:xfrm>
        <a:graphic>
          <a:graphicData uri="http://schemas.openxmlformats.org/drawingml/2006/table">
            <a:tbl>
              <a:tblPr/>
              <a:tblGrid>
                <a:gridCol w="2743200"/>
                <a:gridCol w="502920"/>
                <a:gridCol w="1417320"/>
                <a:gridCol w="1280160"/>
                <a:gridCol w="1417320"/>
                <a:gridCol w="1280160"/>
                <a:gridCol w="1325880"/>
              </a:tblGrid>
              <a:tr h="201168">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Model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n</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Cords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Cords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BdFt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BdFt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BA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201168">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+0.36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OSM-ACD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+0.09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+27.3%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+0.01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FVS-NE default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+0.06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FVS-NE calibrated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−12.1%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+0.18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FVS-ACD default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−5.3%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+0.05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6" name="Text 2"/>
          <p:cNvSpPr/>
          <p:nvPr/>
        </p:nvSpPr>
        <p:spPr>
          <a:xfrm>
            <a:off x="457200" y="576072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n=65 routine pairs. Cardinal jobs 11105908 (AcadianGY), 11106519 (FVS), 11106515 (OSM). BdFt = Intl ¼.</a:t>
            </a:r>
            <a:endParaRPr lang="en-US" sz="1000" dirty="0"/>
          </a:p>
        </p:txBody>
      </p:sp>
      <p:sp>
        <p:nvSpPr>
          <p:cNvPr id="7" name="Shape 3"/>
          <p:cNvSpPr/>
          <p:nvPr/>
        </p:nvSpPr>
        <p:spPr>
          <a:xfrm>
            <a:off x="0" y="6263640"/>
            <a:ext cx="12188952" cy="594360"/>
          </a:xfrm>
          <a:prstGeom prst="rect">
            <a:avLst/>
          </a:prstGeom>
          <a:solidFill>
            <a:srgbClr val="1A3D28"/>
          </a:solidFill>
          <a:ln w="12700">
            <a:solidFill>
              <a:srgbClr val="1A3D28"/>
            </a:solidFill>
            <a:prstDash val="solid"/>
          </a:ln>
        </p:spPr>
      </p:sp>
      <p:sp>
        <p:nvSpPr>
          <p:cNvPr id="8"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MORTCAL: best R² across Cords + BdFt. FVS-NE cal: best BdFt bias. OSM-ACD: best Cords bias but over-projects BdFt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2800" b="1" dirty="0">
                <a:solidFill>
                  <a:srgbClr val="333333"/>
                </a:solidFill>
                <a:latin typeface="Aptos Display" pitchFamily="34" charset="0"/>
                <a:ea typeface="Aptos Display" pitchFamily="34" charset="-122"/>
                <a:cs typeface="Aptos Display" pitchFamily="34" charset="-120"/>
              </a:rPr>
              <a:t>Per-stratum merch bias: no single model wins everywhere</a:t>
            </a:r>
            <a:endParaRPr lang="en-US" sz="2800" dirty="0"/>
          </a:p>
        </p:txBody>
      </p:sp>
      <p:sp>
        <p:nvSpPr>
          <p:cNvPr id="3" name="Text 1"/>
          <p:cNvSpPr/>
          <p:nvPr/>
        </p:nvSpPr>
        <p:spPr>
          <a:xfrm>
            <a:off x="457200" y="1005840"/>
            <a:ext cx="11247120" cy="4572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Bias in % by forest type, n=65 routine v16 pairs. Best model bolded per row.</a:t>
            </a:r>
            <a:endParaRPr lang="en-US" sz="1400" dirty="0"/>
          </a:p>
        </p:txBody>
      </p:sp>
      <p:sp>
        <p:nvSpPr>
          <p:cNvPr id="4" name="Text 2"/>
          <p:cNvSpPr/>
          <p:nvPr/>
        </p:nvSpPr>
        <p:spPr>
          <a:xfrm>
            <a:off x="457200" y="1600200"/>
            <a:ext cx="11247120" cy="320040"/>
          </a:xfrm>
          <a:prstGeom prst="rect">
            <a:avLst/>
          </a:prstGeom>
          <a:noFill/>
          <a:ln/>
        </p:spPr>
        <p:txBody>
          <a:bodyPr wrap="square" rtlCol="0" anchor="ctr"/>
          <a:lstStyle/>
          <a:p>
            <a:pPr algn="l" indent="0" marL="0">
              <a:buNone/>
            </a:pPr>
            <a:r>
              <a:rPr lang="en-US" sz="1800" b="1" dirty="0">
                <a:solidFill>
                  <a:srgbClr val="1A3D28"/>
                </a:solidFill>
                <a:latin typeface="Aptos Display" pitchFamily="34" charset="0"/>
                <a:ea typeface="Aptos Display" pitchFamily="34" charset="-122"/>
                <a:cs typeface="Aptos Display" pitchFamily="34" charset="-120"/>
              </a:rPr>
              <a:t>Cords bias (% of observed)</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920240"/>
          <a:ext cx="11430000" cy="1234440"/>
        </p:xfrm>
        <a:graphic>
          <a:graphicData uri="http://schemas.openxmlformats.org/drawingml/2006/table">
            <a:tbl>
              <a:tblPr/>
              <a:tblGrid>
                <a:gridCol w="3108960"/>
                <a:gridCol w="502920"/>
                <a:gridCol w="2194560"/>
                <a:gridCol w="1783080"/>
                <a:gridCol w="1783080"/>
                <a:gridCol w="2057400"/>
              </a:tblGrid>
              <a:tr h="201168">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Forest type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n</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FVS-NE def</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FVS-NE 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OSM-ACD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Commercial Softwood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+0.2%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−12.3%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Hardwood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−14.1%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+3.4%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Mixedwood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+1.6%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−13.3%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Unclassifiable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−9.9%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−21.3%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−4.6%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r>
            </a:tbl>
          </a:graphicData>
        </a:graphic>
      </p:graphicFrame>
      <p:sp>
        <p:nvSpPr>
          <p:cNvPr id="6" name="Text 3"/>
          <p:cNvSpPr/>
          <p:nvPr/>
        </p:nvSpPr>
        <p:spPr>
          <a:xfrm>
            <a:off x="457200" y="3337560"/>
            <a:ext cx="11247120" cy="320040"/>
          </a:xfrm>
          <a:prstGeom prst="rect">
            <a:avLst/>
          </a:prstGeom>
          <a:noFill/>
          <a:ln/>
        </p:spPr>
        <p:txBody>
          <a:bodyPr wrap="square" rtlCol="0" anchor="ctr"/>
          <a:lstStyle/>
          <a:p>
            <a:pPr algn="l" indent="0" marL="0">
              <a:buNone/>
            </a:pPr>
            <a:r>
              <a:rPr lang="en-US" sz="1800" b="1" dirty="0">
                <a:solidFill>
                  <a:srgbClr val="1A3D28"/>
                </a:solidFill>
                <a:latin typeface="Aptos Display" pitchFamily="34" charset="0"/>
                <a:ea typeface="Aptos Display" pitchFamily="34" charset="-122"/>
                <a:cs typeface="Aptos Display" pitchFamily="34" charset="-120"/>
              </a:rPr>
              <a:t>BdFt Intl ¼ bias (sawlog volume)</a:t>
            </a:r>
            <a:endParaRPr lang="en-US" sz="18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365760" y="3657600"/>
          <a:ext cx="11430000" cy="1234440"/>
        </p:xfrm>
        <a:graphic>
          <a:graphicData uri="http://schemas.openxmlformats.org/drawingml/2006/table">
            <a:tbl>
              <a:tblPr/>
              <a:tblGrid>
                <a:gridCol w="3108960"/>
                <a:gridCol w="502920"/>
                <a:gridCol w="2194560"/>
                <a:gridCol w="1783080"/>
                <a:gridCol w="1783080"/>
                <a:gridCol w="2057400"/>
              </a:tblGrid>
              <a:tr h="201168">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Forest type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n</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FVS-NE def</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FVS-NE 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OSM-ACD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Commercial Softwood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+13.2%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−0.9%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+59.3%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Hardwood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−5.7%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+10.5%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+0.0%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+21.8%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Mixedwood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+14.4%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+9.2%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+8.8%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Unclassifiable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−8.6%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−20.5%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+14.4%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8" name="Text 4"/>
          <p:cNvSpPr/>
          <p:nvPr/>
        </p:nvSpPr>
        <p:spPr>
          <a:xfrm>
            <a:off x="365760" y="5074920"/>
            <a:ext cx="11430000" cy="1005840"/>
          </a:xfrm>
          <a:prstGeom prst="rect">
            <a:avLst/>
          </a:prstGeom>
          <a:noFill/>
          <a:ln/>
        </p:spPr>
        <p:txBody>
          <a:bodyPr wrap="square" rtlCol="0" anchor="t"/>
          <a:lstStyle/>
          <a:p>
            <a:pPr algn="l" indent="0" marL="0">
              <a:buNone/>
            </a:pPr>
            <a:r>
              <a:rPr lang="en-US" sz="1400" dirty="0">
                <a:solidFill>
                  <a:srgbClr val="333333"/>
                </a:solidFill>
                <a:latin typeface="Aptos" pitchFamily="34" charset="0"/>
                <a:ea typeface="Aptos" pitchFamily="34" charset="-122"/>
                <a:cs typeface="Aptos" pitchFamily="34" charset="-120"/>
              </a:rPr>
              <a:t>Operational read: AcadianGY MORTCAL leads Cords on Commercial Softwood and Mixedwood (SILC's dominant types). FVS-NE calibrated leads BdFt on Commercial Softwood and Hardwood. OSM-ACD is a strong Cords cross-check but over-projects BdFt heavily on softwood-leading stands.</a:t>
            </a:r>
            <a:endParaRPr lang="en-US" sz="1400" dirty="0"/>
          </a:p>
        </p:txBody>
      </p:sp>
      <p:sp>
        <p:nvSpPr>
          <p:cNvPr id="9" name="Shape 5"/>
          <p:cNvSpPr/>
          <p:nvPr/>
        </p:nvSpPr>
        <p:spPr>
          <a:xfrm>
            <a:off x="0" y="6263640"/>
            <a:ext cx="12188952" cy="594360"/>
          </a:xfrm>
          <a:prstGeom prst="rect">
            <a:avLst/>
          </a:prstGeom>
          <a:solidFill>
            <a:srgbClr val="1A3D28"/>
          </a:solidFill>
          <a:ln w="12700">
            <a:solidFill>
              <a:srgbClr val="1A3D28"/>
            </a:solidFill>
            <a:prstDash val="solid"/>
          </a:ln>
        </p:spPr>
      </p:sp>
      <p:sp>
        <p:nvSpPr>
          <p:cNvPr id="10" name="Text 6"/>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Cords champion: AcadianGY MORTCAL for softwood+mixed, OSM for hardwood. BdFt champion: FVS-NE calibrated</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CFI scorecard fits a larger validation picture</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n=17 SILC CFI pairs anchored against 12029 plot Maine FIA validation</a:t>
            </a:r>
            <a:endParaRPr lang="en-US" sz="1600" dirty="0"/>
          </a:p>
        </p:txBody>
      </p:sp>
      <p:sp>
        <p:nvSpPr>
          <p:cNvPr id="4" name="Text 2"/>
          <p:cNvSpPr/>
          <p:nvPr/>
        </p:nvSpPr>
        <p:spPr>
          <a:xfrm>
            <a:off x="33375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17</a:t>
            </a:r>
            <a:endParaRPr lang="en-US" sz="6000" dirty="0"/>
          </a:p>
        </p:txBody>
      </p:sp>
      <p:sp>
        <p:nvSpPr>
          <p:cNvPr id="5" name="Text 3"/>
          <p:cNvSpPr/>
          <p:nvPr/>
        </p:nvSpPr>
        <p:spPr>
          <a:xfrm>
            <a:off x="33375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SILC CFI routine remeasurement pairs</a:t>
            </a:r>
            <a:endParaRPr lang="en-US" sz="1700" dirty="0"/>
          </a:p>
        </p:txBody>
      </p:sp>
      <p:sp>
        <p:nvSpPr>
          <p:cNvPr id="6" name="Text 4"/>
          <p:cNvSpPr/>
          <p:nvPr/>
        </p:nvSpPr>
        <p:spPr>
          <a:xfrm>
            <a:off x="33375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Davistown, ME 1981 to 2000</a:t>
            </a:r>
            <a:endParaRPr lang="en-US" sz="1300" dirty="0"/>
          </a:p>
        </p:txBody>
      </p:sp>
      <p:sp>
        <p:nvSpPr>
          <p:cNvPr id="7" name="Text 5"/>
          <p:cNvSpPr/>
          <p:nvPr/>
        </p:nvSpPr>
        <p:spPr>
          <a:xfrm>
            <a:off x="426567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12,029</a:t>
            </a:r>
            <a:endParaRPr lang="en-US" sz="6000" dirty="0"/>
          </a:p>
        </p:txBody>
      </p:sp>
      <p:sp>
        <p:nvSpPr>
          <p:cNvPr id="8" name="Text 6"/>
          <p:cNvSpPr/>
          <p:nvPr/>
        </p:nvSpPr>
        <p:spPr>
          <a:xfrm>
            <a:off x="426567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Maine + NH + VT FIA paired plots</a:t>
            </a:r>
            <a:endParaRPr lang="en-US" sz="1700" dirty="0"/>
          </a:p>
        </p:txBody>
      </p:sp>
      <p:sp>
        <p:nvSpPr>
          <p:cNvPr id="9" name="Text 7"/>
          <p:cNvSpPr/>
          <p:nvPr/>
        </p:nvSpPr>
        <p:spPr>
          <a:xfrm>
            <a:off x="426567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Apples-to-apples overstory recompute, DIA &gt;= 5 in</a:t>
            </a:r>
            <a:endParaRPr lang="en-US" sz="1300" dirty="0"/>
          </a:p>
        </p:txBody>
      </p:sp>
      <p:sp>
        <p:nvSpPr>
          <p:cNvPr id="10" name="Text 8"/>
          <p:cNvSpPr/>
          <p:nvPr/>
        </p:nvSpPr>
        <p:spPr>
          <a:xfrm>
            <a:off x="819759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-0.06%</a:t>
            </a:r>
            <a:endParaRPr lang="en-US" sz="6000" dirty="0"/>
          </a:p>
        </p:txBody>
      </p:sp>
      <p:sp>
        <p:nvSpPr>
          <p:cNvPr id="11" name="Text 9"/>
          <p:cNvSpPr/>
          <p:nvPr/>
        </p:nvSpPr>
        <p:spPr>
          <a:xfrm>
            <a:off x="819759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FVS-ACD calibrated BA bias on FIA</a:t>
            </a:r>
            <a:endParaRPr lang="en-US" sz="1700" dirty="0"/>
          </a:p>
        </p:txBody>
      </p:sp>
      <p:sp>
        <p:nvSpPr>
          <p:cNvPr id="12" name="Text 10"/>
          <p:cNvSpPr/>
          <p:nvPr/>
        </p:nvSpPr>
        <p:spPr>
          <a:xfrm>
            <a:off x="819759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Independent of CFI scorecard, n 700x larger</a:t>
            </a:r>
            <a:endParaRPr lang="en-US" sz="1300" dirty="0"/>
          </a:p>
        </p:txBody>
      </p:sp>
      <p:sp>
        <p:nvSpPr>
          <p:cNvPr id="13" name="Text 11"/>
          <p:cNvSpPr/>
          <p:nvPr/>
        </p:nvSpPr>
        <p:spPr>
          <a:xfrm>
            <a:off x="640080" y="4434840"/>
            <a:ext cx="10881360" cy="109728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The +5% to +6% AcadianGY and FVS-ACD CFI biases are consistent with the +0% bias the same calibration achieves on 12,029 FIA plots when stand structure differences are accounted for. The CFI biases reflect SILC's Acadian Matrix configuration, not a model failure.</a:t>
            </a:r>
            <a:endParaRPr lang="en-US" sz="1500" dirty="0"/>
          </a:p>
        </p:txBody>
      </p:sp>
      <p:sp>
        <p:nvSpPr>
          <p:cNvPr id="14" name="Text 1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FIA recompute: SLURM 10591333; calibration/output/comparisons_overstory/FINDINGS.md</a:t>
            </a:r>
            <a:endParaRPr lang="en-US" sz="1000" dirty="0"/>
          </a:p>
        </p:txBody>
      </p:sp>
      <p:sp>
        <p:nvSpPr>
          <p:cNvPr id="15" name="Shape 13"/>
          <p:cNvSpPr/>
          <p:nvPr/>
        </p:nvSpPr>
        <p:spPr>
          <a:xfrm>
            <a:off x="0" y="6263640"/>
            <a:ext cx="12188952" cy="594360"/>
          </a:xfrm>
          <a:prstGeom prst="rect">
            <a:avLst/>
          </a:prstGeom>
          <a:solidFill>
            <a:srgbClr val="1A3D28"/>
          </a:solidFill>
          <a:ln w="12700">
            <a:solidFill>
              <a:srgbClr val="1A3D28"/>
            </a:solidFill>
            <a:prstDash val="solid"/>
          </a:ln>
        </p:spPr>
      </p:sp>
      <p:sp>
        <p:nvSpPr>
          <p:cNvPr id="16" name="Text 1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Small n CFI scorecard is consistent with the large n FIA validation</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Where the +18.5% AcadianGY bias actually lives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500" i="1" dirty="0">
                <a:solidFill>
                  <a:srgbClr val="666666"/>
                </a:solidFill>
                <a:latin typeface="Aptos" pitchFamily="34" charset="0"/>
                <a:ea typeface="Aptos" pitchFamily="34" charset="-122"/>
                <a:cs typeface="Aptos" pitchFamily="34" charset="-120"/>
              </a:rPr>
              <a:t>Two mechanisms drive the long-horizon over-projection: under-mortality + uniform DBH growth.</a:t>
            </a:r>
            <a:endParaRPr lang="en-US" sz="1500" dirty="0"/>
          </a:p>
        </p:txBody>
      </p:sp>
      <p:pic>
        <p:nvPicPr>
          <p:cNvPr id="4" name="Image 0" descr="/sessions/friendly-compassionate-rubin/mnt/repos--fvs-modern/calibration/output/comparisons_overstory/silc_cfi/silc_cfi_long_mechanism.png">    </p:cNvPr>
          <p:cNvPicPr>
            <a:picLocks noChangeAspect="1"/>
          </p:cNvPicPr>
          <p:nvPr/>
        </p:nvPicPr>
        <p:blipFill>
          <a:blip r:embed="rId1"/>
          <a:stretch>
            <a:fillRect/>
          </a:stretch>
        </p:blipFill>
        <p:spPr>
          <a:xfrm>
            <a:off x="1591056" y="1417320"/>
            <a:ext cx="8979408" cy="4114800"/>
          </a:xfrm>
          <a:prstGeom prst="rect">
            <a:avLst/>
          </a:prstGeom>
        </p:spPr>
      </p:pic>
      <p:sp>
        <p:nvSpPr>
          <p:cNvPr id="5" name="Text 2"/>
          <p:cNvSpPr/>
          <p:nvPr/>
        </p:nvSpPr>
        <p:spPr>
          <a:xfrm>
            <a:off x="457200" y="4800600"/>
            <a:ext cx="11247120" cy="320040"/>
          </a:xfrm>
          <a:prstGeom prst="rect">
            <a:avLst/>
          </a:prstGeom>
          <a:noFill/>
          <a:ln/>
        </p:spPr>
        <p:txBody>
          <a:bodyPr wrap="square" rtlCol="0" anchor="ctr"/>
          <a:lstStyle/>
          <a:p>
            <a:pPr algn="l" indent="0" marL="0">
              <a:buNone/>
            </a:pPr>
            <a:r>
              <a:rPr lang="en-US" sz="1600" b="1" dirty="0">
                <a:solidFill>
                  <a:srgbClr val="1A3D28"/>
                </a:solidFill>
                <a:latin typeface="Aptos Display" pitchFamily="34" charset="0"/>
                <a:ea typeface="Aptos Display" pitchFamily="34" charset="-122"/>
                <a:cs typeface="Aptos Display" pitchFamily="34" charset="-120"/>
              </a:rPr>
              <a:t>Two failure modes drive the bias:</a:t>
            </a:r>
            <a:endParaRPr lang="en-US" sz="1600" dirty="0"/>
          </a:p>
        </p:txBody>
      </p:sp>
      <p:sp>
        <p:nvSpPr>
          <p:cNvPr id="6" name="Text 3"/>
          <p:cNvSpPr/>
          <p:nvPr/>
        </p:nvSpPr>
        <p:spPr>
          <a:xfrm>
            <a:off x="640080" y="516636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Under mortality on disturbed plots:</a:t>
            </a:r>
            <a:endParaRPr lang="en-US" sz="1300" dirty="0"/>
          </a:p>
        </p:txBody>
      </p:sp>
      <p:sp>
        <p:nvSpPr>
          <p:cNvPr id="7" name="Text 4"/>
          <p:cNvSpPr/>
          <p:nvPr/>
        </p:nvSpPr>
        <p:spPr>
          <a:xfrm>
            <a:off x="4343400" y="516636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Plots 1101 and 1106 lost 27 to 34% of TPA; AcadianGY lost 0 to 19% (panel 1, red bars in panel 3).</a:t>
            </a:r>
            <a:endParaRPr lang="en-US" sz="1300" dirty="0"/>
          </a:p>
        </p:txBody>
      </p:sp>
      <p:sp>
        <p:nvSpPr>
          <p:cNvPr id="8" name="Text 5"/>
          <p:cNvSpPr/>
          <p:nvPr/>
        </p:nvSpPr>
        <p:spPr>
          <a:xfrm>
            <a:off x="640080" y="557784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Over growth on slow plots:</a:t>
            </a:r>
            <a:endParaRPr lang="en-US" sz="1300" dirty="0"/>
          </a:p>
        </p:txBody>
      </p:sp>
      <p:sp>
        <p:nvSpPr>
          <p:cNvPr id="9" name="Text 6"/>
          <p:cNvSpPr/>
          <p:nvPr/>
        </p:nvSpPr>
        <p:spPr>
          <a:xfrm>
            <a:off x="4343400" y="557784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AcadianGY grew QMD a uniform +0.8 in regardless of site; plots 1100 and 1104 grew only 0.05 to 0.17 in observed (panel 2).</a:t>
            </a:r>
            <a:endParaRPr lang="en-US" sz="1300" dirty="0"/>
          </a:p>
        </p:txBody>
      </p:sp>
      <p:sp>
        <p:nvSpPr>
          <p:cNvPr id="10" name="Text 7"/>
          <p:cNvSpPr/>
          <p:nvPr/>
        </p:nvSpPr>
        <p:spPr>
          <a:xfrm>
            <a:off x="640080" y="598932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Verified, not a calculation issue:</a:t>
            </a:r>
            <a:endParaRPr lang="en-US" sz="1300" dirty="0"/>
          </a:p>
        </p:txBody>
      </p:sp>
      <p:sp>
        <p:nvSpPr>
          <p:cNvPr id="11" name="Text 8"/>
          <p:cNvSpPr/>
          <p:nvPr/>
        </p:nvSpPr>
        <p:spPr>
          <a:xfrm>
            <a:off x="4343400" y="598932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BA / Cords / BdFt pipeline reproduces from the AcadianGY treelist to 1e-13 ft²/ac. The bias is the model speaking honestly.</a:t>
            </a:r>
            <a:endParaRPr lang="en-US" sz="1300" dirty="0"/>
          </a:p>
        </p:txBody>
      </p:sp>
      <p:sp>
        <p:nvSpPr>
          <p:cNvPr id="12" name="Shape 9"/>
          <p:cNvSpPr/>
          <p:nvPr/>
        </p:nvSpPr>
        <p:spPr>
          <a:xfrm>
            <a:off x="0" y="6263640"/>
            <a:ext cx="12188952" cy="594360"/>
          </a:xfrm>
          <a:prstGeom prst="rect">
            <a:avLst/>
          </a:prstGeom>
          <a:solidFill>
            <a:srgbClr val="1A3D28"/>
          </a:solidFill>
          <a:ln w="12700">
            <a:solidFill>
              <a:srgbClr val="1A3D28"/>
            </a:solidFill>
            <a:prstDash val="solid"/>
          </a:ln>
        </p:spPr>
      </p:sp>
      <p:sp>
        <p:nvSpPr>
          <p:cNvPr id="13" name="Text 10"/>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Bias is mechanism, not bug: under mortality + over growth on edge cases</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Turning on AcadianGY MORTCAL cuts long horizon bias by more than half</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#126b size-dependent mortality patch (Maine FIA calibration). Default OFF in 12.3.9; enable via ops$MORTCAL=TRUE.</a:t>
            </a:r>
            <a:endParaRPr lang="en-US" sz="1400" dirty="0"/>
          </a:p>
        </p:txBody>
      </p:sp>
      <p:pic>
        <p:nvPicPr>
          <p:cNvPr id="4" name="Image 0" descr="/sessions/friendly-compassionate-rubin/mnt/repos--fvs-modern/calibration/output/comparisons_overstory/silc_cfi/silc_cfi_long_mortcal_compare.png">    </p:cNvPr>
          <p:cNvPicPr>
            <a:picLocks noChangeAspect="1"/>
          </p:cNvPicPr>
          <p:nvPr/>
        </p:nvPicPr>
        <p:blipFill>
          <a:blip r:embed="rId1"/>
          <a:stretch>
            <a:fillRect/>
          </a:stretch>
        </p:blipFill>
        <p:spPr>
          <a:xfrm>
            <a:off x="594360" y="1554480"/>
            <a:ext cx="10972800" cy="4114800"/>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4754880"/>
          <a:ext cx="11247120" cy="1325880"/>
        </p:xfrm>
        <a:graphic>
          <a:graphicData uri="http://schemas.openxmlformats.org/drawingml/2006/table">
            <a:tbl>
              <a:tblPr/>
              <a:tblGrid>
                <a:gridCol w="2560320"/>
                <a:gridCol w="2377440"/>
                <a:gridCol w="2377440"/>
                <a:gridCol w="3931920"/>
              </a:tblGrid>
              <a:tr h="182880">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Metric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default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Improvement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cut by 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RMSE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16.2 ft²/ac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10.7 ft²/ac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+0.47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flips negative to positive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Cords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0.82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BdFt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down to single digit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BdFt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0.75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0.84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+0.09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6" name="Shape 2"/>
          <p:cNvSpPr/>
          <p:nvPr/>
        </p:nvSpPr>
        <p:spPr>
          <a:xfrm>
            <a:off x="0" y="6263640"/>
            <a:ext cx="12188952" cy="594360"/>
          </a:xfrm>
          <a:prstGeom prst="rect">
            <a:avLst/>
          </a:prstGeom>
          <a:solidFill>
            <a:srgbClr val="1A3D28"/>
          </a:solidFill>
          <a:ln w="12700">
            <a:solidFill>
              <a:srgbClr val="1A3D28"/>
            </a:solidFill>
            <a:prstDash val="solid"/>
          </a:ln>
        </p:spPr>
      </p:sp>
      <p:sp>
        <p:nvSpPr>
          <p:cNvPr id="7" name="Text 3"/>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with MORTCAL is the new long horizon champion across BA, cords, sawlog BdFt</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Next steps</a:t>
            </a:r>
            <a:endParaRPr lang="en-US" sz="3200" dirty="0"/>
          </a:p>
        </p:txBody>
      </p:sp>
      <p:sp>
        <p:nvSpPr>
          <p:cNvPr id="3" name="Shape 1"/>
          <p:cNvSpPr/>
          <p:nvPr/>
        </p:nvSpPr>
        <p:spPr>
          <a:xfrm>
            <a:off x="457200" y="1463040"/>
            <a:ext cx="640080" cy="640080"/>
          </a:xfrm>
          <a:prstGeom prst="ellipse">
            <a:avLst/>
          </a:prstGeom>
          <a:solidFill>
            <a:srgbClr val="1A3D28"/>
          </a:solidFill>
          <a:ln w="12700">
            <a:solidFill>
              <a:srgbClr val="1A3D28"/>
            </a:solidFill>
            <a:prstDash val="solid"/>
          </a:ln>
        </p:spPr>
      </p:sp>
      <p:sp>
        <p:nvSpPr>
          <p:cNvPr id="4" name="Text 2"/>
          <p:cNvSpPr/>
          <p:nvPr/>
        </p:nvSpPr>
        <p:spPr>
          <a:xfrm>
            <a:off x="457200" y="1463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1</a:t>
            </a:r>
            <a:endParaRPr lang="en-US" sz="2600" dirty="0"/>
          </a:p>
        </p:txBody>
      </p:sp>
      <p:sp>
        <p:nvSpPr>
          <p:cNvPr id="5" name="Text 3"/>
          <p:cNvSpPr/>
          <p:nvPr/>
        </p:nvSpPr>
        <p:spPr>
          <a:xfrm>
            <a:off x="1280160" y="1371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Confirm the 5×2 stratification with SILC</a:t>
            </a:r>
            <a:endParaRPr lang="en-US" sz="2000" dirty="0"/>
          </a:p>
        </p:txBody>
      </p:sp>
      <p:sp>
        <p:nvSpPr>
          <p:cNvPr id="6" name="Text 4"/>
          <p:cNvSpPr/>
          <p:nvPr/>
        </p:nvSpPr>
        <p:spPr>
          <a:xfrm>
            <a:off x="1280160" y="1783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Sign off that the species composition rules and density threshold match your operational categories</a:t>
            </a:r>
            <a:endParaRPr lang="en-US" sz="1400" dirty="0"/>
          </a:p>
        </p:txBody>
      </p:sp>
      <p:sp>
        <p:nvSpPr>
          <p:cNvPr id="7" name="Shape 5"/>
          <p:cNvSpPr/>
          <p:nvPr/>
        </p:nvSpPr>
        <p:spPr>
          <a:xfrm>
            <a:off x="457200" y="2606040"/>
            <a:ext cx="640080" cy="640080"/>
          </a:xfrm>
          <a:prstGeom prst="ellipse">
            <a:avLst/>
          </a:prstGeom>
          <a:solidFill>
            <a:srgbClr val="1A3D28"/>
          </a:solidFill>
          <a:ln w="12700">
            <a:solidFill>
              <a:srgbClr val="1A3D28"/>
            </a:solidFill>
            <a:prstDash val="solid"/>
          </a:ln>
        </p:spPr>
      </p:sp>
      <p:sp>
        <p:nvSpPr>
          <p:cNvPr id="8" name="Text 6"/>
          <p:cNvSpPr/>
          <p:nvPr/>
        </p:nvSpPr>
        <p:spPr>
          <a:xfrm>
            <a:off x="457200" y="2606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2</a:t>
            </a:r>
            <a:endParaRPr lang="en-US" sz="2600" dirty="0"/>
          </a:p>
        </p:txBody>
      </p:sp>
      <p:sp>
        <p:nvSpPr>
          <p:cNvPr id="9" name="Text 7"/>
          <p:cNvSpPr/>
          <p:nvPr/>
        </p:nvSpPr>
        <p:spPr>
          <a:xfrm>
            <a:off x="1280160" y="2514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Backfill the four empty cells with plot level AcadianGY MORTCAL</a:t>
            </a:r>
            <a:endParaRPr lang="en-US" sz="2000" dirty="0"/>
          </a:p>
        </p:txBody>
      </p:sp>
      <p:sp>
        <p:nvSpPr>
          <p:cNvPr id="10" name="Text 8"/>
          <p:cNvSpPr/>
          <p:nvPr/>
        </p:nvSpPr>
        <p:spPr>
          <a:xfrm>
            <a:off x="1280160" y="2926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Cedar/A+B, Mixedwood/A+B, both Other Softwood; pull from individual SILC CFI plots assigned to those cells, run AcadianGY MORTCAL 100 yr</a:t>
            </a:r>
            <a:endParaRPr lang="en-US" sz="1400" dirty="0"/>
          </a:p>
        </p:txBody>
      </p:sp>
      <p:sp>
        <p:nvSpPr>
          <p:cNvPr id="11" name="Shape 9"/>
          <p:cNvSpPr/>
          <p:nvPr/>
        </p:nvSpPr>
        <p:spPr>
          <a:xfrm>
            <a:off x="457200" y="3749040"/>
            <a:ext cx="640080" cy="640080"/>
          </a:xfrm>
          <a:prstGeom prst="ellipse">
            <a:avLst/>
          </a:prstGeom>
          <a:solidFill>
            <a:srgbClr val="1A3D28"/>
          </a:solidFill>
          <a:ln w="12700">
            <a:solidFill>
              <a:srgbClr val="1A3D28"/>
            </a:solidFill>
            <a:prstDash val="solid"/>
          </a:ln>
        </p:spPr>
      </p:sp>
      <p:sp>
        <p:nvSpPr>
          <p:cNvPr id="12" name="Text 10"/>
          <p:cNvSpPr/>
          <p:nvPr/>
        </p:nvSpPr>
        <p:spPr>
          <a:xfrm>
            <a:off x="457200" y="3749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3</a:t>
            </a:r>
            <a:endParaRPr lang="en-US" sz="2600" dirty="0"/>
          </a:p>
        </p:txBody>
      </p:sp>
      <p:sp>
        <p:nvSpPr>
          <p:cNvPr id="13" name="Text 11"/>
          <p:cNvSpPr/>
          <p:nvPr/>
        </p:nvSpPr>
        <p:spPr>
          <a:xfrm>
            <a:off x="1280160" y="3657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Validate year 100 BA against SILC operational expectations</a:t>
            </a:r>
            <a:endParaRPr lang="en-US" sz="2000" dirty="0"/>
          </a:p>
        </p:txBody>
      </p:sp>
      <p:sp>
        <p:nvSpPr>
          <p:cNvPr id="14" name="Text 12"/>
          <p:cNvSpPr/>
          <p:nvPr/>
        </p:nvSpPr>
        <p:spPr>
          <a:xfrm>
            <a:off x="1280160" y="4069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MORTCAL 100 yr BA settles at 80 to 110 ft²/ac. Confirm this matches SILC's expected carrying capacity for managed Acadian stands</a:t>
            </a:r>
            <a:endParaRPr lang="en-US" sz="1400" dirty="0"/>
          </a:p>
        </p:txBody>
      </p:sp>
      <p:sp>
        <p:nvSpPr>
          <p:cNvPr id="15" name="Shape 13"/>
          <p:cNvSpPr/>
          <p:nvPr/>
        </p:nvSpPr>
        <p:spPr>
          <a:xfrm>
            <a:off x="457200" y="4892040"/>
            <a:ext cx="640080" cy="640080"/>
          </a:xfrm>
          <a:prstGeom prst="ellipse">
            <a:avLst/>
          </a:prstGeom>
          <a:solidFill>
            <a:srgbClr val="1A3D28"/>
          </a:solidFill>
          <a:ln w="12700">
            <a:solidFill>
              <a:srgbClr val="1A3D28"/>
            </a:solidFill>
            <a:prstDash val="solid"/>
          </a:ln>
        </p:spPr>
      </p:sp>
      <p:sp>
        <p:nvSpPr>
          <p:cNvPr id="16" name="Text 14"/>
          <p:cNvSpPr/>
          <p:nvPr/>
        </p:nvSpPr>
        <p:spPr>
          <a:xfrm>
            <a:off x="457200" y="4892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4</a:t>
            </a:r>
            <a:endParaRPr lang="en-US" sz="2600" dirty="0"/>
          </a:p>
        </p:txBody>
      </p:sp>
      <p:sp>
        <p:nvSpPr>
          <p:cNvPr id="17" name="Text 15"/>
          <p:cNvSpPr/>
          <p:nvPr/>
        </p:nvSpPr>
        <p:spPr>
          <a:xfrm>
            <a:off x="1280160" y="4800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Set the uncertainty bands and ship the operational handoff</a:t>
            </a:r>
            <a:endParaRPr lang="en-US" sz="2000" dirty="0"/>
          </a:p>
        </p:txBody>
      </p:sp>
      <p:sp>
        <p:nvSpPr>
          <p:cNvPr id="18" name="Text 16"/>
          <p:cNvSpPr/>
          <p:nvPr/>
        </p:nvSpPr>
        <p:spPr>
          <a:xfrm>
            <a:off x="1280160" y="5212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Use AcadianGY MORTCAL RMSE 10.7 ft²/ac BA at 10 yr as the per plot uncertainty. Year 100 cords/ac estimates: 36 to 39 across strata</a:t>
            </a:r>
            <a:endParaRPr lang="en-US" sz="1400" dirty="0"/>
          </a:p>
        </p:txBody>
      </p:sp>
      <p:sp>
        <p:nvSpPr>
          <p:cNvPr id="19" name="Shape 17"/>
          <p:cNvSpPr/>
          <p:nvPr/>
        </p:nvSpPr>
        <p:spPr>
          <a:xfrm>
            <a:off x="0" y="6263640"/>
            <a:ext cx="12188952" cy="594360"/>
          </a:xfrm>
          <a:prstGeom prst="rect">
            <a:avLst/>
          </a:prstGeom>
          <a:solidFill>
            <a:srgbClr val="1A3D28"/>
          </a:solidFill>
          <a:ln w="12700">
            <a:solidFill>
              <a:srgbClr val="1A3D28"/>
            </a:solidFill>
            <a:prstDash val="solid"/>
          </a:ln>
        </p:spPr>
      </p:sp>
      <p:sp>
        <p:nvSpPr>
          <p:cNvPr id="20" name="Text 18"/>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Four model scaffold is live, awaiting SILC sign off</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0"/>
            <a:ext cx="11247120" cy="1097280"/>
          </a:xfrm>
          <a:prstGeom prst="rect">
            <a:avLst/>
          </a:prstGeom>
          <a:noFill/>
          <a:ln/>
        </p:spPr>
        <p:txBody>
          <a:bodyPr wrap="square" rtlCol="0" anchor="ctr"/>
          <a:lstStyle/>
          <a:p>
            <a:pPr algn="ctr" indent="0" marL="0">
              <a:buNone/>
            </a:pPr>
            <a:r>
              <a:rPr lang="en-US" sz="5600" b="1" dirty="0">
                <a:solidFill>
                  <a:srgbClr val="333333"/>
                </a:solidFill>
                <a:latin typeface="Aptos Display" pitchFamily="34" charset="0"/>
                <a:ea typeface="Aptos Display" pitchFamily="34" charset="-122"/>
                <a:cs typeface="Aptos Display" pitchFamily="34" charset="-120"/>
              </a:rPr>
              <a:t>Questions and discussion</a:t>
            </a:r>
            <a:endParaRPr lang="en-US" sz="5600" dirty="0"/>
          </a:p>
        </p:txBody>
      </p:sp>
      <p:sp>
        <p:nvSpPr>
          <p:cNvPr id="3" name="Shape 1"/>
          <p:cNvSpPr/>
          <p:nvPr/>
        </p:nvSpPr>
        <p:spPr>
          <a:xfrm>
            <a:off x="5458968" y="3520440"/>
            <a:ext cx="1280160" cy="54864"/>
          </a:xfrm>
          <a:prstGeom prst="rect">
            <a:avLst/>
          </a:prstGeom>
          <a:solidFill>
            <a:srgbClr val="1A3D28"/>
          </a:solidFill>
          <a:ln w="12700">
            <a:solidFill>
              <a:srgbClr val="1A3D28"/>
            </a:solidFill>
            <a:prstDash val="solid"/>
          </a:ln>
        </p:spPr>
      </p:sp>
      <p:sp>
        <p:nvSpPr>
          <p:cNvPr id="4" name="Text 2"/>
          <p:cNvSpPr/>
          <p:nvPr/>
        </p:nvSpPr>
        <p:spPr>
          <a:xfrm>
            <a:off x="457200" y="3840480"/>
            <a:ext cx="11247120" cy="457200"/>
          </a:xfrm>
          <a:prstGeom prst="rect">
            <a:avLst/>
          </a:prstGeom>
          <a:noFill/>
          <a:ln/>
        </p:spPr>
        <p:txBody>
          <a:bodyPr wrap="square" rtlCol="0" anchor="ctr"/>
          <a:lstStyle/>
          <a:p>
            <a:pPr algn="ctr" indent="0" marL="0">
              <a:buNone/>
            </a:pPr>
            <a:r>
              <a:rPr lang="en-US" sz="2400" b="1" dirty="0">
                <a:solidFill>
                  <a:srgbClr val="333333"/>
                </a:solidFill>
                <a:latin typeface="Aptos Display" pitchFamily="34" charset="0"/>
                <a:ea typeface="Aptos Display" pitchFamily="34" charset="-122"/>
                <a:cs typeface="Aptos Display" pitchFamily="34" charset="-120"/>
              </a:rPr>
              <a:t>Aaron R. Weiskittel</a:t>
            </a:r>
            <a:endParaRPr lang="en-US" sz="2400" dirty="0"/>
          </a:p>
        </p:txBody>
      </p:sp>
      <p:sp>
        <p:nvSpPr>
          <p:cNvPr id="5" name="Text 3"/>
          <p:cNvSpPr/>
          <p:nvPr/>
        </p:nvSpPr>
        <p:spPr>
          <a:xfrm>
            <a:off x="457200" y="4343400"/>
            <a:ext cx="11247120" cy="457200"/>
          </a:xfrm>
          <a:prstGeom prst="rect">
            <a:avLst/>
          </a:prstGeom>
          <a:noFill/>
          <a:ln/>
        </p:spPr>
        <p:txBody>
          <a:bodyPr wrap="square" rtlCol="0" anchor="ctr"/>
          <a:lstStyle/>
          <a:p>
            <a:pPr algn="ctr" indent="0" marL="0">
              <a:buNone/>
            </a:pPr>
            <a:r>
              <a:rPr lang="en-US" sz="2000" dirty="0">
                <a:solidFill>
                  <a:srgbClr val="1A3D28"/>
                </a:solidFill>
                <a:latin typeface="Aptos" pitchFamily="34" charset="0"/>
                <a:ea typeface="Aptos" pitchFamily="34" charset="-122"/>
                <a:cs typeface="Aptos" pitchFamily="34" charset="-120"/>
              </a:rPr>
              <a:t>aaron.weiskittel@maine.edu</a:t>
            </a:r>
            <a:endParaRPr lang="en-US" sz="2000" dirty="0"/>
          </a:p>
        </p:txBody>
      </p:sp>
      <p:sp>
        <p:nvSpPr>
          <p:cNvPr id="6" name="Text 4"/>
          <p:cNvSpPr/>
          <p:nvPr/>
        </p:nvSpPr>
        <p:spPr>
          <a:xfrm>
            <a:off x="457200" y="4800600"/>
            <a:ext cx="11247120" cy="457200"/>
          </a:xfrm>
          <a:prstGeom prst="rect">
            <a:avLst/>
          </a:prstGeom>
          <a:noFill/>
          <a:ln/>
        </p:spPr>
        <p:txBody>
          <a:bodyPr wrap="square" rtlCol="0" anchor="ctr"/>
          <a:lstStyle/>
          <a:p>
            <a:pPr algn="ctr" indent="0" marL="0">
              <a:buNone/>
            </a:pPr>
            <a:r>
              <a:rPr lang="en-US" sz="1400" dirty="0">
                <a:solidFill>
                  <a:srgbClr val="666666"/>
                </a:solidFill>
                <a:latin typeface="Aptos" pitchFamily="34" charset="0"/>
                <a:ea typeface="Aptos" pitchFamily="34" charset="-122"/>
                <a:cs typeface="Aptos" pitchFamily="34" charset="-120"/>
              </a:rPr>
              <a:t>Center for Research on Sustainable Forests | University of Maine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SILC Four-Model Benchmark</dc:title>
  <dc:subject>PptxGenJS Presentation</dc:subject>
  <dc:creator>Aaron R. Weiskittel</dc:creator>
  <cp:lastModifiedBy>Aaron R. Weiskittel</cp:lastModifiedBy>
  <cp:revision>1</cp:revision>
  <dcterms:created xsi:type="dcterms:W3CDTF">2026-05-30T11:09:23Z</dcterms:created>
  <dcterms:modified xsi:type="dcterms:W3CDTF">2026-05-30T11:09:23Z</dcterms:modified>
</cp:coreProperties>
</file>