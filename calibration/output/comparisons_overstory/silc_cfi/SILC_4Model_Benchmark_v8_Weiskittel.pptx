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6304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Seven Islands four-model benchmark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model CFI scorecard plus 100 year strata yield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3383280"/>
            <a:ext cx="1280160" cy="54864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Aaron R. Weiskittel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 for Research on Sustainable Forests  |  University of Maine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617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Ian and Ryan, Seven Islands Land Company  |  28 May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operational questions, one framework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5440680" cy="4206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463040"/>
            <a:ext cx="73152" cy="420624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69164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Long-horizon yield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85800" y="242316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will a Mixedwood A+B stand yield in cords over 100 years?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352044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Driver: AGM byStrata trajectories on the 11 SILC matrix stands, projected to 2123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50749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1 of this deck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1463040"/>
            <a:ext cx="5440680" cy="4206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463040"/>
            <a:ext cx="73152" cy="4206240"/>
          </a:xfrm>
          <a:prstGeom prst="rect">
            <a:avLst/>
          </a:prstGeom>
          <a:solidFill>
            <a:srgbClr val="88A47A"/>
          </a:solidFill>
          <a:ln w="12700">
            <a:solidFill>
              <a:srgbClr val="88A4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691640"/>
            <a:ext cx="5074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Short-horizon accuracy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92240" y="2423160"/>
            <a:ext cx="5074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close does the model land at 5 to 10 year remeasurement on SILC's own plots?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352044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Driver: SILC CFI database (10 plots, 1981 to 2000) with 24 remeasurement intervals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0" y="5074920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2 of this deck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horizon for planning, short horizon for trust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Five forest types x two density classes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Replaces the prior 11 byStrata stand grouping with 10 operational cells</a:t>
            </a:r>
            <a:endParaRPr lang="en-US" sz="1600" dirty="0"/>
          </a:p>
        </p:txBody>
      </p:sp>
      <p:pic>
        <p:nvPicPr>
          <p:cNvPr id="4" name="Image 0" descr="/sessions/friendly-compassionate-rubin/mnt/repos--fvs-modern/calibration/output/comparisons_overstory/silc_strata_5x2_plot_cou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1106424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SILC matrix stand inventory, 2696 plots across the Acadian Matrix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Hardwood and Commercial Softwood dominate the 10-cell map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Stratification rules for SILC sign off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each SILC plot is assigned to the 5 x 2 grid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40680" cy="4206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73152" cy="420624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27632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Forest type assignment (by % stand BA)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983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Cedar: white cedar share &gt;= 30%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Softwood: pines &gt;= 50% (JP, RP, WP)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Mixedwood: hardwood &gt;= 30% AND softwood &gt;= 30% (folds HS + SH)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Hardwood: HW dominant when softwood &lt; 30%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Softwood: SW dominant (spruce, fir, hemlock) when HW &lt; 30%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Unclassifiable: total identified species below 50% (CFI plot 1103)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463040"/>
            <a:ext cx="5440680" cy="420624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463040"/>
            <a:ext cx="73152" cy="420624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27632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Density class assignment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583680" y="2240280"/>
            <a:ext cx="4983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A+B (high): REL_DENSITY &gt;= 0.28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C+D (low): REL_DENSITY &lt; 0.28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REL_DENSITY = SDI / SDI_max with SDI_max = 450 (Long 1985 NE softwood)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 = CFI sample median; balances 5/5 plot split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alternative: SILC Matrix BA stocking lines A (&gt;=100), B (80-100), C (60-80), D (&lt;60)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thresholds open for SILC sign off; mapping file silc_strata_5x2_mapping.csv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Awaiting SILC confirmation on species cutoffs and density threshold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100-yr AGM trajectories: default vs MORTCAL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AGM (green) projects BA climbing to 200 ft^2/ac by year 100. MORTCAL=TRUE (gold) plateaus at 80-110 ft^2/ac - a more operationally credible carrying capacity for these stands.</a:t>
            </a:r>
            <a:endParaRPr lang="en-US" sz="1400" dirty="0"/>
          </a:p>
        </p:txBody>
      </p:sp>
      <p:pic>
        <p:nvPicPr>
          <p:cNvPr id="4" name="Image 0" descr="/sessions/friendly-compassionate-rubin/mnt/repos--fvs-modern/calibration/output/comparisons_overstory/silc_strata_5x2_AGM_MORTCAL_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08760"/>
            <a:ext cx="1143000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v12.3.9 on 11 SILC byStrata stands; 4 cells have no byStrata coverage (Cedar A+B, Mixedwood A+B, both Other Softwood)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AGM over-projects standing BA by ~2x at year 100; MORTCAL corrects this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Year-100 outcomes by stratum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factor = year-100 value divided by year-0 value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508760"/>
          <a:ext cx="11612880" cy="4114800"/>
        </p:xfrm>
        <a:graphic>
          <a:graphicData uri="http://schemas.openxmlformats.org/drawingml/2006/table">
            <a:tbl>
              <a:tblPr/>
              <a:tblGrid>
                <a:gridCol w="2743200"/>
                <a:gridCol w="548640"/>
                <a:gridCol w="1188720"/>
                <a:gridCol w="1280160"/>
                <a:gridCol w="1188720"/>
                <a:gridCol w="1280160"/>
                <a:gridCol w="1371600"/>
                <a:gridCol w="1280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Stratum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default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MORTCAL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delta BA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Cords default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Cords MORTCAL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delta Cords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Cedar / A+B (CFI backfill)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35.8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Cedar / C+D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206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-52%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59.3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36.9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-38%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Hardwood / A+B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209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107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-49%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65.3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39.3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Hardwood / C+D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198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108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-46%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61.0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38.9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-36%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Mixedwood / A+B (CFI backfill)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21.9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Mixedwood / C+D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-52%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66.4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37.6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-43%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Commercial Softwood / A+B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98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-52%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61.0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35.9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-41%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Commercial Softwood / C+D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211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-53%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62.9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36.2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-42%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i="1" dirty="0">
                          <a:solidFill>
                            <a:srgbClr val="88888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Other Softwood (no CFI coverage)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 vs MORTCAL=TRUE on 11 byStrata + 4 CFI backfill plots. BA in ft^2/ac, Cords/ac. Other Softwood has no CFI coverage.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MORTCAL year-100 BA is half the default; CFI backfill closes 2 of 4 empty cells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SILC CFI gives us the empirical anchor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Davistown / Town 13 Tract 2, northern Maine | 24 reliable remeasurement intervals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fixed-area plots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1/5 ac, EXPF=5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53512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2953512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 waves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953512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1981 / 1986 / 1990 / 1995 / 2000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58384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1,399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5358384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trees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58384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327 dead + 269 removed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63256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649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7763256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paired tree growth records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63256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140 mortality records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168128" y="1691640"/>
            <a:ext cx="2240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10168128" y="28346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remeasurement intervals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68128" y="329184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to 9 year span each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of 10 strata cells covered by CFI plots: Cedar / Hardwood (both densities) / Mixedwood (both) / Commercial Softwood / C+D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4663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 / A+B is uniquely covered by CFI but NOT by AGM byStrata — the two anchors are complementary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SILC_CFI_FIADB_Database_v3.xlsx, FIADB-structured, Weiskittel 2026-05-28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Seven Islands data with 24 remeasurement intervals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models bracket the truth on CFI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FVS-NE calibrated lands closest, AGM over projects, OSM-ACD under projects</a:t>
            </a:r>
            <a:endParaRPr lang="en-US" sz="1600" dirty="0"/>
          </a:p>
        </p:txBody>
      </p:sp>
      <p:pic>
        <p:nvPicPr>
          <p:cNvPr id="4" name="Image 0" descr="/sessions/friendly-compassionate-rubin/mnt/repos--fvs-modern/calibration/output/comparisons_overstory/silc_cfi/silc_cfi_multimodel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17320"/>
            <a:ext cx="11430000" cy="4023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= AcadianGY 12.3.9 (in-source mortality + ingrowth fix); OSM-ACD = Open Stand Model Acadian v2.26.1, Cardinal SLURM 10988107 + 10990880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FVS-NE calibrated and AGM near zero, OSM is the under bracket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 model CFI accuracy at a glance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Routine growth subset, n=17. Best of each metric in green, worst in red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417320"/>
          <a:ext cx="11612880" cy="36576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1371600"/>
                <a:gridCol w="219456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Predictor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Cords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BdFt (Intl 1/4)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SDI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Curtis RD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zero growth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-1.8%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-15.9%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+4.8%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+5.2%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FIA prior PAI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+1.4%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(AcadianGY)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+6.1%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+8.4%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-0.6%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FVS-NE default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+4.6%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-1.1%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FVS-NE calibrated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-3.8%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-13.6%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-5.9%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-6.1%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FVS-ACD (default = cal *)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3D2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-2.5%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-11.5%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-0.5%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-0.7%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OSM-ACD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-7.3%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-6.6%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+6.0%</a:t>
                      </a:r>
                      <a:endParaRPr lang="en-US" sz="14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 FVS-ACD calibration tweaks BAMAX stocking caps which do not bind below 150 ft^2/ac BA; default and calibrated produce identical projections on these CFI plots. n=17 routine-growth subset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FVS-NE calibrated wins BA, FVS-ACD wins cords, AGM wins BdFt SDI RD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Species composition matched by AGM and OSM-ACD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within 1.3 pp on Comm SW share, OSM-ACD within 3 pp on all four groups</a:t>
            </a:r>
            <a:endParaRPr lang="en-US" sz="1600" dirty="0"/>
          </a:p>
        </p:txBody>
      </p:sp>
      <p:pic>
        <p:nvPicPr>
          <p:cNvPr id="4" name="Image 0" descr="/sessions/friendly-compassionate-rubin/mnt/repos--fvs-modern/calibration/output/comparisons_overstory/silc_cfi/silc_cfi_species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1161288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of routine-growth subset n=17. Bias annotations are predicted minus observed in percentage points. FVS per tree species output deferred (TREELIST scheduling)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and OSM-ACD both track the observed Comm SW + Hardwood mix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means for SILC operational use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106424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0876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AGM with MORTCAL correction is the new long horizon champion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Cuts AGM BA bias from +18.5% to +7.8% (10 yr empirical), and pulls 100 yr projected BA from ~200 down to ~100 ft^2/ac and 100 yr Cords from ~62 down to ~37 cords/ac. Sawlog BdFt R^2 hits 0.84 with single digit bias. Recommended for SILC operational sawlog and yield projections.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880360"/>
            <a:ext cx="1106424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880360"/>
            <a:ext cx="73152" cy="137160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30175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FVS-NE calibrated stays best on short horizon cords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" y="347472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5 yr bias (-0.3% BA, -3.8% cords) and tied for best 10 yr cords R^2 (0.82 vs AGM MORTCAL 0.82). Pair with AGM MORTCAL for cross-check; both share the merch volume formula.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4389120"/>
            <a:ext cx="11064240" cy="1371600"/>
          </a:xfrm>
          <a:prstGeom prst="rect">
            <a:avLst/>
          </a:prstGeom>
          <a:solidFill>
            <a:srgbClr val="F7F7F7"/>
          </a:solidFill>
          <a:ln w="12700">
            <a:solidFill>
              <a:srgbClr val="F7F7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389120"/>
            <a:ext cx="73152" cy="137160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526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Bracket with OSM-ACD as the conservative under projection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5800" y="4983480"/>
            <a:ext cx="10698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OSM-ACD is the lower bound at all horizons (-8% to -10% bias). Report AGM MORTCAL plus OSM as the operational range; per plot RMSE 11 ft^2/ac BA at 10 yr horizon.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with MORTCAL is the new operational champion; FVS-NE cal + OSM bracket the range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Long horizon scorecard: 10 to 14 year projections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Earliest to latest CFI measurement per plot. Mean horizon 10 years. n=6 routine pairs</a:t>
            </a:r>
            <a:endParaRPr lang="en-US" sz="1600" dirty="0"/>
          </a:p>
        </p:txBody>
      </p:sp>
      <p:pic>
        <p:nvPicPr>
          <p:cNvPr id="4" name="Image 0" descr="/sessions/friendly-compassionate-rubin/mnt/repos--fvs-modern/calibration/output/comparisons_overstory/silc_cfi/silc_cfi_long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71600"/>
            <a:ext cx="11612880" cy="292608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89120"/>
          <a:ext cx="11247120" cy="137160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508760"/>
                <a:gridCol w="1463040"/>
                <a:gridCol w="1600200"/>
                <a:gridCol w="1463040"/>
                <a:gridCol w="18288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5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10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Cords 5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Cords 10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BdFt 5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BdFt 10 yr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default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+6.1%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+18.5%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+19.3%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+8.4%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+16.7%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MORTCAL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+7.8%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+8.4%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FVS-NE cal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+5.7%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-3.8%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+4.6%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-13.6%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-14.3%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FVS-ACD def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+5.3%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+15.9%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-2.5%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+8.1%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-11.5%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-10.1%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OSM-ACD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-9.7%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-7.3%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-6.6%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8521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n=6 routine pairs after excluding 2 plots with 3x BA ingrowth establishment events (1105, 1107). MORTCAL = #126b in-source mortality correction.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MORTCAL cuts long horizon bias by more than half, beats all defaults on BdFt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CFI scorecard fits a larger validation picture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n=17 SILC CFI pairs anchored against 12029 plot Maine FIA validation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33756" y="17830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333756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SILC CFI routine remeasurement pairs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33756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Davistown, ME 1981 to 2000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65676" y="17830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12,029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4265676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Maine + NH + VT FIA paired plots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265676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Apples-to-apples overstory recompute, DIA &gt;= 5 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197596" y="17830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-0.06%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8197596" y="3154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FVS-ACD calibrated BA bias on FIA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197596" y="3657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of CFI scorecard, n 700x larger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4348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+5% to +6% AGM and FVS-ACD CFI biases are consistent with the +0% bias the same calibration achieves on 12,029 FIA plots when stand structure differences are accounted for. The CFI biases reflect SILC's Acadian Matrix configuration, not a model failure.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55778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999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 recompute: SLURM 10591333; calibration/output/comparisons_overstory/FINDINGS.md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n CFI scorecard is consistent with the large n FIA validation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the +18.5% AGM bias actually lives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mechanisms account for all of the long horizon over projection: under mortality on disturbed plots, plus over growth on slow plots</a:t>
            </a:r>
            <a:endParaRPr lang="en-US" sz="1500" dirty="0"/>
          </a:p>
        </p:txBody>
      </p:sp>
      <p:pic>
        <p:nvPicPr>
          <p:cNvPr id="4" name="Image 0" descr="/sessions/friendly-compassionate-rubin/mnt/repos--fvs-modern/calibration/output/comparisons_overstory/silc_cfi/silc_cfi_long_mechanis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17320"/>
            <a:ext cx="1161288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8006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D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failure modes drive the bias: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5166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Under mortality on disturbed plots: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343400" y="5166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Plots 1101 and 1106 lost 27 to 34% of TPA; AGM lost 0 to 19% (panel 1, red bars in panel 3).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5577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Over growth on slow plots: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343400" y="5577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grew QMD a uniform +0.8 in regardless of site; plots 1100 and 1104 grew only 0.05 to 0.17 in observed (panel 2).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Verified, not a calculation issue: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34340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 / Cords / BdFt pipeline reproduces from the AGM treelist to 1e-13 ft^2/ac. The bias is the model speaking honestly.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Bias is mechanism, not bug: under mortality + over growth on edge cases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Turning on AGM MORTCAL cuts long horizon bias by more than half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#126b in-source size dependent mortality correction (calibrated to Maine FIA) ports cleanly to SILC CFI. Default OFF in AGM 12.3.9; turn on by setting ops$MORTCAL = TRUE</a:t>
            </a:r>
            <a:endParaRPr lang="en-US" sz="1400" dirty="0"/>
          </a:p>
        </p:txBody>
      </p:sp>
      <p:pic>
        <p:nvPicPr>
          <p:cNvPr id="4" name="Image 0" descr="/sessions/friendly-compassionate-rubin/mnt/repos--fvs-modern/calibration/output/comparisons_overstory/silc_cfi/silc_cfi_long_mortcal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554480"/>
            <a:ext cx="11612880" cy="3108960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754880"/>
          <a:ext cx="11247120" cy="1325880"/>
        </p:xfrm>
        <a:graphic>
          <a:graphicData uri="http://schemas.openxmlformats.org/drawingml/2006/table">
            <a:tbl>
              <a:tblPr/>
              <a:tblGrid>
                <a:gridCol w="2560320"/>
                <a:gridCol w="2377440"/>
                <a:gridCol w="2377440"/>
                <a:gridCol w="393192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default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AGM MORTCAL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Improvement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D2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bias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+18.5%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+7.8%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cut by 58%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RMSE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16.2 ft^2/ac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10.7 ft^2/ac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-34%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 R^2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-0.20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+0.47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flips negative to positive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Cords R^2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0.58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+0.24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BdFt bias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+16.7%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+4.0%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down to single digit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BdFt R^2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0.75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0.84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+0.09</a:t>
                      </a:r>
                      <a:endParaRPr lang="en-US" sz="12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AGM with MORTCAL is the new long horizon champion across BA, cords, sawlog BdFt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640080" cy="640080"/>
          </a:xfrm>
          <a:prstGeom prst="ellipse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Confirm the 5 x 2 stratification with SILC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 off that the species composition rules and density threshold match your operational categories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640080" cy="640080"/>
          </a:xfrm>
          <a:prstGeom prst="ellipse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280160" y="25146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Backfill the four empty cells with plot level AGM MORTCAL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9260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Cedar/A+B, Mixedwood/A+B, both Other Softwood; pull from individual SILC CFI plots assigned to those cells, run AGM MORTCAL 100 yr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640080" cy="640080"/>
          </a:xfrm>
          <a:prstGeom prst="ellipse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80160" y="36576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 year 100 BA against SILC operational expectations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40690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MORTCAL 100 yr BA settles at 80 to 110 ft^2/ac. Confirm this matches SILC's expected carrying capacity for managed Acadian stands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892040"/>
            <a:ext cx="640080" cy="640080"/>
          </a:xfrm>
          <a:prstGeom prst="ellipse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92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80160" y="4800600"/>
            <a:ext cx="10424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Set the uncertainty bands and ship the operational handoff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5212080"/>
            <a:ext cx="10424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AGM MORTCAL RMSE 10.7 ft^2/ac BA at 10 yr as the per plot uncertainty. Year 100 cords/ac estimates: 36 to 39 across strata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26364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model scaffold is live, awaiting SILC sign off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Questions and discussion</a:t>
            </a:r>
            <a:endParaRPr lang="en-US" sz="5600" dirty="0"/>
          </a:p>
        </p:txBody>
      </p:sp>
      <p:sp>
        <p:nvSpPr>
          <p:cNvPr id="3" name="Shape 1"/>
          <p:cNvSpPr/>
          <p:nvPr/>
        </p:nvSpPr>
        <p:spPr>
          <a:xfrm>
            <a:off x="5458968" y="3520440"/>
            <a:ext cx="1280160" cy="54864"/>
          </a:xfrm>
          <a:prstGeom prst="rect">
            <a:avLst/>
          </a:prstGeom>
          <a:solidFill>
            <a:srgbClr val="1A3D28"/>
          </a:solidFill>
          <a:ln w="12700">
            <a:solidFill>
              <a:srgbClr val="1A3D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8404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333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Aaron R. Weiskittel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A3D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aaron.weiskittel@maine.edu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Center for Research on Sustainable Forests | University of Maine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SILC Four-Model Benchmark</dc:title>
  <dc:subject>PptxGenJS Presentation</dc:subject>
  <dc:creator>Aaron R. Weiskittel</dc:creator>
  <cp:lastModifiedBy>Aaron R. Weiskittel</cp:lastModifiedBy>
  <cp:revision>1</cp:revision>
  <dcterms:created xsi:type="dcterms:W3CDTF">2026-05-29T12:36:58Z</dcterms:created>
  <dcterms:modified xsi:type="dcterms:W3CDTF">2026-05-29T12:36:58Z</dcterms:modified>
</cp:coreProperties>
</file>