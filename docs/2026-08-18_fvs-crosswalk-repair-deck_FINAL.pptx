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8" r:id="rId19"/>
    <p:sldId id="269" r:id="rId20"/>
    <p:sldId id="270" r:id="rId21"/>
    <p:sldId id="271" r:id="rId22"/>
    <p:sldId id="272" r:id="rId23"/>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2.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session with Greg and David on the fvs-conus and fvs-modern calibration pipeline. Agenda: the v1 release and a license correction, a diameter growth crosswalk bug that caused most variants to silently run uncalibrated growth while the tracking file claimed otherwise, the repair and verification of that bug across 18 variants, and a separate, newly found height increment bug that directly affects data Greg and David each contributed (diameter growth coefficients and crown width work respectively). This is a working draft: 5 of 6 height increment refits and the full scale ne validation gate run are still in progress as of 14 August 2026. Numbers here reflect the state of the compute jobs at the time this deck was built and will move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Caught in review: fvs-conus directly uses Greg's diameter growth coefficients and David's crown width work, the same contributions already credited in fvs-modern. The repo had shipped under CC-BY-4.0 attributed to Aaron alone, which did not reflect that. Corrected to MIT with joint copyright, Weiskittel, Johnson, Marshall, matching the license and credit structure fvs-modern already uses. Fix is commit 2263597.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pipeline fits Bayesian per-species multipliers from national FIA data, then a serializer writes them into each variant's config keyed by a species crosswalk file. The tracking file marked diameter growth adopted, TRUE, for all 25 variants. In fact only 7 (acd, ca, cs, kt, ls, nc, on) had a working crosswalk. The other 18, including Northeast (ne), silently ran default uncalibrated diameter growth while the tracking file claimed otherwise. A second bug, a stale config mirror carrying an outdated availability table, compounded this and was fixed once, globally, for all 25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variants repaired this effort: pn was the pilot; on, acd, ca, cs, kt, ls, nc were already working before this pass, which is why the target set is 18 rather than all 25. Recovery method replays each variant's original data prep and subsampling to reconstruct which FIA species survived the fit and in what order, cross checked against that variant's own fitting log. Every repair confirmed by directly reading the regenerated config's provenance field, not the recovery script's own summary. All committed to fvs-modern.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flagging to Greg and David specifically since this affects data they contributed. The height increment fitting script filtered a crown ratio predictor assuming a 0 to 100 percent scale, but the real data is stored as hundredths of a percent. Confirmed uniformly across all 6 variants. The filter silently discarded nearly the entire dataset; for one variant, 1 of 12,576 valid rows survived. Previously shipped fits for these variants had almost no statistical support even though the pipeline reported success. Filter corrected, full refits launched for all 6, including bc, whose earlier shipped repair is now superseded by the refit.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Hamiltonian Monte Carlo fit. Contrast with the corrupted fit that shipped once before: 25 observations, and a multiplier range of 0.91 to 1.11, an artificially narrow band consistent with too little data to move away from the default. The new fit has enough support to actually move species away from 1.0 in either direction, which is what a working calibration should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two. All 18 diameter growth repairs are structurally verified: correct species mapping, plausible multiplier values. Outcome level validation, comparing FVS predictions against real remeasured FIA plots, exists only for the Northeast (ne) variant's existing validation framework, 3,321 matched plot pairs. Building that infrastructure for other variants from scratch is out of scope for this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Smoke scale comparison, 30 plots. Config swapped between pre and post repair state with the FVS binary held fixed. The unaffected model arm was bit for bit identical between runs, confirming the comparison isolates only the intended change. Both deltas are small fractions of the roughly 30 point wide 95 percent confidence interval on this metric; the repair does not meaningfully move this variant's existing validation result. Full scale confirmatory run, 3,321 plots, launched and still running as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Extending outcome level validation to more variants is a named follow on, not a gap being hidden. The ne framework does not generalize to other variants without new baseline data collection for each one, so this is a scoped next phase rather than a quick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repair work lives on fvs-modern's save/worktree-20260725 development branch, not yet merged into the release/v1-code-20260811 branch the actual v1 tag points to. Needs a decision on merging into v1 or holding for a future release. That decision is one thing to leave this call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This repair protects the coefficients and modeling work Greg and David each contributed, Greg's diameter growth coefficients and David's crown width work, so flagging both bugs to them directly is the point of this call. Next update follows once the remaining 5 height increment refits and the full scale ne gate run finish; current numbers in this deck are a snapshot as of 14 August 2026 and will move before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D28"/>
        </a:solidFill>
      </p:bgPr>
    </p:bg>
    <p:spTree>
      <p:nvGrpSpPr>
        <p:cNvPr id="1" name=""/>
        <p:cNvGrpSpPr/>
        <p:nvPr/>
      </p:nvGrpSpPr>
      <p:grpSpPr>
        <a:xfrm>
          <a:off x="0" y="0"/>
          <a:ext cx="0" cy="0"/>
          <a:chOff x="0" y="0"/>
          <a:chExt cx="0" cy="0"/>
        </a:xfrm>
      </p:grpSpPr>
      <p:sp>
        <p:nvSpPr>
          <p:cNvPr id="2" name="Shape 0"/>
          <p:cNvSpPr/>
          <p:nvPr/>
        </p:nvSpPr>
        <p:spPr>
          <a:xfrm>
            <a:off x="8778240" y="-2377440"/>
            <a:ext cx="6400800" cy="6400800"/>
          </a:xfrm>
          <a:prstGeom prst="ellipse">
            <a:avLst/>
          </a:prstGeom>
          <a:solidFill>
            <a:srgbClr val="234A32"/>
          </a:solidFill>
          <a:ln/>
        </p:spPr>
        <p:txBody>
          <a:bodyPr/>
          <a:p/>
        </p:txBody>
      </p:sp>
      <p:sp>
        <p:nvSpPr>
          <p:cNvPr id="3" name="Shape 1"/>
          <p:cNvSpPr/>
          <p:nvPr/>
        </p:nvSpPr>
        <p:spPr>
          <a:xfrm>
            <a:off x="9692640" y="-1554480"/>
            <a:ext cx="4754880" cy="4754880"/>
          </a:xfrm>
          <a:prstGeom prst="ellipse">
            <a:avLst/>
          </a:prstGeom>
          <a:solidFill>
            <a:srgbClr val="2C5738"/>
          </a:solidFill>
          <a:ln/>
        </p:spPr>
        <p:txBody>
          <a:bodyPr/>
          <a:p/>
        </p:txBody>
      </p:sp>
      <p:pic>
        <p:nvPicPr>
          <p:cNvPr id="4" name="Image 0" descr="/tmp/deckbuild/assets/crsf_reverse.png">    </p:cNvPr>
          <p:cNvPicPr>
            <a:picLocks noChangeAspect="1"/>
          </p:cNvPicPr>
          <p:nvPr/>
        </p:nvPicPr>
        <p:blipFill>
          <a:blip r:embed="rId1"/>
          <a:stretch>
            <a:fillRect/>
          </a:stretch>
        </p:blipFill>
        <p:spPr>
          <a:xfrm>
            <a:off x="685800" y="548640"/>
            <a:ext cx="960120" cy="961182"/>
          </a:xfrm>
          <a:prstGeom prst="rect">
            <a:avLst/>
          </a:prstGeom>
        </p:spPr>
      </p:pic>
      <p:sp>
        <p:nvSpPr>
          <p:cNvPr id="5" name="Text 2"/>
          <p:cNvSpPr/>
          <p:nvPr/>
        </p:nvSpPr>
        <p:spPr>
          <a:xfrm>
            <a:off x="685800" y="2331720"/>
            <a:ext cx="1051560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fvs-conus / fvs-modern</a:t>
            </a:r>
            <a:endParaRPr lang="en-US" sz="4000" dirty="0"/>
          </a:p>
        </p:txBody>
      </p:sp>
      <p:sp>
        <p:nvSpPr>
          <p:cNvPr id="6" name="Text 3"/>
          <p:cNvSpPr/>
          <p:nvPr/>
        </p:nvSpPr>
        <p:spPr>
          <a:xfrm>
            <a:off x="685800" y="2999232"/>
            <a:ext cx="10515600" cy="822960"/>
          </a:xfrm>
          <a:prstGeom prst="rect">
            <a:avLst/>
          </a:prstGeom>
          <a:noFill/>
          <a:ln/>
        </p:spPr>
        <p:txBody>
          <a:bodyPr wrap="square" rtlCol="0" anchor="ctr"/>
          <a:lstStyle/>
          <a:p>
            <a:pPr indent="0" marL="0">
              <a:buNone/>
            </a:pPr>
            <a:r>
              <a:rPr lang="en-US" sz="4000" b="1" dirty="0">
                <a:solidFill>
                  <a:srgbClr val="C5A55A"/>
                </a:solidFill>
                <a:latin typeface="Cambria" pitchFamily="34" charset="0"/>
                <a:ea typeface="Cambria" pitchFamily="34" charset="-122"/>
                <a:cs typeface="Cambria" pitchFamily="34" charset="-120"/>
              </a:rPr>
              <a:t>Calibration Repair</a:t>
            </a:r>
            <a:endParaRPr lang="en-US" sz="4000" dirty="0"/>
          </a:p>
        </p:txBody>
      </p:sp>
      <p:sp>
        <p:nvSpPr>
          <p:cNvPr id="7" name="Text 4"/>
          <p:cNvSpPr/>
          <p:nvPr/>
        </p:nvSpPr>
        <p:spPr>
          <a:xfrm>
            <a:off x="685800" y="3794760"/>
            <a:ext cx="10058400" cy="502920"/>
          </a:xfrm>
          <a:prstGeom prst="rect">
            <a:avLst/>
          </a:prstGeom>
          <a:noFill/>
          <a:ln/>
        </p:spPr>
        <p:txBody>
          <a:bodyPr wrap="square" rtlCol="0" anchor="ctr"/>
          <a:lstStyle/>
          <a:p>
            <a:pPr indent="0" marL="0">
              <a:buNone/>
            </a:pPr>
            <a:r>
              <a:rPr lang="en-US" sz="2000" dirty="0">
                <a:solidFill>
                  <a:srgbClr val="7DB5D5"/>
                </a:solidFill>
                <a:latin typeface="Calibri" pitchFamily="34" charset="0"/>
                <a:ea typeface="Calibri" pitchFamily="34" charset="-122"/>
                <a:cs typeface="Calibri" pitchFamily="34" charset="-120"/>
              </a:rPr>
              <a:t>Status for Greg Johnson and David Marshall</a:t>
            </a:r>
            <a:endParaRPr lang="en-US" sz="2000" dirty="0"/>
          </a:p>
        </p:txBody>
      </p:sp>
      <p:sp>
        <p:nvSpPr>
          <p:cNvPr id="8" name="Text 5"/>
          <p:cNvSpPr/>
          <p:nvPr/>
        </p:nvSpPr>
        <p:spPr>
          <a:xfrm>
            <a:off x="685800" y="5989320"/>
            <a:ext cx="10515600" cy="365760"/>
          </a:xfrm>
          <a:prstGeom prst="rect">
            <a:avLst/>
          </a:prstGeom>
          <a:noFill/>
          <a:ln/>
        </p:spPr>
        <p:txBody>
          <a:bodyPr wrap="square" rtlCol="0" anchor="ctr"/>
          <a:lstStyle/>
          <a:p>
            <a:pPr indent="0" marL="0">
              <a:buNone/>
            </a:pPr>
            <a:r>
              <a:rPr lang="en-US" sz="1400" dirty="0">
                <a:solidFill>
                  <a:srgbClr val="C9D6CD"/>
                </a:solidFill>
                <a:latin typeface="Calibri" pitchFamily="34" charset="0"/>
                <a:ea typeface="Calibri" pitchFamily="34" charset="-122"/>
                <a:cs typeface="Calibri" pitchFamily="34" charset="-120"/>
              </a:rPr>
              <a:t>Aaron Weiskittel  |  CRSF, University of Maine  |  18 August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RELEASE</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v1 shipped. License now matches fvs-modern.</a:t>
            </a:r>
            <a:endParaRPr lang="en-US" sz="3200" dirty="0"/>
          </a:p>
        </p:txBody>
      </p:sp>
      <p:sp>
        <p:nvSpPr>
          <p:cNvPr id="4" name="Shape 2"/>
          <p:cNvSpPr/>
          <p:nvPr/>
        </p:nvSpPr>
        <p:spPr>
          <a:xfrm>
            <a:off x="640080" y="1920240"/>
            <a:ext cx="5212080" cy="2103120"/>
          </a:xfrm>
          <a:prstGeom prst="roundRect">
            <a:avLst>
              <a:gd name="adj" fmla="val 5217"/>
            </a:avLst>
          </a:prstGeom>
          <a:solidFill>
            <a:srgbClr val="F1F5F2"/>
          </a:solidFill>
          <a:ln/>
          <a:effectLst>
            <a:outerShdw sx="100000" sy="100000" kx="0" ky="0" algn="bl" rotWithShape="0" blurRad="76200" dist="25400" dir="5400000">
              <a:srgbClr val="8A9A90">
                <a:alpha val="18000"/>
              </a:srgbClr>
            </a:outerShdw>
          </a:effectLst>
        </p:spPr>
      </p:sp>
      <p:sp>
        <p:nvSpPr>
          <p:cNvPr id="5" name="Text 3"/>
          <p:cNvSpPr/>
          <p:nvPr/>
        </p:nvSpPr>
        <p:spPr>
          <a:xfrm>
            <a:off x="777240" y="2029968"/>
            <a:ext cx="4937760" cy="1219810"/>
          </a:xfrm>
          <a:prstGeom prst="rect">
            <a:avLst/>
          </a:prstGeom>
          <a:noFill/>
          <a:ln/>
        </p:spPr>
        <p:txBody>
          <a:bodyPr wrap="square" rtlCol="0" anchor="b"/>
          <a:lstStyle/>
          <a:p>
            <a:pPr algn="ctr" indent="0" marL="0">
              <a:buNone/>
            </a:pPr>
            <a:r>
              <a:rPr lang="en-US" sz="3000" b="1" dirty="0">
                <a:solidFill>
                  <a:srgbClr val="1A3D28"/>
                </a:solidFill>
                <a:latin typeface="Cambria" pitchFamily="34" charset="0"/>
                <a:ea typeface="Cambria" pitchFamily="34" charset="-122"/>
                <a:cs typeface="Cambria" pitchFamily="34" charset="-120"/>
              </a:rPr>
              <a:t>11 Aug 2026</a:t>
            </a:r>
            <a:endParaRPr lang="en-US" sz="3000" dirty="0"/>
          </a:p>
        </p:txBody>
      </p:sp>
      <p:sp>
        <p:nvSpPr>
          <p:cNvPr id="6" name="Text 4"/>
          <p:cNvSpPr/>
          <p:nvPr/>
        </p:nvSpPr>
        <p:spPr>
          <a:xfrm>
            <a:off x="777240" y="3182112"/>
            <a:ext cx="4937760" cy="799186"/>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fvs-conus v1 code release</a:t>
            </a:r>
            <a:endParaRPr lang="en-US" sz="1300" dirty="0"/>
          </a:p>
        </p:txBody>
      </p:sp>
      <p:sp>
        <p:nvSpPr>
          <p:cNvPr id="7" name="Shape 5"/>
          <p:cNvSpPr/>
          <p:nvPr/>
        </p:nvSpPr>
        <p:spPr>
          <a:xfrm>
            <a:off x="6309360" y="1920240"/>
            <a:ext cx="5212080" cy="2103120"/>
          </a:xfrm>
          <a:prstGeom prst="roundRect">
            <a:avLst>
              <a:gd name="adj" fmla="val 5217"/>
            </a:avLst>
          </a:prstGeom>
          <a:solidFill>
            <a:srgbClr val="F1F5F2"/>
          </a:solidFill>
          <a:ln/>
          <a:effectLst>
            <a:outerShdw sx="100000" sy="100000" kx="0" ky="0" algn="bl" rotWithShape="0" blurRad="76200" dist="25400" dir="5400000">
              <a:srgbClr val="8A9A90">
                <a:alpha val="18000"/>
              </a:srgbClr>
            </a:outerShdw>
          </a:effectLst>
        </p:spPr>
      </p:sp>
      <p:sp>
        <p:nvSpPr>
          <p:cNvPr id="8" name="Text 6"/>
          <p:cNvSpPr/>
          <p:nvPr/>
        </p:nvSpPr>
        <p:spPr>
          <a:xfrm>
            <a:off x="6446520" y="2029968"/>
            <a:ext cx="4937760" cy="1219810"/>
          </a:xfrm>
          <a:prstGeom prst="rect">
            <a:avLst/>
          </a:prstGeom>
          <a:noFill/>
          <a:ln/>
        </p:spPr>
        <p:txBody>
          <a:bodyPr wrap="square" rtlCol="0" anchor="b"/>
          <a:lstStyle/>
          <a:p>
            <a:pPr algn="ctr" indent="0" marL="0">
              <a:buNone/>
            </a:pPr>
            <a:r>
              <a:rPr lang="en-US" sz="3000" b="1" dirty="0">
                <a:solidFill>
                  <a:srgbClr val="C5A55A"/>
                </a:solidFill>
                <a:latin typeface="Cambria" pitchFamily="34" charset="0"/>
                <a:ea typeface="Cambria" pitchFamily="34" charset="-122"/>
                <a:cs typeface="Cambria" pitchFamily="34" charset="-120"/>
              </a:rPr>
              <a:t>MIT</a:t>
            </a:r>
            <a:endParaRPr lang="en-US" sz="3000" dirty="0"/>
          </a:p>
        </p:txBody>
      </p:sp>
      <p:sp>
        <p:nvSpPr>
          <p:cNvPr id="9" name="Text 7"/>
          <p:cNvSpPr/>
          <p:nvPr/>
        </p:nvSpPr>
        <p:spPr>
          <a:xfrm>
            <a:off x="6446520" y="3182112"/>
            <a:ext cx="4937760" cy="799186"/>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corrected from CC-BY-4.0</a:t>
            </a:r>
            <a:endParaRPr lang="en-US" sz="1300" dirty="0"/>
          </a:p>
        </p:txBody>
      </p:sp>
      <p:sp>
        <p:nvSpPr>
          <p:cNvPr id="10" name="Text 8"/>
          <p:cNvSpPr/>
          <p:nvPr/>
        </p:nvSpPr>
        <p:spPr>
          <a:xfrm>
            <a:off x="640080" y="4343400"/>
            <a:ext cx="10881360" cy="502920"/>
          </a:xfrm>
          <a:prstGeom prst="rect">
            <a:avLst/>
          </a:prstGeom>
          <a:noFill/>
          <a:ln/>
        </p:spPr>
        <p:txBody>
          <a:bodyPr wrap="square" rtlCol="0" anchor="ctr"/>
          <a:lstStyle/>
          <a:p>
            <a:pPr algn="l" indent="0" marL="0">
              <a:buNone/>
            </a:pPr>
            <a:r>
              <a:rPr lang="en-US" sz="1800" b="1" dirty="0">
                <a:solidFill>
                  <a:srgbClr val="1A3D28"/>
                </a:solidFill>
                <a:latin typeface="Calibri" pitchFamily="34" charset="0"/>
                <a:ea typeface="Calibri" pitchFamily="34" charset="-122"/>
                <a:cs typeface="Calibri" pitchFamily="34" charset="-120"/>
              </a:rPr>
              <a:t>Joint copyright: </a:t>
            </a:r>
            <a:pPr algn="l" indent="0" marL="0">
              <a:buNone/>
            </a:pPr>
            <a:r>
              <a:rPr lang="en-US" sz="1800" dirty="0">
                <a:solidFill>
                  <a:srgbClr val="222222"/>
                </a:solidFill>
                <a:latin typeface="Calibri" pitchFamily="34" charset="0"/>
                <a:ea typeface="Calibri" pitchFamily="34" charset="-122"/>
                <a:cs typeface="Calibri" pitchFamily="34" charset="-120"/>
              </a:rPr>
              <a:t>Weiskittel, Johnson, Marshall</a:t>
            </a:r>
            <a:endParaRPr lang="en-US" sz="1800" dirty="0"/>
          </a:p>
        </p:txBody>
      </p:sp>
      <p:pic>
        <p:nvPicPr>
          <p:cNvPr id="11"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2" name="Shape 9"/>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sp>
      <p:sp>
        <p:nvSpPr>
          <p:cNvPr id="13" name="Text 10"/>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Adopted did not mean applied</a:t>
            </a:r>
            <a:endParaRPr lang="en-US" sz="3200" dirty="0"/>
          </a:p>
        </p:txBody>
      </p:sp>
      <p:sp>
        <p:nvSpPr>
          <p:cNvPr id="4" name="Shape 2"/>
          <p:cNvSpPr/>
          <p:nvPr/>
        </p:nvSpPr>
        <p:spPr>
          <a:xfrm>
            <a:off x="640080" y="1920240"/>
            <a:ext cx="5212080" cy="2286000"/>
          </a:xfrm>
          <a:prstGeom prst="roundRect">
            <a:avLst>
              <a:gd name="adj" fmla="val 4800"/>
            </a:avLst>
          </a:prstGeom>
          <a:solidFill>
            <a:srgbClr val="F1F5F2"/>
          </a:solidFill>
          <a:ln/>
          <a:effectLst>
            <a:outerShdw sx="100000" sy="100000" kx="0" ky="0" algn="bl" rotWithShape="0" blurRad="76200" dist="25400" dir="5400000">
              <a:srgbClr val="8A9A90">
                <a:alpha val="18000"/>
              </a:srgbClr>
            </a:outerShdw>
          </a:effectLst>
        </p:spPr>
      </p:sp>
      <p:sp>
        <p:nvSpPr>
          <p:cNvPr id="5" name="Text 3"/>
          <p:cNvSpPr/>
          <p:nvPr/>
        </p:nvSpPr>
        <p:spPr>
          <a:xfrm>
            <a:off x="777240" y="2029968"/>
            <a:ext cx="4937760" cy="1325880"/>
          </a:xfrm>
          <a:prstGeom prst="rect">
            <a:avLst/>
          </a:prstGeom>
          <a:noFill/>
          <a:ln/>
        </p:spPr>
        <p:txBody>
          <a:bodyPr wrap="square" rtlCol="0" anchor="b"/>
          <a:lstStyle/>
          <a:p>
            <a:pPr algn="ctr" indent="0" marL="0">
              <a:buNone/>
            </a:pPr>
            <a:r>
              <a:rPr lang="en-US" sz="3000" b="1" dirty="0">
                <a:solidFill>
                  <a:srgbClr val="1A3D28"/>
                </a:solidFill>
                <a:latin typeface="Cambria" pitchFamily="34" charset="0"/>
                <a:ea typeface="Cambria" pitchFamily="34" charset="-122"/>
                <a:cs typeface="Cambria" pitchFamily="34" charset="-120"/>
              </a:rPr>
              <a:t>25 of 25</a:t>
            </a:r>
            <a:endParaRPr lang="en-US" sz="3000" dirty="0"/>
          </a:p>
        </p:txBody>
      </p:sp>
      <p:sp>
        <p:nvSpPr>
          <p:cNvPr id="6" name="Text 4"/>
          <p:cNvSpPr/>
          <p:nvPr/>
        </p:nvSpPr>
        <p:spPr>
          <a:xfrm>
            <a:off x="777240" y="3291840"/>
            <a:ext cx="4937760" cy="868680"/>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variants: pipeline reported</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diameter growth adopted</a:t>
            </a:r>
            <a:endParaRPr lang="en-US" sz="1300" dirty="0"/>
          </a:p>
        </p:txBody>
      </p:sp>
      <p:sp>
        <p:nvSpPr>
          <p:cNvPr id="7" name="Shape 5"/>
          <p:cNvSpPr/>
          <p:nvPr/>
        </p:nvSpPr>
        <p:spPr>
          <a:xfrm>
            <a:off x="6309360" y="1920240"/>
            <a:ext cx="5212080" cy="2286000"/>
          </a:xfrm>
          <a:prstGeom prst="roundRect">
            <a:avLst>
              <a:gd name="adj" fmla="val 4800"/>
            </a:avLst>
          </a:prstGeom>
          <a:solidFill>
            <a:srgbClr val="F1F5F2"/>
          </a:solidFill>
          <a:ln/>
          <a:effectLst>
            <a:outerShdw sx="100000" sy="100000" kx="0" ky="0" algn="bl" rotWithShape="0" blurRad="76200" dist="25400" dir="5400000">
              <a:srgbClr val="8A9A90">
                <a:alpha val="18000"/>
              </a:srgbClr>
            </a:outerShdw>
          </a:effectLst>
        </p:spPr>
      </p:sp>
      <p:sp>
        <p:nvSpPr>
          <p:cNvPr id="8" name="Text 6"/>
          <p:cNvSpPr/>
          <p:nvPr/>
        </p:nvSpPr>
        <p:spPr>
          <a:xfrm>
            <a:off x="6446520" y="2029968"/>
            <a:ext cx="4937760" cy="1325880"/>
          </a:xfrm>
          <a:prstGeom prst="rect">
            <a:avLst/>
          </a:prstGeom>
          <a:noFill/>
          <a:ln/>
        </p:spPr>
        <p:txBody>
          <a:bodyPr wrap="square" rtlCol="0" anchor="b"/>
          <a:lstStyle/>
          <a:p>
            <a:pPr algn="ctr" indent="0" marL="0">
              <a:buNone/>
            </a:pPr>
            <a:r>
              <a:rPr lang="en-US" sz="3000" b="1" dirty="0">
                <a:solidFill>
                  <a:srgbClr val="C5A55A"/>
                </a:solidFill>
                <a:latin typeface="Cambria" pitchFamily="34" charset="0"/>
                <a:ea typeface="Cambria" pitchFamily="34" charset="-122"/>
                <a:cs typeface="Cambria" pitchFamily="34" charset="-120"/>
              </a:rPr>
              <a:t>7 of 25</a:t>
            </a:r>
            <a:endParaRPr lang="en-US" sz="3000" dirty="0"/>
          </a:p>
        </p:txBody>
      </p:sp>
      <p:sp>
        <p:nvSpPr>
          <p:cNvPr id="9" name="Text 7"/>
          <p:cNvSpPr/>
          <p:nvPr/>
        </p:nvSpPr>
        <p:spPr>
          <a:xfrm>
            <a:off x="6446520" y="3291840"/>
            <a:ext cx="4937760" cy="868680"/>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variants: actually had a</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working crosswalk</a:t>
            </a:r>
            <a:endParaRPr lang="en-US" sz="1300" dirty="0"/>
          </a:p>
        </p:txBody>
      </p:sp>
      <p:sp>
        <p:nvSpPr>
          <p:cNvPr id="10" name="Text 8"/>
          <p:cNvSpPr/>
          <p:nvPr/>
        </p:nvSpPr>
        <p:spPr>
          <a:xfrm>
            <a:off x="640080" y="4526280"/>
            <a:ext cx="10881360" cy="548640"/>
          </a:xfrm>
          <a:prstGeom prst="rect">
            <a:avLst/>
          </a:prstGeom>
          <a:noFill/>
          <a:ln/>
        </p:spPr>
        <p:txBody>
          <a:bodyPr wrap="square" rtlCol="0" anchor="ctr"/>
          <a:lstStyle/>
          <a:p>
            <a:pPr indent="0" marL="0">
              <a:buNone/>
            </a:pPr>
            <a:r>
              <a:rPr lang="en-US" sz="1600" i="1" dirty="0">
                <a:solidFill>
                  <a:srgbClr val="5A5A5A"/>
                </a:solidFill>
                <a:latin typeface="Calibri" pitchFamily="34" charset="0"/>
                <a:ea typeface="Calibri" pitchFamily="34" charset="-122"/>
                <a:cs typeface="Calibri" pitchFamily="34" charset="-120"/>
              </a:rPr>
              <a:t>18 of 25 silently uncalibrated, including Northeast (ne)</a:t>
            </a:r>
            <a:endParaRPr lang="en-US" sz="1600" dirty="0"/>
          </a:p>
        </p:txBody>
      </p:sp>
      <p:pic>
        <p:nvPicPr>
          <p:cNvPr id="11"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2" name="Shape 9"/>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sp>
      <p:sp>
        <p:nvSpPr>
          <p:cNvPr id="13" name="Text 10"/>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DIAMETER GROWTH REPAIR</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18 of 18 targeted variants repaired and verified</a:t>
            </a:r>
            <a:endParaRPr lang="en-US" sz="3200" dirty="0"/>
          </a:p>
        </p:txBody>
      </p:sp>
      <p:sp>
        <p:nvSpPr>
          <p:cNvPr id="4" name="Shape 2"/>
          <p:cNvSpPr/>
          <p:nvPr/>
        </p:nvSpPr>
        <p:spPr>
          <a:xfrm>
            <a:off x="640080" y="1828800"/>
            <a:ext cx="10881360" cy="3703320"/>
          </a:xfrm>
          <a:prstGeom prst="roundRect">
            <a:avLst>
              <a:gd name="adj" fmla="val 2963"/>
            </a:avLst>
          </a:prstGeom>
          <a:solidFill>
            <a:srgbClr val="F1F5F2"/>
          </a:solidFill>
          <a:ln/>
          <a:effectLst>
            <a:outerShdw sx="100000" sy="100000" kx="0" ky="0" algn="bl" rotWithShape="0" blurRad="76200" dist="25400" dir="5400000">
              <a:srgbClr val="8A9A90">
                <a:alpha val="15000"/>
              </a:srgbClr>
            </a:outerShdw>
          </a:effectLst>
        </p:spPr>
      </p:sp>
      <p:sp>
        <p:nvSpPr>
          <p:cNvPr id="5" name="Text 3"/>
          <p:cNvSpPr/>
          <p:nvPr/>
        </p:nvSpPr>
        <p:spPr>
          <a:xfrm>
            <a:off x="2468880" y="210312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ak</a:t>
            </a:r>
            <a:endParaRPr lang="en-US" sz="1900" dirty="0"/>
          </a:p>
        </p:txBody>
      </p:sp>
      <p:sp>
        <p:nvSpPr>
          <p:cNvPr id="6" name="Text 4"/>
          <p:cNvSpPr/>
          <p:nvPr/>
        </p:nvSpPr>
        <p:spPr>
          <a:xfrm>
            <a:off x="2468880" y="246888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bc</a:t>
            </a:r>
            <a:endParaRPr lang="en-US" sz="1900" dirty="0"/>
          </a:p>
        </p:txBody>
      </p:sp>
      <p:sp>
        <p:nvSpPr>
          <p:cNvPr id="7" name="Text 5"/>
          <p:cNvSpPr/>
          <p:nvPr/>
        </p:nvSpPr>
        <p:spPr>
          <a:xfrm>
            <a:off x="2468880" y="283464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bm</a:t>
            </a:r>
            <a:endParaRPr lang="en-US" sz="1900" dirty="0"/>
          </a:p>
        </p:txBody>
      </p:sp>
      <p:sp>
        <p:nvSpPr>
          <p:cNvPr id="8" name="Text 6"/>
          <p:cNvSpPr/>
          <p:nvPr/>
        </p:nvSpPr>
        <p:spPr>
          <a:xfrm>
            <a:off x="2468880" y="320040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ci</a:t>
            </a:r>
            <a:endParaRPr lang="en-US" sz="1900" dirty="0"/>
          </a:p>
        </p:txBody>
      </p:sp>
      <p:sp>
        <p:nvSpPr>
          <p:cNvPr id="9" name="Text 7"/>
          <p:cNvSpPr/>
          <p:nvPr/>
        </p:nvSpPr>
        <p:spPr>
          <a:xfrm>
            <a:off x="2468880" y="356616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cr</a:t>
            </a:r>
            <a:endParaRPr lang="en-US" sz="1900" dirty="0"/>
          </a:p>
        </p:txBody>
      </p:sp>
      <p:sp>
        <p:nvSpPr>
          <p:cNvPr id="10" name="Text 8"/>
          <p:cNvSpPr/>
          <p:nvPr/>
        </p:nvSpPr>
        <p:spPr>
          <a:xfrm>
            <a:off x="2468880" y="393192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ec</a:t>
            </a:r>
            <a:endParaRPr lang="en-US" sz="1900" dirty="0"/>
          </a:p>
        </p:txBody>
      </p:sp>
      <p:sp>
        <p:nvSpPr>
          <p:cNvPr id="11" name="Text 9"/>
          <p:cNvSpPr/>
          <p:nvPr/>
        </p:nvSpPr>
        <p:spPr>
          <a:xfrm>
            <a:off x="2468880" y="429768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em</a:t>
            </a:r>
            <a:endParaRPr lang="en-US" sz="1900" dirty="0"/>
          </a:p>
        </p:txBody>
      </p:sp>
      <p:sp>
        <p:nvSpPr>
          <p:cNvPr id="12" name="Text 10"/>
          <p:cNvSpPr/>
          <p:nvPr/>
        </p:nvSpPr>
        <p:spPr>
          <a:xfrm>
            <a:off x="2468880" y="466344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ie</a:t>
            </a:r>
            <a:endParaRPr lang="en-US" sz="1900" dirty="0"/>
          </a:p>
        </p:txBody>
      </p:sp>
      <p:sp>
        <p:nvSpPr>
          <p:cNvPr id="13" name="Text 11"/>
          <p:cNvSpPr/>
          <p:nvPr/>
        </p:nvSpPr>
        <p:spPr>
          <a:xfrm>
            <a:off x="2468880" y="502920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ne</a:t>
            </a:r>
            <a:endParaRPr lang="en-US" sz="1900" dirty="0"/>
          </a:p>
        </p:txBody>
      </p:sp>
      <p:sp>
        <p:nvSpPr>
          <p:cNvPr id="14" name="Text 12"/>
          <p:cNvSpPr/>
          <p:nvPr/>
        </p:nvSpPr>
        <p:spPr>
          <a:xfrm>
            <a:off x="7315200" y="210312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oc</a:t>
            </a:r>
            <a:endParaRPr lang="en-US" sz="1900" dirty="0"/>
          </a:p>
        </p:txBody>
      </p:sp>
      <p:sp>
        <p:nvSpPr>
          <p:cNvPr id="15" name="Text 13"/>
          <p:cNvSpPr/>
          <p:nvPr/>
        </p:nvSpPr>
        <p:spPr>
          <a:xfrm>
            <a:off x="7315200" y="246888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op</a:t>
            </a:r>
            <a:endParaRPr lang="en-US" sz="1900" dirty="0"/>
          </a:p>
        </p:txBody>
      </p:sp>
      <p:sp>
        <p:nvSpPr>
          <p:cNvPr id="16" name="Text 14"/>
          <p:cNvSpPr/>
          <p:nvPr/>
        </p:nvSpPr>
        <p:spPr>
          <a:xfrm>
            <a:off x="7315200" y="283464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sn</a:t>
            </a:r>
            <a:endParaRPr lang="en-US" sz="1900" dirty="0"/>
          </a:p>
        </p:txBody>
      </p:sp>
      <p:sp>
        <p:nvSpPr>
          <p:cNvPr id="17" name="Text 15"/>
          <p:cNvSpPr/>
          <p:nvPr/>
        </p:nvSpPr>
        <p:spPr>
          <a:xfrm>
            <a:off x="7315200" y="320040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so</a:t>
            </a:r>
            <a:endParaRPr lang="en-US" sz="1900" dirty="0"/>
          </a:p>
        </p:txBody>
      </p:sp>
      <p:sp>
        <p:nvSpPr>
          <p:cNvPr id="18" name="Text 16"/>
          <p:cNvSpPr/>
          <p:nvPr/>
        </p:nvSpPr>
        <p:spPr>
          <a:xfrm>
            <a:off x="7315200" y="356616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tt</a:t>
            </a:r>
            <a:endParaRPr lang="en-US" sz="1900" dirty="0"/>
          </a:p>
        </p:txBody>
      </p:sp>
      <p:sp>
        <p:nvSpPr>
          <p:cNvPr id="19" name="Text 17"/>
          <p:cNvSpPr/>
          <p:nvPr/>
        </p:nvSpPr>
        <p:spPr>
          <a:xfrm>
            <a:off x="7315200" y="393192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ut</a:t>
            </a:r>
            <a:endParaRPr lang="en-US" sz="1900" dirty="0"/>
          </a:p>
        </p:txBody>
      </p:sp>
      <p:sp>
        <p:nvSpPr>
          <p:cNvPr id="20" name="Text 18"/>
          <p:cNvSpPr/>
          <p:nvPr/>
        </p:nvSpPr>
        <p:spPr>
          <a:xfrm>
            <a:off x="7315200" y="429768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wc</a:t>
            </a:r>
            <a:endParaRPr lang="en-US" sz="1900" dirty="0"/>
          </a:p>
        </p:txBody>
      </p:sp>
      <p:sp>
        <p:nvSpPr>
          <p:cNvPr id="21" name="Text 19"/>
          <p:cNvSpPr/>
          <p:nvPr/>
        </p:nvSpPr>
        <p:spPr>
          <a:xfrm>
            <a:off x="7315200" y="466344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ws</a:t>
            </a:r>
            <a:endParaRPr lang="en-US" sz="1900" dirty="0"/>
          </a:p>
        </p:txBody>
      </p:sp>
      <p:sp>
        <p:nvSpPr>
          <p:cNvPr id="22" name="Text 20"/>
          <p:cNvSpPr/>
          <p:nvPr/>
        </p:nvSpPr>
        <p:spPr>
          <a:xfrm>
            <a:off x="7315200" y="5029200"/>
            <a:ext cx="2377440" cy="365760"/>
          </a:xfrm>
          <a:prstGeom prst="rect">
            <a:avLst/>
          </a:prstGeom>
          <a:noFill/>
          <a:ln/>
        </p:spPr>
        <p:txBody>
          <a:bodyPr wrap="square" rtlCol="0" anchor="ctr"/>
          <a:lstStyle/>
          <a:p>
            <a:pPr algn="ctr" indent="0" marL="0">
              <a:buNone/>
            </a:pPr>
            <a:r>
              <a:rPr lang="en-US" sz="1900" b="1" dirty="0">
                <a:solidFill>
                  <a:srgbClr val="1A3D28"/>
                </a:solidFill>
                <a:latin typeface="Courier New" pitchFamily="34" charset="0"/>
                <a:ea typeface="Courier New" pitchFamily="34" charset="-122"/>
                <a:cs typeface="Courier New" pitchFamily="34" charset="-120"/>
              </a:rPr>
              <a:t>pn*</a:t>
            </a:r>
            <a:endParaRPr lang="en-US" sz="1900" dirty="0"/>
          </a:p>
        </p:txBody>
      </p:sp>
      <p:sp>
        <p:nvSpPr>
          <p:cNvPr id="23" name="Text 21"/>
          <p:cNvSpPr/>
          <p:nvPr/>
        </p:nvSpPr>
        <p:spPr>
          <a:xfrm>
            <a:off x="822960" y="5669280"/>
            <a:ext cx="4572000" cy="274320"/>
          </a:xfrm>
          <a:prstGeom prst="rect">
            <a:avLst/>
          </a:prstGeom>
          <a:noFill/>
          <a:ln/>
        </p:spPr>
        <p:txBody>
          <a:bodyPr wrap="square" rtlCol="0" anchor="ctr"/>
          <a:lstStyle/>
          <a:p>
            <a:pPr indent="0" marL="0">
              <a:buNone/>
            </a:pPr>
            <a:r>
              <a:rPr lang="en-US" sz="1100" i="1" dirty="0">
                <a:solidFill>
                  <a:srgbClr val="5A5A5A"/>
                </a:solidFill>
                <a:latin typeface="Calibri" pitchFamily="34" charset="0"/>
                <a:ea typeface="Calibri" pitchFamily="34" charset="-122"/>
                <a:cs typeface="Calibri" pitchFamily="34" charset="-120"/>
              </a:rPr>
              <a:t>* pn = pilot variant</a:t>
            </a:r>
            <a:endParaRPr lang="en-US" sz="1100" dirty="0"/>
          </a:p>
        </p:txBody>
      </p:sp>
      <p:pic>
        <p:nvPicPr>
          <p:cNvPr id="24"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25" name="Shape 22"/>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sp>
      <p:sp>
        <p:nvSpPr>
          <p:cNvPr id="26" name="Text 23"/>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HEIGHT INCREMENT REPAIR</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 third bug, in data you both contributed to</a:t>
            </a:r>
            <a:endParaRPr lang="en-US" sz="3200" dirty="0"/>
          </a:p>
        </p:txBody>
      </p:sp>
      <p:sp>
        <p:nvSpPr>
          <p:cNvPr id="4" name="Shape 2"/>
          <p:cNvSpPr/>
          <p:nvPr/>
        </p:nvSpPr>
        <p:spPr>
          <a:xfrm>
            <a:off x="640080" y="2011680"/>
            <a:ext cx="5212080" cy="2103120"/>
          </a:xfrm>
          <a:prstGeom prst="roundRect">
            <a:avLst>
              <a:gd name="adj" fmla="val 5217"/>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5" name="Text 3"/>
          <p:cNvSpPr/>
          <p:nvPr/>
        </p:nvSpPr>
        <p:spPr>
          <a:xfrm>
            <a:off x="777240" y="2121408"/>
            <a:ext cx="4937760" cy="1219810"/>
          </a:xfrm>
          <a:prstGeom prst="rect">
            <a:avLst/>
          </a:prstGeom>
          <a:noFill/>
          <a:ln/>
        </p:spPr>
        <p:txBody>
          <a:bodyPr wrap="square" rtlCol="0" anchor="b"/>
          <a:lstStyle/>
          <a:p>
            <a:pPr algn="ctr" indent="0" marL="0">
              <a:buNone/>
            </a:pPr>
            <a:r>
              <a:rPr lang="en-US" sz="3000" b="1" dirty="0">
                <a:solidFill>
                  <a:srgbClr val="1A3D28"/>
                </a:solidFill>
                <a:latin typeface="Cambria" pitchFamily="34" charset="0"/>
                <a:ea typeface="Cambria" pitchFamily="34" charset="-122"/>
                <a:cs typeface="Cambria" pitchFamily="34" charset="-120"/>
              </a:rPr>
              <a:t>bc ci em ie kt ws</a:t>
            </a:r>
            <a:endParaRPr lang="en-US" sz="3000" dirty="0"/>
          </a:p>
        </p:txBody>
      </p:sp>
      <p:sp>
        <p:nvSpPr>
          <p:cNvPr id="6" name="Text 4"/>
          <p:cNvSpPr/>
          <p:nvPr/>
        </p:nvSpPr>
        <p:spPr>
          <a:xfrm>
            <a:off x="777240" y="3273552"/>
            <a:ext cx="4937760" cy="799186"/>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complete</a:t>
            </a:r>
            <a:endParaRPr lang="en-US" sz="1300" dirty="0"/>
          </a:p>
        </p:txBody>
      </p:sp>
      <p:sp>
        <p:nvSpPr>
          <p:cNvPr id="7" name="Shape 5"/>
          <p:cNvSpPr/>
          <p:nvPr/>
        </p:nvSpPr>
        <p:spPr>
          <a:xfrm>
            <a:off x="6309360" y="2011680"/>
            <a:ext cx="5212080" cy="2103120"/>
          </a:xfrm>
          <a:prstGeom prst="roundRect">
            <a:avLst>
              <a:gd name="adj" fmla="val 5217"/>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8" name="Text 6"/>
          <p:cNvSpPr/>
          <p:nvPr/>
        </p:nvSpPr>
        <p:spPr>
          <a:xfrm>
            <a:off x="6446520" y="2121408"/>
            <a:ext cx="4937760" cy="1219810"/>
          </a:xfrm>
          <a:prstGeom prst="rect">
            <a:avLst/>
          </a:prstGeom>
          <a:noFill/>
          <a:ln/>
        </p:spPr>
        <p:txBody>
          <a:bodyPr wrap="square" rtlCol="0" anchor="b"/>
          <a:lstStyle/>
          <a:p>
            <a:pPr algn="ctr" indent="0" marL="0">
              <a:buNone/>
            </a:pPr>
            <a:r>
              <a:rPr lang="en-US" sz="3000" b="1" dirty="0">
                <a:solidFill>
                  <a:srgbClr val="C5A55A"/>
                </a:solidFill>
                <a:latin typeface="Cambria" pitchFamily="34" charset="0"/>
                <a:ea typeface="Cambria" pitchFamily="34" charset="-122"/>
                <a:cs typeface="Cambria" pitchFamily="34" charset="-120"/>
              </a:rPr>
              <a:t>6 of 6</a:t>
            </a:r>
            <a:endParaRPr lang="en-US" sz="3000" dirty="0"/>
          </a:p>
        </p:txBody>
      </p:sp>
      <p:sp>
        <p:nvSpPr>
          <p:cNvPr id="9" name="Text 7"/>
          <p:cNvSpPr/>
          <p:nvPr/>
        </p:nvSpPr>
        <p:spPr>
          <a:xfrm>
            <a:off x="6446520" y="3273552"/>
            <a:ext cx="4937760" cy="799186"/>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variants complete</a:t>
            </a:r>
            <a:endParaRPr lang="en-US" sz="1300" dirty="0"/>
          </a:p>
        </p:txBody>
      </p:sp>
      <p:pic>
        <p:nvPicPr>
          <p:cNvPr id="10"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1" name="Shape 8"/>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txBody>
          <a:bodyPr/>
          <a:p/>
        </p:txBody>
      </p:sp>
      <p:sp>
        <p:nvSpPr>
          <p:cNvPr id="12" name="Text 9"/>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BC REFIT RESULT</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 real fit, not a phantom one</a:t>
            </a:r>
            <a:endParaRPr lang="en-US" sz="3200" dirty="0"/>
          </a:p>
        </p:txBody>
      </p:sp>
      <p:sp>
        <p:nvSpPr>
          <p:cNvPr id="4" name="Shape 2"/>
          <p:cNvSpPr/>
          <p:nvPr/>
        </p:nvSpPr>
        <p:spPr>
          <a:xfrm>
            <a:off x="640080"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5" name="Text 3"/>
          <p:cNvSpPr/>
          <p:nvPr/>
        </p:nvSpPr>
        <p:spPr>
          <a:xfrm>
            <a:off x="777240"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30,000</a:t>
            </a:r>
            <a:endParaRPr lang="en-US" sz="2600" dirty="0"/>
          </a:p>
        </p:txBody>
      </p:sp>
      <p:sp>
        <p:nvSpPr>
          <p:cNvPr id="6" name="Text 4"/>
          <p:cNvSpPr/>
          <p:nvPr/>
        </p:nvSpPr>
        <p:spPr>
          <a:xfrm>
            <a:off x="777240"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observations</a:t>
            </a:r>
            <a:endParaRPr lang="en-US" sz="1300" dirty="0"/>
          </a:p>
        </p:txBody>
      </p:sp>
      <p:sp>
        <p:nvSpPr>
          <p:cNvPr id="7" name="Shape 5"/>
          <p:cNvSpPr/>
          <p:nvPr/>
        </p:nvSpPr>
        <p:spPr>
          <a:xfrm>
            <a:off x="3401568"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8" name="Text 6"/>
          <p:cNvSpPr/>
          <p:nvPr/>
        </p:nvSpPr>
        <p:spPr>
          <a:xfrm>
            <a:off x="3538728"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55</a:t>
            </a:r>
            <a:endParaRPr lang="en-US" sz="2600" dirty="0"/>
          </a:p>
        </p:txBody>
      </p:sp>
      <p:sp>
        <p:nvSpPr>
          <p:cNvPr id="9" name="Text 7"/>
          <p:cNvSpPr/>
          <p:nvPr/>
        </p:nvSpPr>
        <p:spPr>
          <a:xfrm>
            <a:off x="3538728"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species recovered</a:t>
            </a:r>
            <a:endParaRPr lang="en-US" sz="1300" dirty="0"/>
          </a:p>
        </p:txBody>
      </p:sp>
      <p:sp>
        <p:nvSpPr>
          <p:cNvPr id="10" name="Shape 8"/>
          <p:cNvSpPr/>
          <p:nvPr/>
        </p:nvSpPr>
        <p:spPr>
          <a:xfrm>
            <a:off x="6163056"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1" name="Text 9"/>
          <p:cNvSpPr/>
          <p:nvPr/>
        </p:nvSpPr>
        <p:spPr>
          <a:xfrm>
            <a:off x="6300216"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13 of 15</a:t>
            </a:r>
            <a:endParaRPr lang="en-US" sz="2600" dirty="0"/>
          </a:p>
        </p:txBody>
      </p:sp>
      <p:sp>
        <p:nvSpPr>
          <p:cNvPr id="12" name="Text 10"/>
          <p:cNvSpPr/>
          <p:nvPr/>
        </p:nvSpPr>
        <p:spPr>
          <a:xfrm>
            <a:off x="6300216"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slots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non-default</a:t>
            </a:r>
            <a:endParaRPr lang="en-US" sz="1300" dirty="0"/>
          </a:p>
        </p:txBody>
      </p:sp>
      <p:sp>
        <p:nvSpPr>
          <p:cNvPr id="13" name="Shape 11"/>
          <p:cNvSpPr/>
          <p:nvPr/>
        </p:nvSpPr>
        <p:spPr>
          <a:xfrm>
            <a:off x="8924544"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4" name="Text 12"/>
          <p:cNvSpPr/>
          <p:nvPr/>
        </p:nvSpPr>
        <p:spPr>
          <a:xfrm>
            <a:off x="9061704" y="2075688"/>
            <a:ext cx="2331720" cy="1113739"/>
          </a:xfrm>
          <a:prstGeom prst="rect">
            <a:avLst/>
          </a:prstGeom>
          <a:noFill/>
          <a:ln/>
        </p:spPr>
        <p:txBody>
          <a:bodyPr wrap="square" rtlCol="0" anchor="b"/>
          <a:lstStyle/>
          <a:p>
            <a:pPr algn="ctr" indent="0" marL="0">
              <a:buNone/>
            </a:pPr>
            <a:r>
              <a:rPr lang="en-US" sz="2000" b="1" dirty="0">
                <a:solidFill>
                  <a:srgbClr val="C5A55A"/>
                </a:solidFill>
                <a:latin typeface="Cambria" pitchFamily="34" charset="0"/>
                <a:ea typeface="Cambria" pitchFamily="34" charset="-122"/>
                <a:cs typeface="Cambria" pitchFamily="34" charset="-120"/>
              </a:rPr>
              <a:t>0.78 to 2.44</a:t>
            </a:r>
            <a:endParaRPr lang="en-US" sz="2000" dirty="0"/>
          </a:p>
        </p:txBody>
      </p:sp>
      <p:sp>
        <p:nvSpPr>
          <p:cNvPr id="15" name="Text 13"/>
          <p:cNvSpPr/>
          <p:nvPr/>
        </p:nvSpPr>
        <p:spPr>
          <a:xfrm>
            <a:off x="9061704"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range</a:t>
            </a:r>
            <a:endParaRPr lang="en-US" sz="1300" dirty="0"/>
          </a:p>
        </p:txBody>
      </p:sp>
      <p:pic>
        <p:nvPicPr>
          <p:cNvPr id="16"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7" name="Shape 14"/>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sp>
      <p:sp>
        <p:nvSpPr>
          <p:cNvPr id="18" name="Text 15"/>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CI REFIT RESULT</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 real fit, not a phantom one</a:t>
            </a:r>
            <a:endParaRPr lang="en-US" sz="3200" dirty="0"/>
          </a:p>
        </p:txBody>
      </p:sp>
      <p:sp>
        <p:nvSpPr>
          <p:cNvPr id="4" name="Shape 2"/>
          <p:cNvSpPr/>
          <p:nvPr/>
        </p:nvSpPr>
        <p:spPr>
          <a:xfrm>
            <a:off x="640080"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5" name="Text 3"/>
          <p:cNvSpPr/>
          <p:nvPr/>
        </p:nvSpPr>
        <p:spPr>
          <a:xfrm>
            <a:off x="777240"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12,576</a:t>
            </a:r>
            <a:endParaRPr lang="en-US" sz="2600" dirty="0"/>
          </a:p>
        </p:txBody>
      </p:sp>
      <p:sp>
        <p:nvSpPr>
          <p:cNvPr id="6" name="Text 4"/>
          <p:cNvSpPr/>
          <p:nvPr/>
        </p:nvSpPr>
        <p:spPr>
          <a:xfrm>
            <a:off x="777240"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observations</a:t>
            </a:r>
            <a:endParaRPr lang="en-US" sz="1300" dirty="0"/>
          </a:p>
        </p:txBody>
      </p:sp>
      <p:sp>
        <p:nvSpPr>
          <p:cNvPr id="7" name="Shape 5"/>
          <p:cNvSpPr/>
          <p:nvPr/>
        </p:nvSpPr>
        <p:spPr>
          <a:xfrm>
            <a:off x="3401568"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8" name="Text 6"/>
          <p:cNvSpPr/>
          <p:nvPr/>
        </p:nvSpPr>
        <p:spPr>
          <a:xfrm>
            <a:off x="3538728"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14</a:t>
            </a:r>
            <a:endParaRPr lang="en-US" sz="2600" dirty="0"/>
          </a:p>
        </p:txBody>
      </p:sp>
      <p:sp>
        <p:nvSpPr>
          <p:cNvPr id="9" name="Text 7"/>
          <p:cNvSpPr/>
          <p:nvPr/>
        </p:nvSpPr>
        <p:spPr>
          <a:xfrm>
            <a:off x="3538728"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species recovered</a:t>
            </a:r>
            <a:endParaRPr lang="en-US" sz="1300" dirty="0"/>
          </a:p>
        </p:txBody>
      </p:sp>
      <p:sp>
        <p:nvSpPr>
          <p:cNvPr id="10" name="Shape 8"/>
          <p:cNvSpPr/>
          <p:nvPr/>
        </p:nvSpPr>
        <p:spPr>
          <a:xfrm>
            <a:off x="6163056"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1" name="Text 9"/>
          <p:cNvSpPr/>
          <p:nvPr/>
        </p:nvSpPr>
        <p:spPr>
          <a:xfrm>
            <a:off x="6300216"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12 of 19</a:t>
            </a:r>
            <a:endParaRPr lang="en-US" sz="2600" dirty="0"/>
          </a:p>
        </p:txBody>
      </p:sp>
      <p:sp>
        <p:nvSpPr>
          <p:cNvPr id="12" name="Text 10"/>
          <p:cNvSpPr/>
          <p:nvPr/>
        </p:nvSpPr>
        <p:spPr>
          <a:xfrm>
            <a:off x="6300216"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slots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non-default</a:t>
            </a:r>
            <a:endParaRPr lang="en-US" sz="1300" dirty="0"/>
          </a:p>
        </p:txBody>
      </p:sp>
      <p:sp>
        <p:nvSpPr>
          <p:cNvPr id="13" name="Shape 11"/>
          <p:cNvSpPr/>
          <p:nvPr/>
        </p:nvSpPr>
        <p:spPr>
          <a:xfrm>
            <a:off x="8924544"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4" name="Text 12"/>
          <p:cNvSpPr/>
          <p:nvPr/>
        </p:nvSpPr>
        <p:spPr>
          <a:xfrm>
            <a:off x="9061704" y="2075688"/>
            <a:ext cx="2331720" cy="1113739"/>
          </a:xfrm>
          <a:prstGeom prst="rect">
            <a:avLst/>
          </a:prstGeom>
          <a:noFill/>
          <a:ln/>
        </p:spPr>
        <p:txBody>
          <a:bodyPr wrap="square" rtlCol="0" anchor="b"/>
          <a:lstStyle/>
          <a:p>
            <a:pPr algn="ctr" indent="0" marL="0">
              <a:buNone/>
            </a:pPr>
            <a:r>
              <a:rPr lang="en-US" sz="2000" b="1" dirty="0">
                <a:solidFill>
                  <a:srgbClr val="C5A55A"/>
                </a:solidFill>
                <a:latin typeface="Cambria" pitchFamily="34" charset="0"/>
                <a:ea typeface="Cambria" pitchFamily="34" charset="-122"/>
                <a:cs typeface="Cambria" pitchFamily="34" charset="-120"/>
              </a:rPr>
              <a:t>0.50 to 2.45</a:t>
            </a:r>
            <a:endParaRPr lang="en-US" sz="2000" dirty="0"/>
          </a:p>
        </p:txBody>
      </p:sp>
      <p:sp>
        <p:nvSpPr>
          <p:cNvPr id="15" name="Text 13"/>
          <p:cNvSpPr/>
          <p:nvPr/>
        </p:nvSpPr>
        <p:spPr>
          <a:xfrm>
            <a:off x="9061704"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range</a:t>
            </a:r>
            <a:endParaRPr lang="en-US" sz="1300" dirty="0"/>
          </a:p>
        </p:txBody>
      </p:sp>
      <p:pic>
        <p:nvPicPr>
          <p:cNvPr id="16"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7" name="Shape 14"/>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sp>
      <p:sp>
        <p:nvSpPr>
          <p:cNvPr id="18" name="Text 15"/>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EM REFIT RESULT</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 real fit, not a phantom one</a:t>
            </a:r>
            <a:endParaRPr lang="en-US" sz="3200" dirty="0"/>
          </a:p>
        </p:txBody>
      </p:sp>
      <p:sp>
        <p:nvSpPr>
          <p:cNvPr id="4" name="Shape 2"/>
          <p:cNvSpPr/>
          <p:nvPr/>
        </p:nvSpPr>
        <p:spPr>
          <a:xfrm>
            <a:off x="640080"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5" name="Text 3"/>
          <p:cNvSpPr/>
          <p:nvPr/>
        </p:nvSpPr>
        <p:spPr>
          <a:xfrm>
            <a:off x="777240"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30,000</a:t>
            </a:r>
            <a:endParaRPr lang="en-US" sz="2600" dirty="0"/>
          </a:p>
        </p:txBody>
      </p:sp>
      <p:sp>
        <p:nvSpPr>
          <p:cNvPr id="6" name="Text 4"/>
          <p:cNvSpPr/>
          <p:nvPr/>
        </p:nvSpPr>
        <p:spPr>
          <a:xfrm>
            <a:off x="777240"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observations</a:t>
            </a:r>
            <a:endParaRPr lang="en-US" sz="1300" dirty="0"/>
          </a:p>
        </p:txBody>
      </p:sp>
      <p:sp>
        <p:nvSpPr>
          <p:cNvPr id="7" name="Shape 5"/>
          <p:cNvSpPr/>
          <p:nvPr/>
        </p:nvSpPr>
        <p:spPr>
          <a:xfrm>
            <a:off x="3401568"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8" name="Text 6"/>
          <p:cNvSpPr/>
          <p:nvPr/>
        </p:nvSpPr>
        <p:spPr>
          <a:xfrm>
            <a:off x="3538728"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20</a:t>
            </a:r>
            <a:endParaRPr lang="en-US" sz="2600" dirty="0"/>
          </a:p>
        </p:txBody>
      </p:sp>
      <p:sp>
        <p:nvSpPr>
          <p:cNvPr id="9" name="Text 7"/>
          <p:cNvSpPr/>
          <p:nvPr/>
        </p:nvSpPr>
        <p:spPr>
          <a:xfrm>
            <a:off x="3538728"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species recovered</a:t>
            </a:r>
            <a:endParaRPr lang="en-US" sz="1300" dirty="0"/>
          </a:p>
        </p:txBody>
      </p:sp>
      <p:sp>
        <p:nvSpPr>
          <p:cNvPr id="10" name="Shape 8"/>
          <p:cNvSpPr/>
          <p:nvPr/>
        </p:nvSpPr>
        <p:spPr>
          <a:xfrm>
            <a:off x="6163056"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1" name="Text 9"/>
          <p:cNvSpPr/>
          <p:nvPr/>
        </p:nvSpPr>
        <p:spPr>
          <a:xfrm>
            <a:off x="6300216"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16 of 19</a:t>
            </a:r>
            <a:endParaRPr lang="en-US" sz="2600" dirty="0"/>
          </a:p>
        </p:txBody>
      </p:sp>
      <p:sp>
        <p:nvSpPr>
          <p:cNvPr id="12" name="Text 10"/>
          <p:cNvSpPr/>
          <p:nvPr/>
        </p:nvSpPr>
        <p:spPr>
          <a:xfrm>
            <a:off x="6300216"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slots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non-default</a:t>
            </a:r>
            <a:endParaRPr lang="en-US" sz="1300" dirty="0"/>
          </a:p>
        </p:txBody>
      </p:sp>
      <p:sp>
        <p:nvSpPr>
          <p:cNvPr id="13" name="Shape 11"/>
          <p:cNvSpPr/>
          <p:nvPr/>
        </p:nvSpPr>
        <p:spPr>
          <a:xfrm>
            <a:off x="8924544"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4" name="Text 12"/>
          <p:cNvSpPr/>
          <p:nvPr/>
        </p:nvSpPr>
        <p:spPr>
          <a:xfrm>
            <a:off x="9061704" y="2075688"/>
            <a:ext cx="2331720" cy="1113739"/>
          </a:xfrm>
          <a:prstGeom prst="rect">
            <a:avLst/>
          </a:prstGeom>
          <a:noFill/>
          <a:ln/>
        </p:spPr>
        <p:txBody>
          <a:bodyPr wrap="square" rtlCol="0" anchor="b"/>
          <a:lstStyle/>
          <a:p>
            <a:pPr algn="ctr" indent="0" marL="0">
              <a:buNone/>
            </a:pPr>
            <a:r>
              <a:rPr lang="en-US" sz="2000" b="1" dirty="0">
                <a:solidFill>
                  <a:srgbClr val="C5A55A"/>
                </a:solidFill>
                <a:latin typeface="Cambria" pitchFamily="34" charset="0"/>
                <a:ea typeface="Cambria" pitchFamily="34" charset="-122"/>
                <a:cs typeface="Cambria" pitchFamily="34" charset="-120"/>
              </a:rPr>
              <a:t>0.52 to 2.26</a:t>
            </a:r>
            <a:endParaRPr lang="en-US" sz="2000" dirty="0"/>
          </a:p>
        </p:txBody>
      </p:sp>
      <p:sp>
        <p:nvSpPr>
          <p:cNvPr id="15" name="Text 13"/>
          <p:cNvSpPr/>
          <p:nvPr/>
        </p:nvSpPr>
        <p:spPr>
          <a:xfrm>
            <a:off x="9061704"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range</a:t>
            </a:r>
            <a:endParaRPr lang="en-US" sz="1300" dirty="0"/>
          </a:p>
        </p:txBody>
      </p:sp>
      <p:pic>
        <p:nvPicPr>
          <p:cNvPr id="16"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7" name="Shape 14"/>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sp>
      <p:sp>
        <p:nvSpPr>
          <p:cNvPr id="18" name="Text 15"/>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IE REFIT RESULT</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 real fit, not a phantom one</a:t>
            </a:r>
            <a:endParaRPr lang="en-US" sz="3200" dirty="0"/>
          </a:p>
        </p:txBody>
      </p:sp>
      <p:sp>
        <p:nvSpPr>
          <p:cNvPr id="4" name="Shape 2"/>
          <p:cNvSpPr/>
          <p:nvPr/>
        </p:nvSpPr>
        <p:spPr>
          <a:xfrm>
            <a:off x="640080"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5" name="Text 3"/>
          <p:cNvSpPr/>
          <p:nvPr/>
        </p:nvSpPr>
        <p:spPr>
          <a:xfrm>
            <a:off x="777240"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30,000</a:t>
            </a:r>
            <a:endParaRPr lang="en-US" sz="2600" dirty="0"/>
          </a:p>
        </p:txBody>
      </p:sp>
      <p:sp>
        <p:nvSpPr>
          <p:cNvPr id="6" name="Text 4"/>
          <p:cNvSpPr/>
          <p:nvPr/>
        </p:nvSpPr>
        <p:spPr>
          <a:xfrm>
            <a:off x="777240"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observations</a:t>
            </a:r>
            <a:endParaRPr lang="en-US" sz="1300" dirty="0"/>
          </a:p>
        </p:txBody>
      </p:sp>
      <p:sp>
        <p:nvSpPr>
          <p:cNvPr id="7" name="Shape 5"/>
          <p:cNvSpPr/>
          <p:nvPr/>
        </p:nvSpPr>
        <p:spPr>
          <a:xfrm>
            <a:off x="3401568"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8" name="Text 6"/>
          <p:cNvSpPr/>
          <p:nvPr/>
        </p:nvSpPr>
        <p:spPr>
          <a:xfrm>
            <a:off x="3538728"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20</a:t>
            </a:r>
            <a:endParaRPr lang="en-US" sz="2600" dirty="0"/>
          </a:p>
        </p:txBody>
      </p:sp>
      <p:sp>
        <p:nvSpPr>
          <p:cNvPr id="9" name="Text 7"/>
          <p:cNvSpPr/>
          <p:nvPr/>
        </p:nvSpPr>
        <p:spPr>
          <a:xfrm>
            <a:off x="3538728"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species recovered</a:t>
            </a:r>
            <a:endParaRPr lang="en-US" sz="1300" dirty="0"/>
          </a:p>
        </p:txBody>
      </p:sp>
      <p:sp>
        <p:nvSpPr>
          <p:cNvPr id="10" name="Shape 8"/>
          <p:cNvSpPr/>
          <p:nvPr/>
        </p:nvSpPr>
        <p:spPr>
          <a:xfrm>
            <a:off x="6163056"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1" name="Text 9"/>
          <p:cNvSpPr/>
          <p:nvPr/>
        </p:nvSpPr>
        <p:spPr>
          <a:xfrm>
            <a:off x="6300216"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17 of 23</a:t>
            </a:r>
            <a:endParaRPr lang="en-US" sz="2600" dirty="0"/>
          </a:p>
        </p:txBody>
      </p:sp>
      <p:sp>
        <p:nvSpPr>
          <p:cNvPr id="12" name="Text 10"/>
          <p:cNvSpPr/>
          <p:nvPr/>
        </p:nvSpPr>
        <p:spPr>
          <a:xfrm>
            <a:off x="6300216"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slots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non-default</a:t>
            </a:r>
            <a:endParaRPr lang="en-US" sz="1300" dirty="0"/>
          </a:p>
        </p:txBody>
      </p:sp>
      <p:sp>
        <p:nvSpPr>
          <p:cNvPr id="13" name="Shape 11"/>
          <p:cNvSpPr/>
          <p:nvPr/>
        </p:nvSpPr>
        <p:spPr>
          <a:xfrm>
            <a:off x="8924544"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sp>
      <p:sp>
        <p:nvSpPr>
          <p:cNvPr id="14" name="Text 12"/>
          <p:cNvSpPr/>
          <p:nvPr/>
        </p:nvSpPr>
        <p:spPr>
          <a:xfrm>
            <a:off x="9061704" y="2075688"/>
            <a:ext cx="2331720" cy="1113739"/>
          </a:xfrm>
          <a:prstGeom prst="rect">
            <a:avLst/>
          </a:prstGeom>
          <a:noFill/>
          <a:ln/>
        </p:spPr>
        <p:txBody>
          <a:bodyPr wrap="square" rtlCol="0" anchor="b"/>
          <a:lstStyle/>
          <a:p>
            <a:pPr algn="ctr" indent="0" marL="0">
              <a:buNone/>
            </a:pPr>
            <a:r>
              <a:rPr lang="en-US" sz="2000" b="1" dirty="0">
                <a:solidFill>
                  <a:srgbClr val="C5A55A"/>
                </a:solidFill>
                <a:latin typeface="Cambria" pitchFamily="34" charset="0"/>
                <a:ea typeface="Cambria" pitchFamily="34" charset="-122"/>
                <a:cs typeface="Cambria" pitchFamily="34" charset="-120"/>
              </a:rPr>
              <a:t>0.35 to 2.65</a:t>
            </a:r>
            <a:endParaRPr lang="en-US" sz="2000" dirty="0"/>
          </a:p>
        </p:txBody>
      </p:sp>
      <p:sp>
        <p:nvSpPr>
          <p:cNvPr id="15" name="Text 13"/>
          <p:cNvSpPr/>
          <p:nvPr/>
        </p:nvSpPr>
        <p:spPr>
          <a:xfrm>
            <a:off x="9061704"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range</a:t>
            </a:r>
            <a:endParaRPr lang="en-US" sz="1300" dirty="0"/>
          </a:p>
        </p:txBody>
      </p:sp>
      <p:pic>
        <p:nvPicPr>
          <p:cNvPr id="16"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7" name="Shape 14"/>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sp>
      <p:sp>
        <p:nvSpPr>
          <p:cNvPr id="18" name="Text 15"/>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KT REFIT RESULT</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 real fit, not a phantom one</a:t>
            </a:r>
            <a:endParaRPr lang="en-US" sz="3200" dirty="0"/>
          </a:p>
        </p:txBody>
      </p:sp>
      <p:sp>
        <p:nvSpPr>
          <p:cNvPr id="4" name="Shape 2"/>
          <p:cNvSpPr/>
          <p:nvPr/>
        </p:nvSpPr>
        <p:spPr>
          <a:xfrm>
            <a:off x="640080"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5" name="Text 3"/>
          <p:cNvSpPr/>
          <p:nvPr/>
        </p:nvSpPr>
        <p:spPr>
          <a:xfrm>
            <a:off x="777240"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30,000</a:t>
            </a:r>
            <a:endParaRPr lang="en-US" sz="2600" dirty="0"/>
          </a:p>
        </p:txBody>
      </p:sp>
      <p:sp>
        <p:nvSpPr>
          <p:cNvPr id="6" name="Text 4"/>
          <p:cNvSpPr/>
          <p:nvPr/>
        </p:nvSpPr>
        <p:spPr>
          <a:xfrm>
            <a:off x="777240"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observations</a:t>
            </a:r>
            <a:endParaRPr lang="en-US" sz="1300" dirty="0"/>
          </a:p>
        </p:txBody>
      </p:sp>
      <p:sp>
        <p:nvSpPr>
          <p:cNvPr id="7" name="Shape 5"/>
          <p:cNvSpPr/>
          <p:nvPr/>
        </p:nvSpPr>
        <p:spPr>
          <a:xfrm>
            <a:off x="3401568"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8" name="Text 6"/>
          <p:cNvSpPr/>
          <p:nvPr/>
        </p:nvSpPr>
        <p:spPr>
          <a:xfrm>
            <a:off x="3538728"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26</a:t>
            </a:r>
            <a:endParaRPr lang="en-US" sz="2600" dirty="0"/>
          </a:p>
        </p:txBody>
      </p:sp>
      <p:sp>
        <p:nvSpPr>
          <p:cNvPr id="9" name="Text 7"/>
          <p:cNvSpPr/>
          <p:nvPr/>
        </p:nvSpPr>
        <p:spPr>
          <a:xfrm>
            <a:off x="3538728"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species recovered</a:t>
            </a:r>
            <a:endParaRPr lang="en-US" sz="1300" dirty="0"/>
          </a:p>
        </p:txBody>
      </p:sp>
      <p:sp>
        <p:nvSpPr>
          <p:cNvPr id="10" name="Shape 8"/>
          <p:cNvSpPr/>
          <p:nvPr/>
        </p:nvSpPr>
        <p:spPr>
          <a:xfrm>
            <a:off x="6163056"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11" name="Text 9"/>
          <p:cNvSpPr/>
          <p:nvPr/>
        </p:nvSpPr>
        <p:spPr>
          <a:xfrm>
            <a:off x="6300216"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10 of 11</a:t>
            </a:r>
            <a:endParaRPr lang="en-US" sz="2600" dirty="0"/>
          </a:p>
        </p:txBody>
      </p:sp>
      <p:sp>
        <p:nvSpPr>
          <p:cNvPr id="12" name="Text 10"/>
          <p:cNvSpPr/>
          <p:nvPr/>
        </p:nvSpPr>
        <p:spPr>
          <a:xfrm>
            <a:off x="6300216"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slots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non-default</a:t>
            </a:r>
            <a:endParaRPr lang="en-US" sz="1300" dirty="0"/>
          </a:p>
        </p:txBody>
      </p:sp>
      <p:sp>
        <p:nvSpPr>
          <p:cNvPr id="13" name="Shape 11"/>
          <p:cNvSpPr/>
          <p:nvPr/>
        </p:nvSpPr>
        <p:spPr>
          <a:xfrm>
            <a:off x="8924544"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14" name="Text 12"/>
          <p:cNvSpPr/>
          <p:nvPr/>
        </p:nvSpPr>
        <p:spPr>
          <a:xfrm>
            <a:off x="9061704" y="2075688"/>
            <a:ext cx="2331720" cy="1113739"/>
          </a:xfrm>
          <a:prstGeom prst="rect">
            <a:avLst/>
          </a:prstGeom>
          <a:noFill/>
          <a:ln/>
        </p:spPr>
        <p:txBody>
          <a:bodyPr wrap="square" rtlCol="0" anchor="b"/>
          <a:lstStyle/>
          <a:p>
            <a:pPr algn="ctr" indent="0" marL="0">
              <a:buNone/>
            </a:pPr>
            <a:r>
              <a:rPr lang="en-US" sz="2000" b="1" dirty="0">
                <a:solidFill>
                  <a:srgbClr val="C5A55A"/>
                </a:solidFill>
                <a:latin typeface="Cambria" pitchFamily="34" charset="0"/>
                <a:ea typeface="Cambria" pitchFamily="34" charset="-122"/>
                <a:cs typeface="Cambria" pitchFamily="34" charset="-120"/>
              </a:rPr>
              <a:t>0.72 to 2.50</a:t>
            </a:r>
            <a:endParaRPr lang="en-US" sz="2000" dirty="0"/>
          </a:p>
        </p:txBody>
      </p:sp>
      <p:sp>
        <p:nvSpPr>
          <p:cNvPr id="15" name="Text 13"/>
          <p:cNvSpPr/>
          <p:nvPr/>
        </p:nvSpPr>
        <p:spPr>
          <a:xfrm>
            <a:off x="9061704"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range</a:t>
            </a:r>
            <a:endParaRPr lang="en-US" sz="1300" dirty="0"/>
          </a:p>
        </p:txBody>
      </p:sp>
      <p:pic>
        <p:nvPicPr>
          <p:cNvPr id="16"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7" name="Shape 14"/>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txBody>
          <a:bodyPr/>
          <a:p/>
        </p:txBody>
      </p:sp>
      <p:sp>
        <p:nvSpPr>
          <p:cNvPr id="18" name="Text 15"/>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9</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WS REFIT RESULT</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A real fit, not a phantom one</a:t>
            </a:r>
            <a:endParaRPr lang="en-US" sz="3200" dirty="0"/>
          </a:p>
        </p:txBody>
      </p:sp>
      <p:sp>
        <p:nvSpPr>
          <p:cNvPr id="4" name="Shape 2"/>
          <p:cNvSpPr/>
          <p:nvPr/>
        </p:nvSpPr>
        <p:spPr>
          <a:xfrm>
            <a:off x="640080"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5" name="Text 3"/>
          <p:cNvSpPr/>
          <p:nvPr/>
        </p:nvSpPr>
        <p:spPr>
          <a:xfrm>
            <a:off x="777240"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30,000</a:t>
            </a:r>
            <a:endParaRPr lang="en-US" sz="2600" dirty="0"/>
          </a:p>
        </p:txBody>
      </p:sp>
      <p:sp>
        <p:nvSpPr>
          <p:cNvPr id="6" name="Text 4"/>
          <p:cNvSpPr/>
          <p:nvPr/>
        </p:nvSpPr>
        <p:spPr>
          <a:xfrm>
            <a:off x="777240"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observations</a:t>
            </a:r>
            <a:endParaRPr lang="en-US" sz="1300" dirty="0"/>
          </a:p>
        </p:txBody>
      </p:sp>
      <p:sp>
        <p:nvSpPr>
          <p:cNvPr id="7" name="Shape 5"/>
          <p:cNvSpPr/>
          <p:nvPr/>
        </p:nvSpPr>
        <p:spPr>
          <a:xfrm>
            <a:off x="3401568"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8" name="Text 6"/>
          <p:cNvSpPr/>
          <p:nvPr/>
        </p:nvSpPr>
        <p:spPr>
          <a:xfrm>
            <a:off x="3538728"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48</a:t>
            </a:r>
            <a:endParaRPr lang="en-US" sz="2600" dirty="0"/>
          </a:p>
        </p:txBody>
      </p:sp>
      <p:sp>
        <p:nvSpPr>
          <p:cNvPr id="9" name="Text 7"/>
          <p:cNvSpPr/>
          <p:nvPr/>
        </p:nvSpPr>
        <p:spPr>
          <a:xfrm>
            <a:off x="3538728"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species recovered</a:t>
            </a:r>
            <a:endParaRPr lang="en-US" sz="1300" dirty="0"/>
          </a:p>
        </p:txBody>
      </p:sp>
      <p:sp>
        <p:nvSpPr>
          <p:cNvPr id="10" name="Shape 8"/>
          <p:cNvSpPr/>
          <p:nvPr/>
        </p:nvSpPr>
        <p:spPr>
          <a:xfrm>
            <a:off x="6163056"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11" name="Text 9"/>
          <p:cNvSpPr/>
          <p:nvPr/>
        </p:nvSpPr>
        <p:spPr>
          <a:xfrm>
            <a:off x="6300216" y="2075688"/>
            <a:ext cx="2331720" cy="1113739"/>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37 of 43</a:t>
            </a:r>
            <a:endParaRPr lang="en-US" sz="2600" dirty="0"/>
          </a:p>
        </p:txBody>
      </p:sp>
      <p:sp>
        <p:nvSpPr>
          <p:cNvPr id="12" name="Text 10"/>
          <p:cNvSpPr/>
          <p:nvPr/>
        </p:nvSpPr>
        <p:spPr>
          <a:xfrm>
            <a:off x="6300216"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slots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non-default</a:t>
            </a:r>
            <a:endParaRPr lang="en-US" sz="1300" dirty="0"/>
          </a:p>
        </p:txBody>
      </p:sp>
      <p:sp>
        <p:nvSpPr>
          <p:cNvPr id="13" name="Shape 11"/>
          <p:cNvSpPr/>
          <p:nvPr/>
        </p:nvSpPr>
        <p:spPr>
          <a:xfrm>
            <a:off x="8924544" y="1965960"/>
            <a:ext cx="2606040" cy="1920240"/>
          </a:xfrm>
          <a:prstGeom prst="roundRect">
            <a:avLst>
              <a:gd name="adj" fmla="val 5714"/>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14" name="Text 12"/>
          <p:cNvSpPr/>
          <p:nvPr/>
        </p:nvSpPr>
        <p:spPr>
          <a:xfrm>
            <a:off x="9061704" y="2075688"/>
            <a:ext cx="2331720" cy="1113739"/>
          </a:xfrm>
          <a:prstGeom prst="rect">
            <a:avLst/>
          </a:prstGeom>
          <a:noFill/>
          <a:ln/>
        </p:spPr>
        <p:txBody>
          <a:bodyPr wrap="square" rtlCol="0" anchor="b"/>
          <a:lstStyle/>
          <a:p>
            <a:pPr algn="ctr" indent="0" marL="0">
              <a:buNone/>
            </a:pPr>
            <a:r>
              <a:rPr lang="en-US" sz="2000" b="1" dirty="0">
                <a:solidFill>
                  <a:srgbClr val="C5A55A"/>
                </a:solidFill>
                <a:latin typeface="Cambria" pitchFamily="34" charset="0"/>
                <a:ea typeface="Cambria" pitchFamily="34" charset="-122"/>
                <a:cs typeface="Cambria" pitchFamily="34" charset="-120"/>
              </a:rPr>
              <a:t>0.52 to 2.41</a:t>
            </a:r>
            <a:endParaRPr lang="en-US" sz="2000" dirty="0"/>
          </a:p>
        </p:txBody>
      </p:sp>
      <p:sp>
        <p:nvSpPr>
          <p:cNvPr id="15" name="Text 13"/>
          <p:cNvSpPr/>
          <p:nvPr/>
        </p:nvSpPr>
        <p:spPr>
          <a:xfrm>
            <a:off x="9061704" y="3118104"/>
            <a:ext cx="2331720" cy="729691"/>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multiplier range</a:t>
            </a:r>
            <a:endParaRPr lang="en-US" sz="1300" dirty="0"/>
          </a:p>
        </p:txBody>
      </p:sp>
      <p:pic>
        <p:nvPicPr>
          <p:cNvPr id="16"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7" name="Shape 14"/>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txBody>
          <a:bodyPr/>
          <a:p/>
        </p:txBody>
      </p:sp>
      <p:sp>
        <p:nvSpPr>
          <p:cNvPr id="18" name="Text 15"/>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10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VALIDATION</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Two checks: is it correct, does it matter</a:t>
            </a:r>
            <a:endParaRPr lang="en-US" sz="3200" dirty="0"/>
          </a:p>
        </p:txBody>
      </p:sp>
      <p:sp>
        <p:nvSpPr>
          <p:cNvPr id="4" name="Shape 2"/>
          <p:cNvSpPr/>
          <p:nvPr/>
        </p:nvSpPr>
        <p:spPr>
          <a:xfrm>
            <a:off x="640080" y="2011680"/>
            <a:ext cx="5212080" cy="2377440"/>
          </a:xfrm>
          <a:prstGeom prst="roundRect">
            <a:avLst>
              <a:gd name="adj" fmla="val 4615"/>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5" name="Text 3"/>
          <p:cNvSpPr/>
          <p:nvPr/>
        </p:nvSpPr>
        <p:spPr>
          <a:xfrm>
            <a:off x="777240" y="2121408"/>
            <a:ext cx="4937760" cy="1378915"/>
          </a:xfrm>
          <a:prstGeom prst="rect">
            <a:avLst/>
          </a:prstGeom>
          <a:noFill/>
          <a:ln/>
        </p:spPr>
        <p:txBody>
          <a:bodyPr wrap="square" rtlCol="0" anchor="b"/>
          <a:lstStyle/>
          <a:p>
            <a:pPr algn="ctr" indent="0" marL="0">
              <a:buNone/>
            </a:pPr>
            <a:r>
              <a:rPr lang="en-US" sz="2600" b="1" dirty="0">
                <a:solidFill>
                  <a:srgbClr val="1A3D28"/>
                </a:solidFill>
                <a:latin typeface="Cambria" pitchFamily="34" charset="0"/>
                <a:ea typeface="Cambria" pitchFamily="34" charset="-122"/>
                <a:cs typeface="Cambria" pitchFamily="34" charset="-120"/>
              </a:rPr>
              <a:t>Structural</a:t>
            </a:r>
            <a:endParaRPr lang="en-US" sz="2600" dirty="0"/>
          </a:p>
        </p:txBody>
      </p:sp>
      <p:sp>
        <p:nvSpPr>
          <p:cNvPr id="6" name="Text 4"/>
          <p:cNvSpPr/>
          <p:nvPr/>
        </p:nvSpPr>
        <p:spPr>
          <a:xfrm>
            <a:off x="777240" y="3438144"/>
            <a:ext cx="4937760" cy="903427"/>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correct mapping,</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plausible values</a:t>
            </a:r>
            <a:endParaRPr lang="en-US" sz="1300" dirty="0"/>
          </a:p>
        </p:txBody>
      </p:sp>
      <p:sp>
        <p:nvSpPr>
          <p:cNvPr id="7" name="Shape 5"/>
          <p:cNvSpPr/>
          <p:nvPr/>
        </p:nvSpPr>
        <p:spPr>
          <a:xfrm>
            <a:off x="6309360" y="2011680"/>
            <a:ext cx="5212080" cy="2377440"/>
          </a:xfrm>
          <a:prstGeom prst="roundRect">
            <a:avLst>
              <a:gd name="adj" fmla="val 4615"/>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8" name="Text 6"/>
          <p:cNvSpPr/>
          <p:nvPr/>
        </p:nvSpPr>
        <p:spPr>
          <a:xfrm>
            <a:off x="6446520" y="2121408"/>
            <a:ext cx="4937760" cy="1378915"/>
          </a:xfrm>
          <a:prstGeom prst="rect">
            <a:avLst/>
          </a:prstGeom>
          <a:noFill/>
          <a:ln/>
        </p:spPr>
        <p:txBody>
          <a:bodyPr wrap="square" rtlCol="0" anchor="b"/>
          <a:lstStyle/>
          <a:p>
            <a:pPr algn="ctr" indent="0" marL="0">
              <a:buNone/>
            </a:pPr>
            <a:r>
              <a:rPr lang="en-US" sz="2600" b="1" dirty="0">
                <a:solidFill>
                  <a:srgbClr val="C5A55A"/>
                </a:solidFill>
                <a:latin typeface="Cambria" pitchFamily="34" charset="0"/>
                <a:ea typeface="Cambria" pitchFamily="34" charset="-122"/>
                <a:cs typeface="Cambria" pitchFamily="34" charset="-120"/>
              </a:rPr>
              <a:t>Outcome</a:t>
            </a:r>
            <a:endParaRPr lang="en-US" sz="2600" dirty="0"/>
          </a:p>
        </p:txBody>
      </p:sp>
      <p:sp>
        <p:nvSpPr>
          <p:cNvPr id="9" name="Text 7"/>
          <p:cNvSpPr/>
          <p:nvPr/>
        </p:nvSpPr>
        <p:spPr>
          <a:xfrm>
            <a:off x="6446520" y="3438144"/>
            <a:ext cx="4937760" cy="903427"/>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does agreement with observed</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growth change?</a:t>
            </a:r>
            <a:endParaRPr lang="en-US" sz="1300" dirty="0"/>
          </a:p>
        </p:txBody>
      </p:sp>
      <p:pic>
        <p:nvPicPr>
          <p:cNvPr id="10"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1" name="Shape 8"/>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txBody>
          <a:bodyPr/>
          <a:p/>
        </p:txBody>
      </p:sp>
      <p:sp>
        <p:nvSpPr>
          <p:cNvPr id="12" name="Text 9"/>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11</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NE VALIDATION GATE</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Full scale (3,321 plots): repair does not move the result</a:t>
            </a:r>
            <a:endParaRPr lang="en-US" sz="3200" dirty="0"/>
          </a:p>
        </p:txBody>
      </p:sp>
      <p:sp>
        <p:nvSpPr>
          <p:cNvPr id="4" name="Shape 2"/>
          <p:cNvSpPr/>
          <p:nvPr/>
        </p:nvSpPr>
        <p:spPr>
          <a:xfrm>
            <a:off x="640080" y="1965960"/>
            <a:ext cx="5212080" cy="2377440"/>
          </a:xfrm>
          <a:prstGeom prst="roundRect">
            <a:avLst>
              <a:gd name="adj" fmla="val 4615"/>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5" name="Text 3"/>
          <p:cNvSpPr/>
          <p:nvPr/>
        </p:nvSpPr>
        <p:spPr>
          <a:xfrm>
            <a:off x="777240" y="2075688"/>
            <a:ext cx="4937760" cy="1378915"/>
          </a:xfrm>
          <a:prstGeom prst="rect">
            <a:avLst/>
          </a:prstGeom>
          <a:noFill/>
          <a:ln/>
        </p:spPr>
        <p:txBody>
          <a:bodyPr wrap="square" rtlCol="0" anchor="b"/>
          <a:lstStyle/>
          <a:p>
            <a:pPr algn="ctr" indent="0" marL="0">
              <a:buNone/>
            </a:pPr>
            <a:r>
              <a:rPr lang="en-US" sz="2200" b="1" dirty="0">
                <a:solidFill>
                  <a:srgbClr val="1A3D28"/>
                </a:solidFill>
                <a:latin typeface="Cambria" pitchFamily="34" charset="0"/>
                <a:ea typeface="Cambria" pitchFamily="34" charset="-122"/>
                <a:cs typeface="Cambria" pitchFamily="34" charset="-120"/>
              </a:rPr>
              <a:t>+28.42% to +28.58%</a:t>
            </a:r>
            <a:endParaRPr lang="en-US" sz="2200" dirty="0"/>
          </a:p>
        </p:txBody>
      </p:sp>
      <p:sp>
        <p:nvSpPr>
          <p:cNvPr id="6" name="Text 4"/>
          <p:cNvSpPr/>
          <p:nvPr/>
        </p:nvSpPr>
        <p:spPr>
          <a:xfrm>
            <a:off x="777240" y="3392424"/>
            <a:ext cx="4937760" cy="903427"/>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cubic volume bias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(delta +0.16 pts)</a:t>
            </a:r>
            <a:endParaRPr lang="en-US" sz="1300" dirty="0"/>
          </a:p>
        </p:txBody>
      </p:sp>
      <p:sp>
        <p:nvSpPr>
          <p:cNvPr id="7" name="Shape 5"/>
          <p:cNvSpPr/>
          <p:nvPr/>
        </p:nvSpPr>
        <p:spPr>
          <a:xfrm>
            <a:off x="6309360" y="1965960"/>
            <a:ext cx="5212080" cy="2377440"/>
          </a:xfrm>
          <a:prstGeom prst="roundRect">
            <a:avLst>
              <a:gd name="adj" fmla="val 4615"/>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8" name="Text 6"/>
          <p:cNvSpPr/>
          <p:nvPr/>
        </p:nvSpPr>
        <p:spPr>
          <a:xfrm>
            <a:off x="6446520" y="2075688"/>
            <a:ext cx="4937760" cy="1378915"/>
          </a:xfrm>
          <a:prstGeom prst="rect">
            <a:avLst/>
          </a:prstGeom>
          <a:noFill/>
          <a:ln/>
        </p:spPr>
        <p:txBody>
          <a:bodyPr wrap="square" rtlCol="0" anchor="b"/>
          <a:lstStyle/>
          <a:p>
            <a:pPr algn="ctr" indent="0" marL="0">
              <a:buNone/>
            </a:pPr>
            <a:r>
              <a:rPr lang="en-US" sz="2200" b="1" dirty="0">
                <a:solidFill>
                  <a:srgbClr val="C5A55A"/>
                </a:solidFill>
                <a:latin typeface="Cambria" pitchFamily="34" charset="0"/>
                <a:ea typeface="Cambria" pitchFamily="34" charset="-122"/>
                <a:cs typeface="Cambria" pitchFamily="34" charset="-120"/>
              </a:rPr>
              <a:t>+9.01% to +9.12%</a:t>
            </a:r>
            <a:endParaRPr lang="en-US" sz="2200" dirty="0"/>
          </a:p>
        </p:txBody>
      </p:sp>
      <p:sp>
        <p:nvSpPr>
          <p:cNvPr id="9" name="Text 7"/>
          <p:cNvSpPr/>
          <p:nvPr/>
        </p:nvSpPr>
        <p:spPr>
          <a:xfrm>
            <a:off x="6446520" y="3392424"/>
            <a:ext cx="4937760" cy="903427"/>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basal area bias</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(delta +0.11 pts)</a:t>
            </a:r>
            <a:endParaRPr lang="en-US" sz="1300" dirty="0"/>
          </a:p>
        </p:txBody>
      </p:sp>
      <p:pic>
        <p:nvPicPr>
          <p:cNvPr id="10"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1" name="Shape 8"/>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txBody>
          <a:bodyPr/>
          <a:p/>
        </p:txBody>
      </p:sp>
      <p:sp>
        <p:nvSpPr>
          <p:cNvPr id="12" name="Text 9"/>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12</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SCOPE</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24 of 25 structural only. ne: both.</a:t>
            </a:r>
            <a:endParaRPr lang="en-US" sz="3200" dirty="0"/>
          </a:p>
        </p:txBody>
      </p:sp>
      <p:sp>
        <p:nvSpPr>
          <p:cNvPr id="4" name="Shape 2"/>
          <p:cNvSpPr/>
          <p:nvPr/>
        </p:nvSpPr>
        <p:spPr>
          <a:xfrm>
            <a:off x="640080" y="2011680"/>
            <a:ext cx="5212080" cy="2103120"/>
          </a:xfrm>
          <a:prstGeom prst="roundRect">
            <a:avLst>
              <a:gd name="adj" fmla="val 5217"/>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5" name="Text 3"/>
          <p:cNvSpPr/>
          <p:nvPr/>
        </p:nvSpPr>
        <p:spPr>
          <a:xfrm>
            <a:off x="777240" y="2121408"/>
            <a:ext cx="4937760" cy="1219810"/>
          </a:xfrm>
          <a:prstGeom prst="rect">
            <a:avLst/>
          </a:prstGeom>
          <a:noFill/>
          <a:ln/>
        </p:spPr>
        <p:txBody>
          <a:bodyPr wrap="square" rtlCol="0" anchor="b"/>
          <a:lstStyle/>
          <a:p>
            <a:pPr algn="ctr" indent="0" marL="0">
              <a:buNone/>
            </a:pPr>
            <a:r>
              <a:rPr lang="en-US" sz="3000" b="1" dirty="0">
                <a:solidFill>
                  <a:srgbClr val="1A3D28"/>
                </a:solidFill>
                <a:latin typeface="Cambria" pitchFamily="34" charset="0"/>
                <a:ea typeface="Cambria" pitchFamily="34" charset="-122"/>
                <a:cs typeface="Cambria" pitchFamily="34" charset="-120"/>
              </a:rPr>
              <a:t>24 of 25</a:t>
            </a:r>
            <a:endParaRPr lang="en-US" sz="3000" dirty="0"/>
          </a:p>
        </p:txBody>
      </p:sp>
      <p:sp>
        <p:nvSpPr>
          <p:cNvPr id="6" name="Text 4"/>
          <p:cNvSpPr/>
          <p:nvPr/>
        </p:nvSpPr>
        <p:spPr>
          <a:xfrm>
            <a:off x="777240" y="3273552"/>
            <a:ext cx="4937760" cy="799186"/>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structurally verified only</a:t>
            </a:r>
            <a:endParaRPr lang="en-US" sz="1300" dirty="0"/>
          </a:p>
        </p:txBody>
      </p:sp>
      <p:sp>
        <p:nvSpPr>
          <p:cNvPr id="7" name="Shape 5"/>
          <p:cNvSpPr/>
          <p:nvPr/>
        </p:nvSpPr>
        <p:spPr>
          <a:xfrm>
            <a:off x="6309360" y="2011680"/>
            <a:ext cx="5212080" cy="2103120"/>
          </a:xfrm>
          <a:prstGeom prst="roundRect">
            <a:avLst>
              <a:gd name="adj" fmla="val 5217"/>
            </a:avLst>
          </a:prstGeom>
          <a:solidFill>
            <a:srgbClr val="F1F5F2"/>
          </a:solidFill>
          <a:ln/>
          <a:effectLst>
            <a:outerShdw sx="100000" sy="100000" kx="0" ky="0" algn="bl" rotWithShape="0" blurRad="76200" dist="25400" dir="5400000">
              <a:srgbClr val="8A9A90">
                <a:alpha val="18000"/>
              </a:srgbClr>
            </a:outerShdw>
          </a:effectLst>
        </p:spPr>
        <p:txBody>
          <a:bodyPr/>
          <a:p/>
        </p:txBody>
      </p:sp>
      <p:sp>
        <p:nvSpPr>
          <p:cNvPr id="8" name="Text 6"/>
          <p:cNvSpPr/>
          <p:nvPr/>
        </p:nvSpPr>
        <p:spPr>
          <a:xfrm>
            <a:off x="6446520" y="2121408"/>
            <a:ext cx="4937760" cy="1219810"/>
          </a:xfrm>
          <a:prstGeom prst="rect">
            <a:avLst/>
          </a:prstGeom>
          <a:noFill/>
          <a:ln/>
        </p:spPr>
        <p:txBody>
          <a:bodyPr wrap="square" rtlCol="0" anchor="b"/>
          <a:lstStyle/>
          <a:p>
            <a:pPr algn="ctr" indent="0" marL="0">
              <a:buNone/>
            </a:pPr>
            <a:r>
              <a:rPr lang="en-US" sz="3000" b="1" dirty="0">
                <a:solidFill>
                  <a:srgbClr val="C5A55A"/>
                </a:solidFill>
                <a:latin typeface="Cambria" pitchFamily="34" charset="0"/>
                <a:ea typeface="Cambria" pitchFamily="34" charset="-122"/>
                <a:cs typeface="Cambria" pitchFamily="34" charset="-120"/>
              </a:rPr>
              <a:t>ne</a:t>
            </a:r>
            <a:endParaRPr lang="en-US" sz="3000" dirty="0"/>
          </a:p>
        </p:txBody>
      </p:sp>
      <p:sp>
        <p:nvSpPr>
          <p:cNvPr id="9" name="Text 7"/>
          <p:cNvSpPr/>
          <p:nvPr/>
        </p:nvSpPr>
        <p:spPr>
          <a:xfrm>
            <a:off x="6446520" y="3273552"/>
            <a:ext cx="4937760" cy="799186"/>
          </a:xfrm>
          <a:prstGeom prst="rect">
            <a:avLst/>
          </a:prstGeom>
          <a:noFill/>
          <a:ln/>
        </p:spPr>
        <p:txBody>
          <a:bodyPr wrap="square" rtlCol="0" anchor="t"/>
          <a:lstStyle/>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structurally verified and</a:t>
            </a:r>
            <a:endParaRPr lang="en-US" sz="1300" dirty="0"/>
          </a:p>
          <a:p>
            <a:pPr algn="ctr" indent="0" marL="0">
              <a:lnSpc>
                <a:spcPct val="100000"/>
              </a:lnSpc>
              <a:buNone/>
            </a:pPr>
            <a:r>
              <a:rPr lang="en-US" sz="1300" dirty="0">
                <a:solidFill>
                  <a:srgbClr val="5A5A5A"/>
                </a:solidFill>
                <a:latin typeface="Calibri" pitchFamily="34" charset="0"/>
                <a:ea typeface="Calibri" pitchFamily="34" charset="-122"/>
                <a:cs typeface="Calibri" pitchFamily="34" charset="-120"/>
              </a:rPr>
              <a:t>outcome-validated</a:t>
            </a:r>
            <a:endParaRPr lang="en-US" sz="1300" dirty="0"/>
          </a:p>
        </p:txBody>
      </p:sp>
      <p:pic>
        <p:nvPicPr>
          <p:cNvPr id="10"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1" name="Shape 8"/>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txBody>
          <a:bodyPr/>
          <a:p/>
        </p:txBody>
      </p:sp>
      <p:sp>
        <p:nvSpPr>
          <p:cNvPr id="12" name="Text 9"/>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13</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10911535" cy="320040"/>
          </a:xfrm>
          <a:prstGeom prst="rect">
            <a:avLst/>
          </a:prstGeom>
          <a:noFill/>
          <a:ln/>
        </p:spPr>
        <p:txBody>
          <a:bodyPr wrap="square" rtlCol="0" anchor="ctr"/>
          <a:lstStyle/>
          <a:p>
            <a:pPr algn="l" indent="0" marL="0">
              <a:buNone/>
            </a:pPr>
            <a:r>
              <a:rPr lang="en-US" sz="1200" b="1" spc="200" kern="0" dirty="0">
                <a:solidFill>
                  <a:srgbClr val="C5A55A"/>
                </a:solidFill>
                <a:latin typeface="Calibri" pitchFamily="34" charset="0"/>
                <a:ea typeface="Calibri" pitchFamily="34" charset="-122"/>
                <a:cs typeface="Calibri" pitchFamily="34" charset="-120"/>
              </a:rPr>
              <a:t>OPEN ITEMS</a:t>
            </a:r>
            <a:endParaRPr lang="en-US" sz="1200" dirty="0"/>
          </a:p>
        </p:txBody>
      </p:sp>
      <p:sp>
        <p:nvSpPr>
          <p:cNvPr id="3" name="Text 1"/>
          <p:cNvSpPr/>
          <p:nvPr/>
        </p:nvSpPr>
        <p:spPr>
          <a:xfrm>
            <a:off x="640080" y="457200"/>
            <a:ext cx="10911535" cy="914400"/>
          </a:xfrm>
          <a:prstGeom prst="rect">
            <a:avLst/>
          </a:prstGeom>
          <a:noFill/>
          <a:ln/>
        </p:spPr>
        <p:txBody>
          <a:bodyPr wrap="square" rtlCol="0" anchor="t"/>
          <a:lstStyle/>
          <a:p>
            <a:pPr algn="l" indent="0" marL="0">
              <a:lnSpc>
                <a:spcPct val="102000"/>
              </a:lnSpc>
              <a:buNone/>
            </a:pPr>
            <a:r>
              <a:rPr lang="en-US" sz="3200" b="1" dirty="0">
                <a:solidFill>
                  <a:srgbClr val="1A3D28"/>
                </a:solidFill>
                <a:latin typeface="Cambria" pitchFamily="34" charset="0"/>
                <a:ea typeface="Cambria" pitchFamily="34" charset="-122"/>
                <a:cs typeface="Cambria" pitchFamily="34" charset="-120"/>
              </a:rPr>
              <a:t>What is still open</a:t>
            </a:r>
            <a:endParaRPr lang="en-US" sz="3200" dirty="0"/>
          </a:p>
        </p:txBody>
      </p:sp>
      <p:sp>
        <p:nvSpPr>
          <p:cNvPr id="4" name="Shape 2"/>
          <p:cNvSpPr/>
          <p:nvPr/>
        </p:nvSpPr>
        <p:spPr>
          <a:xfrm>
            <a:off x="685800" y="2176272"/>
            <a:ext cx="146304" cy="146304"/>
          </a:xfrm>
          <a:prstGeom prst="ellipse">
            <a:avLst/>
          </a:prstGeom>
          <a:solidFill>
            <a:srgbClr val="C5A55A"/>
          </a:solidFill>
          <a:ln/>
        </p:spPr>
        <p:txBody>
          <a:bodyPr/>
          <a:p/>
        </p:txBody>
      </p:sp>
      <p:sp>
        <p:nvSpPr>
          <p:cNvPr id="5" name="Text 3"/>
          <p:cNvSpPr/>
          <p:nvPr/>
        </p:nvSpPr>
        <p:spPr>
          <a:xfrm>
            <a:off x="1005840" y="2103120"/>
            <a:ext cx="9875520" cy="502920"/>
          </a:xfrm>
          <a:prstGeom prst="rect">
            <a:avLst/>
          </a:prstGeom>
          <a:noFill/>
          <a:ln/>
        </p:spPr>
        <p:txBody>
          <a:bodyPr wrap="square" rtlCol="0" anchor="ctr"/>
          <a:lstStyle/>
          <a:p>
            <a:pPr indent="0" marL="0">
              <a:buNone/>
            </a:pPr>
            <a:r>
              <a:rPr lang="en-US" sz="1900" dirty="0">
                <a:solidFill>
                  <a:srgbClr val="222222"/>
                </a:solidFill>
                <a:latin typeface="Calibri" pitchFamily="34" charset="0"/>
                <a:ea typeface="Calibri" pitchFamily="34" charset="-122"/>
                <a:cs typeface="Calibri" pitchFamily="34" charset="-120"/>
              </a:rPr>
              <a:t>Outcome validation beyond ne not yet attempted</a:t>
            </a:r>
            <a:endParaRPr lang="en-US" sz="1900" dirty="0"/>
          </a:p>
        </p:txBody>
      </p:sp>
      <p:sp>
        <p:nvSpPr>
          <p:cNvPr id="6" name="Shape 4"/>
          <p:cNvSpPr/>
          <p:nvPr/>
        </p:nvSpPr>
        <p:spPr>
          <a:xfrm>
            <a:off x="685800" y="2953512"/>
            <a:ext cx="146304" cy="146304"/>
          </a:xfrm>
          <a:prstGeom prst="ellipse">
            <a:avLst/>
          </a:prstGeom>
          <a:solidFill>
            <a:srgbClr val="C5A55A"/>
          </a:solidFill>
          <a:ln/>
        </p:spPr>
        <p:txBody>
          <a:bodyPr/>
          <a:p/>
        </p:txBody>
      </p:sp>
      <p:sp>
        <p:nvSpPr>
          <p:cNvPr id="7" name="Text 5"/>
          <p:cNvSpPr/>
          <p:nvPr/>
        </p:nvSpPr>
        <p:spPr>
          <a:xfrm>
            <a:off x="1005840" y="2880360"/>
            <a:ext cx="9875520" cy="502920"/>
          </a:xfrm>
          <a:prstGeom prst="rect">
            <a:avLst/>
          </a:prstGeom>
          <a:noFill/>
          <a:ln/>
        </p:spPr>
        <p:txBody>
          <a:bodyPr wrap="square" rtlCol="0" anchor="ctr"/>
          <a:lstStyle/>
          <a:p>
            <a:pPr indent="0" marL="0">
              <a:buNone/>
            </a:pPr>
            <a:r>
              <a:rPr lang="en-US" sz="1900" dirty="0">
                <a:solidFill>
                  <a:srgbClr val="222222"/>
                </a:solidFill>
                <a:latin typeface="Calibri" pitchFamily="34" charset="0"/>
                <a:ea typeface="Calibri" pitchFamily="34" charset="-122"/>
                <a:cs typeface="Calibri" pitchFamily="34" charset="-120"/>
              </a:rPr>
              <a:t>Not yet merged into the v1 release branch</a:t>
            </a:r>
            <a:endParaRPr lang="en-US" sz="1900" dirty="0"/>
          </a:p>
        </p:txBody>
      </p:sp>
      <p:pic>
        <p:nvPicPr>
          <p:cNvPr id="10" name="Image 0" descr="/tmp/deckbuild/assets/crsf_full_color.png">    </p:cNvPr>
          <p:cNvPicPr>
            <a:picLocks noChangeAspect="1"/>
          </p:cNvPicPr>
          <p:nvPr/>
        </p:nvPicPr>
        <p:blipFill>
          <a:blip r:embed="rId1"/>
          <a:stretch>
            <a:fillRect/>
          </a:stretch>
        </p:blipFill>
        <p:spPr>
          <a:xfrm>
            <a:off x="457200" y="6291072"/>
            <a:ext cx="384048" cy="392505"/>
          </a:xfrm>
          <a:prstGeom prst="rect">
            <a:avLst/>
          </a:prstGeom>
        </p:spPr>
      </p:pic>
      <p:sp>
        <p:nvSpPr>
          <p:cNvPr id="11" name="Shape 8"/>
          <p:cNvSpPr/>
          <p:nvPr/>
        </p:nvSpPr>
        <p:spPr>
          <a:xfrm>
            <a:off x="11387023" y="6053328"/>
            <a:ext cx="475488" cy="475488"/>
          </a:xfrm>
          <a:prstGeom prst="ellipse">
            <a:avLst/>
          </a:prstGeom>
          <a:solidFill>
            <a:srgbClr val="C5A55A"/>
          </a:solidFill>
          <a:ln/>
          <a:effectLst>
            <a:outerShdw sx="100000" sy="100000" kx="0" ky="0" algn="bl" rotWithShape="0" blurRad="50800" dist="12700" dir="5400000">
              <a:srgbClr val="888888">
                <a:alpha val="25000"/>
              </a:srgbClr>
            </a:outerShdw>
          </a:effectLst>
        </p:spPr>
        <p:txBody>
          <a:bodyPr/>
          <a:p/>
        </p:txBody>
      </p:sp>
      <p:sp>
        <p:nvSpPr>
          <p:cNvPr id="12" name="Text 9"/>
          <p:cNvSpPr/>
          <p:nvPr/>
        </p:nvSpPr>
        <p:spPr>
          <a:xfrm>
            <a:off x="11387023" y="6053328"/>
            <a:ext cx="475488" cy="475488"/>
          </a:xfrm>
          <a:prstGeom prst="rect">
            <a:avLst/>
          </a:prstGeom>
          <a:noFill/>
          <a:ln/>
        </p:spPr>
        <p:txBody>
          <a:bodyPr wrap="square" rtlCol="0" anchor="ctr"/>
          <a:lstStyle/>
          <a:p>
            <a:pPr algn="ctr" indent="0" marL="0">
              <a:buNone/>
            </a:pPr>
            <a:r>
              <a:rPr lang="en-US" sz="1300" b="1" dirty="0">
                <a:solidFill>
                  <a:srgbClr val="1A3D28"/>
                </a:solidFill>
                <a:latin typeface="Calibri" pitchFamily="34" charset="0"/>
                <a:ea typeface="Calibri" pitchFamily="34" charset="-122"/>
                <a:cs typeface="Calibri" pitchFamily="34" charset="-120"/>
              </a:rPr>
              <a:t>14</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1A3D28"/>
        </a:solidFill>
      </p:bgPr>
    </p:bg>
    <p:spTree>
      <p:nvGrpSpPr>
        <p:cNvPr id="1" name=""/>
        <p:cNvGrpSpPr/>
        <p:nvPr/>
      </p:nvGrpSpPr>
      <p:grpSpPr>
        <a:xfrm>
          <a:off x="0" y="0"/>
          <a:ext cx="0" cy="0"/>
          <a:chOff x="0" y="0"/>
          <a:chExt cx="0" cy="0"/>
        </a:xfrm>
      </p:grpSpPr>
      <p:sp>
        <p:nvSpPr>
          <p:cNvPr id="2" name="Shape 0"/>
          <p:cNvSpPr/>
          <p:nvPr/>
        </p:nvSpPr>
        <p:spPr>
          <a:xfrm>
            <a:off x="-2286000" y="3474720"/>
            <a:ext cx="5943600" cy="5943600"/>
          </a:xfrm>
          <a:prstGeom prst="ellipse">
            <a:avLst/>
          </a:prstGeom>
          <a:solidFill>
            <a:srgbClr val="234A32"/>
          </a:solidFill>
          <a:ln/>
        </p:spPr>
      </p:sp>
      <p:pic>
        <p:nvPicPr>
          <p:cNvPr id="3" name="Image 0" descr="/tmp/deckbuild/assets/crsf_reverse.png">    </p:cNvPr>
          <p:cNvPicPr>
            <a:picLocks noChangeAspect="1"/>
          </p:cNvPicPr>
          <p:nvPr/>
        </p:nvPicPr>
        <p:blipFill>
          <a:blip r:embed="rId1"/>
          <a:stretch>
            <a:fillRect/>
          </a:stretch>
        </p:blipFill>
        <p:spPr>
          <a:xfrm>
            <a:off x="5547208" y="1371600"/>
            <a:ext cx="1097280" cy="1098494"/>
          </a:xfrm>
          <a:prstGeom prst="rect">
            <a:avLst/>
          </a:prstGeom>
        </p:spPr>
      </p:pic>
      <p:sp>
        <p:nvSpPr>
          <p:cNvPr id="4" name="Text 1"/>
          <p:cNvSpPr/>
          <p:nvPr/>
        </p:nvSpPr>
        <p:spPr>
          <a:xfrm>
            <a:off x="640080" y="3017520"/>
            <a:ext cx="10911535" cy="82296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Questions / Comments?</a:t>
            </a:r>
            <a:endParaRPr lang="en-US" sz="3600" dirty="0"/>
          </a:p>
        </p:txBody>
      </p:sp>
      <p:sp>
        <p:nvSpPr>
          <p:cNvPr id="5" name="Text 2"/>
          <p:cNvSpPr/>
          <p:nvPr/>
        </p:nvSpPr>
        <p:spPr>
          <a:xfrm>
            <a:off x="640080" y="3794760"/>
            <a:ext cx="10911535" cy="457200"/>
          </a:xfrm>
          <a:prstGeom prst="rect">
            <a:avLst/>
          </a:prstGeom>
          <a:noFill/>
          <a:ln/>
        </p:spPr>
        <p:txBody>
          <a:bodyPr wrap="square" rtlCol="0" anchor="ctr"/>
          <a:lstStyle/>
          <a:p>
            <a:pPr algn="ctr" indent="0" marL="0">
              <a:buNone/>
            </a:pPr>
            <a:r>
              <a:rPr lang="en-US" sz="1800" dirty="0">
                <a:solidFill>
                  <a:srgbClr val="7DB5D5"/>
                </a:solidFill>
                <a:latin typeface="Calibri" pitchFamily="34" charset="0"/>
                <a:ea typeface="Calibri" pitchFamily="34" charset="-122"/>
                <a:cs typeface="Calibri" pitchFamily="34" charset="-120"/>
              </a:rPr>
              <a:t>Thank you, Greg and David.</a:t>
            </a:r>
            <a:endParaRPr lang="en-US" sz="1800" dirty="0"/>
          </a:p>
        </p:txBody>
      </p:sp>
      <p:sp>
        <p:nvSpPr>
          <p:cNvPr id="6" name="Text 3"/>
          <p:cNvSpPr/>
          <p:nvPr/>
        </p:nvSpPr>
        <p:spPr>
          <a:xfrm>
            <a:off x="640080" y="6035040"/>
            <a:ext cx="10911535" cy="365760"/>
          </a:xfrm>
          <a:prstGeom prst="rect">
            <a:avLst/>
          </a:prstGeom>
          <a:noFill/>
          <a:ln/>
        </p:spPr>
        <p:txBody>
          <a:bodyPr wrap="square" rtlCol="0" anchor="ctr"/>
          <a:lstStyle/>
          <a:p>
            <a:pPr algn="ctr" indent="0" marL="0">
              <a:buNone/>
            </a:pPr>
            <a:r>
              <a:rPr lang="en-US" sz="1300" dirty="0">
                <a:solidFill>
                  <a:srgbClr val="C9D6CD"/>
                </a:solidFill>
                <a:latin typeface="Calibri" pitchFamily="34" charset="0"/>
                <a:ea typeface="Calibri" pitchFamily="34" charset="-122"/>
                <a:cs typeface="Calibri" pitchFamily="34" charset="-120"/>
              </a:rPr>
              <a:t>Aaron Weiskittel  |  aaron.weiskittel@maine.edu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2026-08-14T13:39:34Z</dcterms:created>
  <dcterms:modified xsi:type="dcterms:W3CDTF">2026-08-14T13:39:34Z</dcterms:modified>
</cp:coreProperties>
</file>