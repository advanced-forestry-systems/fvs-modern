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D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rsf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114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Toward CONUS-wide FVS component equations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640080" y="324612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7DB5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a localized, data-derived maximum stand density index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008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Briefing for the USDA Forest Service FVS team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5029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7DB5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A. Weiskittel and collaborators  |  Center for Research on Sustainable Forests  |  14 June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one CONUS variant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66160" cy="329184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73152" cy="3291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 regional variants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651760"/>
            <a:ext cx="3200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functional forms and species coverage, separately maintained, hard to keep current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43400" y="1554480"/>
            <a:ext cx="3566160" cy="329184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0" y="1554480"/>
            <a:ext cx="73152" cy="3291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7373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Rare species thinly served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0" y="2651760"/>
            <a:ext cx="3200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Per-species fits leave uncommon species with weak or no support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566160" cy="329184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12" name="Shape 10"/>
          <p:cNvSpPr/>
          <p:nvPr/>
        </p:nvSpPr>
        <p:spPr>
          <a:xfrm>
            <a:off x="8138160" y="1554480"/>
            <a:ext cx="73152" cy="3291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3" name="Text 11"/>
          <p:cNvSpPr/>
          <p:nvPr/>
        </p:nvSpPr>
        <p:spPr>
          <a:xfrm>
            <a:off x="8366760" y="17373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National analyses are awkward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66760" y="2651760"/>
            <a:ext cx="3200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Carbon, fuels, and climate work need one consistent engine across regions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58704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of Maine | Center for Research on Sustainable Forests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unified, trait-aware set keeps every species supported and national analyses consistent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design axes organize the equations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023360" y="13716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Species-dependent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(per-species fit)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138160" y="13716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Species-independent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(trait-driven, species-free)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3291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Tree-level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3291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Stand-level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023360" y="2148840"/>
            <a:ext cx="3931920" cy="1737360"/>
          </a:xfrm>
          <a:prstGeom prst="rect">
            <a:avLst/>
          </a:prstGeom>
          <a:solidFill>
            <a:srgbClr val="F4F6F4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0" y="2258568"/>
            <a:ext cx="3611880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DG, HG, HT-DBH, crown base, crown ratio, survival, ingrowth fit per species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138160" y="2148840"/>
            <a:ext cx="3931920" cy="1737360"/>
          </a:xfrm>
          <a:prstGeom prst="rect">
            <a:avLst/>
          </a:prstGeom>
          <a:solidFill>
            <a:srgbClr val="F4F6F4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0" y="2258568"/>
            <a:ext cx="3611880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components from a trait and climate form; covers rare and unsampled species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023360" y="4069080"/>
            <a:ext cx="3931920" cy="1737360"/>
          </a:xfrm>
          <a:prstGeom prst="rect">
            <a:avLst/>
          </a:prstGeom>
          <a:solidFill>
            <a:srgbClr val="EAF1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0" y="4178808"/>
            <a:ext cx="3611880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Composition-driven density and basal area behavior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38160" y="4069080"/>
            <a:ext cx="3931920" cy="1737360"/>
          </a:xfrm>
          <a:prstGeom prst="rect">
            <a:avLst/>
          </a:prstGeom>
          <a:solidFill>
            <a:srgbClr val="EAF1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4178808"/>
            <a:ext cx="3611880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Density and basal area driven by a localized, data-derived maximum SDI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023360" y="58978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per-species shrinkage blend (w = n / (n + k)) joins the two columns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Well-sampled species keep their own fit; rare species fall back to the trait form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it stands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064240" cy="137160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08760"/>
            <a:ext cx="73152" cy="137160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18488"/>
            <a:ext cx="30175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Tree-level: built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0" y="1618488"/>
            <a:ext cx="7498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Diameter and height growth, height-diameter, crown base, crown ratio, survival, ingrowth. Three carry a validated refit (annualized crown and crown base, senescence).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11064240" cy="137160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017520"/>
            <a:ext cx="73152" cy="137160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127248"/>
            <a:ext cx="30175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Stand-level: prototyped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931920" y="3127248"/>
            <a:ext cx="7498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Age-independent, annualized density, basal area, and top height, in the spirit of Garcia's state-space approach. Not yet wired as a constraint layer.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11064240" cy="1371600"/>
          </a:xfrm>
          <a:prstGeom prst="rect">
            <a:avLst/>
          </a:prstGeom>
          <a:solidFill>
            <a:srgbClr val="FBF7EE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4526280"/>
            <a:ext cx="73152" cy="13716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636008"/>
            <a:ext cx="30175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Integration: in progress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931920" y="4636008"/>
            <a:ext cx="7498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 driven today through multipliers and the SDIMAX keyword; injecting the trait-driven equations as the engine's growth functions is the largest remaining task.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Components built and validated; engine injection is the make-or-break remaining work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Clean benchmark: unified beats the regional variants on basal area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Northeast FIA remeasurement, year-0 reproducing observed stand state exactly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-0.6%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05840" y="37490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basal area bias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754880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0682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+12 to 13%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754880" y="37490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NE and ACD bias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03920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666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density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503920" y="37490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only weakness,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traced to maximum SDI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8704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of Maine | Center for Research on Sustainable Forests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integral that matters most, the unified equations already beat the regional variants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Versus Greg Johnson's CONUS equations (Douglas-fir diameter growth)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005840" y="23774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0.091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1005840" y="338328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species-dependent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(cm/yr)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754880" y="23774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6666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0.097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754880" y="338328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Greg species-specific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(cm/yr)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503920" y="23774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F6DB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0.118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503920" y="338328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species-free,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 Douglas-fir data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75488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Predicting Douglas-fir from traits alone, having never seen one, lands within about 22 percent of a model fit on 156,000 Douglas-fir observations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8704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of Maine | Center for Research on Sustainable Forests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where Greg has data; the trait leg covers the rare species his system cannot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D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Maximum stand density index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DB5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density limit is one of the most consequential single numbers in any long-term projection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FVS species-weighted maximum is biased and uninformative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005840" y="24688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0682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+28%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005840" y="347472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biased high vs an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FIA-derived maximum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754880" y="24688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0682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0.02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754880" y="347472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bias-corrected R-squared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(near-zero plot skill)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503920" y="24688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666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observable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503920" y="347472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maximum is latent;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must be predictive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8006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Per-species maxima are conservative pure-stand bounds; basal-area-weighting them across a mixed stand overstates the achievable maximum and carries no location signal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Species-weighting predicts the real maximum worse than simply using the overall mean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non-circular test: does it predict observed self-thinning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Relative density drives self-thinning, so the better maximum is the one whose relative density better predicts observed density loss. 82,130 remeasured plots, deviance explained: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37360" y="2331720"/>
            <a:ext cx="2834640" cy="457200"/>
          </a:xfrm>
          <a:prstGeom prst="rect">
            <a:avLst/>
          </a:prstGeom>
          <a:solidFill>
            <a:srgbClr val="1A3D2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0" y="2331720"/>
            <a:ext cx="2926080" cy="457200"/>
          </a:xfrm>
          <a:prstGeom prst="rect">
            <a:avLst/>
          </a:prstGeom>
          <a:solidFill>
            <a:srgbClr val="B068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FVS species-weighted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2331720"/>
            <a:ext cx="2926080" cy="457200"/>
          </a:xfrm>
          <a:prstGeom prst="rect">
            <a:avLst/>
          </a:prstGeom>
          <a:solidFill>
            <a:srgbClr val="2F6D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Localized (FIA)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737360" y="2788920"/>
            <a:ext cx="283464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0" y="2788920"/>
            <a:ext cx="292608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0.058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0" y="2788920"/>
            <a:ext cx="292608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0.107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737360" y="3355848"/>
            <a:ext cx="2834640" cy="566928"/>
          </a:xfrm>
          <a:prstGeom prst="rect">
            <a:avLst/>
          </a:prstGeom>
          <a:solidFill>
            <a:srgbClr val="F4F6F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3355848"/>
            <a:ext cx="2926080" cy="566928"/>
          </a:xfrm>
          <a:prstGeom prst="rect">
            <a:avLst/>
          </a:prstGeom>
          <a:solidFill>
            <a:srgbClr val="F4F6F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0.072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98080" y="3355848"/>
            <a:ext cx="2926080" cy="566928"/>
          </a:xfrm>
          <a:prstGeom prst="rect">
            <a:avLst/>
          </a:prstGeom>
          <a:solidFill>
            <a:srgbClr val="F4F6F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0.124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3922776"/>
            <a:ext cx="283464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3922776"/>
            <a:ext cx="292608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0.034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98080" y="3922776"/>
            <a:ext cx="292608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0.057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49808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F6D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85 percent better, in every region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only criterion that is not circular, the localized maximum wins everywhere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But inside FVS the benefit is regional</a:t>
            </a:r>
            <a:endParaRPr lang="en-US" sz="3000" dirty="0"/>
          </a:p>
        </p:txBody>
      </p:sp>
      <p:pic>
        <p:nvPicPr>
          <p:cNvPr id="3" name="Image 0" descr="pn_vs_cr_maxSD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10881360" cy="4800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Localizing helps dense Pacific Northwest stands and hurts dry interior Central Rockies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Why: pattern is good, the level needs calibration</a:t>
            </a:r>
            <a:endParaRPr lang="en-US" sz="3000" dirty="0"/>
          </a:p>
        </p:txBody>
      </p:sp>
      <p:pic>
        <p:nvPicPr>
          <p:cNvPr id="3" name="Image 0" descr="cr_scale_diagnos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6355080" cy="42611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23760" y="1600200"/>
            <a:ext cx="274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543800" y="16002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FIA maximum carries a spatial pattern and a level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7223760" y="2651760"/>
            <a:ext cx="274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543800" y="265176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free fit of self-thinning is invariant to the level, so the value is in the pattern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223760" y="3703320"/>
            <a:ext cx="274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543800" y="37033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the engine the mortality response is fixed, so the level decides where each stand sits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223760" y="4754880"/>
            <a:ext cx="274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543800" y="47548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about 0.9x the raw value, CR beats native with near-zero bias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3" name="Text 10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Adopt the localized spatial pattern; calibrate its level jointly with the mortality response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Across all 20 CONUS variants: calibrated localized beats native in 19</a:t>
            </a:r>
            <a:endParaRPr lang="en-US" sz="3000" dirty="0"/>
          </a:p>
        </p:txBody>
      </p:sp>
      <p:pic>
        <p:nvPicPr>
          <p:cNvPr id="3" name="Image 0" descr="allvar_level_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1115568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Optimal level spans 0.6 to 2.0 (median 1.2): no single global level works, each variant needs its own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level-calibrated localized maximum matches or beats native in 19 of 20 variants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the density limit matters most (7.25 million plots)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 of the self-thinning signal varies about four-fold by region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5029200" cy="2286000"/>
          </a:xfrm>
          <a:prstGeom prst="rect">
            <a:avLst/>
          </a:prstGeom>
          <a:solidFill>
            <a:srgbClr val="FBF1EB"/>
          </a:solidFill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682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Weakest: dry interior West
</a:t>
            </a:r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Utah 0.04, Central Idaho 0.05, Central Rockies 0.06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drought and disturbance dominate mortality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2011680"/>
            <a:ext cx="5029200" cy="2286000"/>
          </a:xfrm>
          <a:prstGeom prst="rect">
            <a:avLst/>
          </a:prstGeom>
          <a:solidFill>
            <a:srgbClr val="EDF3EE"/>
          </a:solidFill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Strongest: moist East, South, PNW
</a:t>
            </a:r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Southern 0.14, Blue Mountains 0.12, Pacific NW 0.10, Northeast 0.10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self-thinning is the primary control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6177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axis as the projection result: localizing the maximum pays off most where self-thinning governs stand dynamics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 the maximum right first in the East, South, and moist West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 for the FVS team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1A3D2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71600" y="155448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Treat maximum SDI as a localized, data-derived stand attribute from the FIA surface, not a species-weighted constant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679192"/>
            <a:ext cx="502920" cy="502920"/>
          </a:xfrm>
          <a:prstGeom prst="ellipse">
            <a:avLst/>
          </a:prstGeom>
          <a:solidFill>
            <a:srgbClr val="1A3D2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6791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2633472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Adopt the spatial pattern and calibrate its level jointly with the density-dependent mortality response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758184"/>
            <a:ext cx="502920" cy="502920"/>
          </a:xfrm>
          <a:prstGeom prst="ellipse">
            <a:avLst/>
          </a:prstGeom>
          <a:solidFill>
            <a:srgbClr val="1A3D2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7581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71600" y="3712464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ship it as a drop-in SDIMAX override on a native variant without per-region revalidation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4837176"/>
            <a:ext cx="502920" cy="502920"/>
          </a:xfrm>
          <a:prstGeom prst="ellipse">
            <a:avLst/>
          </a:prstGeom>
          <a:solidFill>
            <a:srgbClr val="1A3D28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83717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791456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Guidance welcome on benchmark design, the engine integration path, and the SDI convention to match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Localize the maximum, calibrate the level, and validate by region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D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rsf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46888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731520" y="36118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DB5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Companion documents: the maximum-SDI technical report and the CONUS equations briefing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731520" y="4937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aaron.weiskittel@maine.edu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2026-06-14T13:59:37Z</dcterms:created>
  <dcterms:modified xsi:type="dcterms:W3CDTF">2026-06-14T13:59:37Z</dcterms:modified>
</cp:coreProperties>
</file>