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Deck accompanies the CRSF technical report of the same date and the Zenodo record. Method: modified Bakuzis matrix after Leary (1997), Ecological Modelling 98:35-46.</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3D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3246120"/>
            <a:ext cx="2011680" cy="73152"/>
          </a:xfrm>
          <a:prstGeom prst="rect">
            <a:avLst/>
          </a:prstGeom>
          <a:solidFill>
            <a:srgbClr val="C5A5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280160"/>
            <a:ext cx="10972800" cy="1920240"/>
          </a:xfrm>
          <a:prstGeom prst="rect">
            <a:avLst/>
          </a:prstGeom>
          <a:noFill/>
        </p:spPr>
        <p:txBody>
          <a:bodyPr wrap="square" anchor="t" lIns="45720" rIns="45720" tIns="27432" bIns="27432">
            <a:spAutoFit/>
          </a:bodyPr>
          <a:lstStyle/>
          <a:p>
            <a:pPr algn="l">
              <a:spcAft>
                <a:spcPts val="600"/>
              </a:spcAft>
            </a:pPr>
            <a:r>
              <a:rPr sz="3600" b="1">
                <a:solidFill>
                  <a:srgbClr val="FFFFFF"/>
                </a:solidFill>
                <a:latin typeface="Calibri"/>
              </a:rPr>
              <a:t>A configuration catalog for fvs-modern across the FVS variants of the conterminous United States</a:t>
            </a:r>
          </a:p>
        </p:txBody>
      </p:sp>
      <p:sp>
        <p:nvSpPr>
          <p:cNvPr id="5" name="TextBox 4"/>
          <p:cNvSpPr txBox="1"/>
          <p:nvPr/>
        </p:nvSpPr>
        <p:spPr>
          <a:xfrm>
            <a:off x="548640" y="3474720"/>
            <a:ext cx="10972800" cy="1097280"/>
          </a:xfrm>
          <a:prstGeom prst="rect">
            <a:avLst/>
          </a:prstGeom>
          <a:noFill/>
        </p:spPr>
        <p:txBody>
          <a:bodyPr wrap="square" anchor="t" lIns="45720" rIns="45720" tIns="27432" bIns="27432">
            <a:spAutoFit/>
          </a:bodyPr>
          <a:lstStyle/>
          <a:p>
            <a:pPr algn="l">
              <a:spcAft>
                <a:spcPts val="600"/>
              </a:spcAft>
            </a:pPr>
            <a:r>
              <a:rPr sz="2000" b="0">
                <a:solidFill>
                  <a:srgbClr val="FFFFFF"/>
                </a:solidFill>
                <a:latin typeface="Calibri"/>
              </a:rPr>
              <a:t>Bakuzis admissibility gates, a stress test of every verdict, and a selector</a:t>
            </a:r>
          </a:p>
          <a:p>
            <a:pPr algn="l">
              <a:spcAft>
                <a:spcPts val="600"/>
              </a:spcAft>
            </a:pPr>
            <a:r>
              <a:rPr sz="2000" b="0">
                <a:solidFill>
                  <a:srgbClr val="FFFFFF"/>
                </a:solidFill>
                <a:latin typeface="Calibri"/>
              </a:rPr>
              <a:t>Aaron R. Weiskittel, Center for Research on Sustainable Forests, University of Maine</a:t>
            </a:r>
          </a:p>
        </p:txBody>
      </p:sp>
      <p:sp>
        <p:nvSpPr>
          <p:cNvPr id="6" name="TextBox 5"/>
          <p:cNvSpPr txBox="1"/>
          <p:nvPr/>
        </p:nvSpPr>
        <p:spPr>
          <a:xfrm>
            <a:off x="548640" y="5760720"/>
            <a:ext cx="10972800" cy="457200"/>
          </a:xfrm>
          <a:prstGeom prst="rect">
            <a:avLst/>
          </a:prstGeom>
          <a:noFill/>
        </p:spPr>
        <p:txBody>
          <a:bodyPr wrap="square" anchor="t" lIns="45720" rIns="45720" tIns="27432" bIns="27432">
            <a:spAutoFit/>
          </a:bodyPr>
          <a:lstStyle/>
          <a:p>
            <a:pPr algn="l">
              <a:spcAft>
                <a:spcPts val="600"/>
              </a:spcAft>
            </a:pPr>
            <a:r>
              <a:rPr sz="1600" b="0">
                <a:solidFill>
                  <a:srgbClr val="C5A55A"/>
                </a:solidFill>
                <a:latin typeface="Calibri"/>
              </a:rPr>
              <a:t>October 29,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A3D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14400"/>
            <a:ext cx="12191695" cy="54864"/>
          </a:xfrm>
          <a:prstGeom prst="rect">
            <a:avLst/>
          </a:prstGeom>
          <a:solidFill>
            <a:srgbClr val="C5A5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09728"/>
            <a:ext cx="11460175" cy="731520"/>
          </a:xfrm>
          <a:prstGeom prst="rect">
            <a:avLst/>
          </a:prstGeom>
          <a:noFill/>
        </p:spPr>
        <p:txBody>
          <a:bodyPr wrap="square" anchor="ctr" lIns="45720" rIns="45720" tIns="27432" bIns="27432">
            <a:spAutoFit/>
          </a:bodyPr>
          <a:lstStyle/>
          <a:p>
            <a:pPr algn="l">
              <a:spcAft>
                <a:spcPts val="600"/>
              </a:spcAft>
            </a:pPr>
            <a:r>
              <a:rPr sz="2600" b="1">
                <a:solidFill>
                  <a:srgbClr val="FFFFFF"/>
                </a:solidFill>
                <a:latin typeface="Calibri"/>
              </a:rPr>
              <a:t>The question a user asks</a:t>
            </a:r>
          </a:p>
        </p:txBody>
      </p:sp>
      <p:sp>
        <p:nvSpPr>
          <p:cNvPr id="5" name="TextBox 4"/>
          <p:cNvSpPr txBox="1"/>
          <p:nvPr/>
        </p:nvSpPr>
        <p:spPr>
          <a:xfrm>
            <a:off x="457200" y="1280160"/>
            <a:ext cx="6949440" cy="4572000"/>
          </a:xfrm>
          <a:prstGeom prst="rect">
            <a:avLst/>
          </a:prstGeom>
          <a:noFill/>
        </p:spPr>
        <p:txBody>
          <a:bodyPr wrap="square">
            <a:spAutoFit/>
          </a:bodyPr>
          <a:lstStyle/>
          <a:p>
            <a:pPr>
              <a:spcAft>
                <a:spcPts val="800"/>
              </a:spcAft>
            </a:pPr>
            <a:r>
              <a:rPr sz="1600">
                <a:solidFill>
                  <a:srgbClr val="222222"/>
                </a:solidFill>
                <a:latin typeface="Calibri"/>
              </a:rPr>
              <a:t>▪  fvs-modern runs every FVS variant with native mortality or GOMPIT crown closure survival, and with default or Bayesian calibrated MAP parameters: four arms per variant.</a:t>
            </a:r>
          </a:p>
          <a:p>
            <a:pPr>
              <a:spcAft>
                <a:spcPts val="800"/>
              </a:spcAft>
            </a:pPr>
            <a:r>
              <a:rPr sz="1600">
                <a:solidFill>
                  <a:srgbClr val="222222"/>
                </a:solidFill>
                <a:latin typeface="Calibri"/>
              </a:rPr>
              <a:t>▪  The Bakuzis work so far tested NE and ACD on a synthetic 36 cell design and the NE Paper 2 cohort. Nothing said which arm to use in the other twenty variants.</a:t>
            </a:r>
          </a:p>
          <a:p>
            <a:pPr>
              <a:spcAft>
                <a:spcPts val="800"/>
              </a:spcAft>
            </a:pPr>
            <a:r>
              <a:rPr sz="1600">
                <a:solidFill>
                  <a:srgbClr val="222222"/>
                </a:solidFill>
                <a:latin typeface="Calibri"/>
              </a:rPr>
              <a:t>▪  On October 28 a six argument GOMPSURV interface was found updated in one mortality routine and not the other 21: every GOMPIT result outside NE, CS and LS since July 25 read undefined memory. Fixed, 22 libraries rebuilt.</a:t>
            </a:r>
          </a:p>
          <a:p>
            <a:pPr>
              <a:spcAft>
                <a:spcPts val="800"/>
              </a:spcAft>
            </a:pPr>
            <a:r>
              <a:rPr sz="1600">
                <a:solidFill>
                  <a:srgbClr val="222222"/>
                </a:solidFill>
                <a:latin typeface="Calibri"/>
              </a:rPr>
              <a:t>▪  So: can a user pick survival model and parameter set for their variant on evidence? The catalog is that evidence.</a:t>
            </a:r>
          </a:p>
        </p:txBody>
      </p:sp>
      <p:sp>
        <p:nvSpPr>
          <p:cNvPr id="6" name="Rectangle 5"/>
          <p:cNvSpPr/>
          <p:nvPr/>
        </p:nvSpPr>
        <p:spPr>
          <a:xfrm>
            <a:off x="7772400" y="1371600"/>
            <a:ext cx="3931920" cy="4206240"/>
          </a:xfrm>
          <a:prstGeom prst="rect">
            <a:avLst/>
          </a:prstGeom>
          <a:solidFill>
            <a:srgbClr val="F3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79" y="1554480"/>
            <a:ext cx="3566160" cy="3931920"/>
          </a:xfrm>
          <a:prstGeom prst="rect">
            <a:avLst/>
          </a:prstGeom>
          <a:noFill/>
        </p:spPr>
        <p:txBody>
          <a:bodyPr wrap="square" anchor="t" lIns="45720" rIns="45720" tIns="27432" bIns="27432">
            <a:spAutoFit/>
          </a:bodyPr>
          <a:lstStyle/>
          <a:p>
            <a:pPr algn="l">
              <a:spcAft>
                <a:spcPts val="600"/>
              </a:spcAft>
            </a:pPr>
            <a:r>
              <a:rPr sz="1600" b="0">
                <a:solidFill>
                  <a:srgbClr val="1A3D28"/>
                </a:solidFill>
                <a:latin typeface="Calibri"/>
              </a:rPr>
              <a:t>Admissible means:</a:t>
            </a:r>
          </a:p>
          <a:p>
            <a:pPr algn="l">
              <a:spcAft>
                <a:spcPts val="600"/>
              </a:spcAft>
            </a:pPr>
            <a:r>
              <a:rPr sz="1600" b="0">
                <a:solidFill>
                  <a:srgbClr val="1A3D28"/>
                </a:solidFill>
                <a:latin typeface="Calibri"/>
              </a:rPr>
              <a:t>stays inside the FIA fitting envelope for 50 and 100 years,</a:t>
            </a:r>
          </a:p>
          <a:p>
            <a:pPr algn="l">
              <a:spcAft>
                <a:spcPts val="600"/>
              </a:spcAft>
            </a:pPr>
            <a:r>
              <a:rPr sz="1600" b="0">
                <a:solidFill>
                  <a:srgbClr val="1A3D28"/>
                </a:solidFill>
                <a:latin typeface="Calibri"/>
              </a:rPr>
              <a:t>self-thins the way Reineke says,</a:t>
            </a:r>
          </a:p>
          <a:p>
            <a:pPr algn="l">
              <a:spcAft>
                <a:spcPts val="600"/>
              </a:spcAft>
            </a:pPr>
            <a:r>
              <a:rPr sz="1600" b="0">
                <a:solidFill>
                  <a:srgbClr val="1A3D28"/>
                </a:solidFill>
                <a:latin typeface="Calibri"/>
              </a:rPr>
              <a:t>does not pass the ceiling by killing the stand,</a:t>
            </a:r>
          </a:p>
          <a:p>
            <a:pPr algn="l">
              <a:spcAft>
                <a:spcPts val="600"/>
              </a:spcAft>
            </a:pPr>
            <a:r>
              <a:rPr sz="1600" b="0">
                <a:solidFill>
                  <a:srgbClr val="1A3D28"/>
                </a:solidFill>
                <a:latin typeface="Calibri"/>
              </a:rPr>
              <a:t>and is a real alternative to default.</a:t>
            </a:r>
          </a:p>
        </p:txBody>
      </p:sp>
      <p:sp>
        <p:nvSpPr>
          <p:cNvPr id="8" name="Rectangle 7"/>
          <p:cNvSpPr/>
          <p:nvPr/>
        </p:nvSpPr>
        <p:spPr>
          <a:xfrm>
            <a:off x="0" y="6565392"/>
            <a:ext cx="12191695" cy="292608"/>
          </a:xfrm>
          <a:prstGeom prst="rect">
            <a:avLst/>
          </a:prstGeom>
          <a:solidFill>
            <a:srgbClr val="1A3D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6574536"/>
            <a:ext cx="9144000" cy="274320"/>
          </a:xfrm>
          <a:prstGeom prst="rect">
            <a:avLst/>
          </a:prstGeom>
          <a:noFill/>
        </p:spPr>
        <p:txBody>
          <a:bodyPr wrap="square" anchor="ctr" lIns="45720" rIns="45720" tIns="27432" bIns="27432">
            <a:spAutoFit/>
          </a:bodyPr>
          <a:lstStyle/>
          <a:p>
            <a:pPr algn="l">
              <a:spcAft>
                <a:spcPts val="600"/>
              </a:spcAft>
            </a:pPr>
            <a:r>
              <a:rPr sz="1000" b="0">
                <a:solidFill>
                  <a:srgbClr val="FFFFFF"/>
                </a:solidFill>
                <a:latin typeface="Calibri"/>
              </a:rPr>
              <a:t>Source: fvs-modern main 1a520f5e, validation/bakuzis_stress_v2/ and config/catalog/ (October 29, 2026)</a:t>
            </a:r>
          </a:p>
        </p:txBody>
      </p:sp>
      <p:sp>
        <p:nvSpPr>
          <p:cNvPr id="10" name="TextBox 9"/>
          <p:cNvSpPr txBox="1"/>
          <p:nvPr/>
        </p:nvSpPr>
        <p:spPr>
          <a:xfrm>
            <a:off x="11094415" y="6574536"/>
            <a:ext cx="822960" cy="274320"/>
          </a:xfrm>
          <a:prstGeom prst="rect">
            <a:avLst/>
          </a:prstGeom>
          <a:noFill/>
        </p:spPr>
        <p:txBody>
          <a:bodyPr wrap="square" anchor="ctr" lIns="45720" rIns="45720" tIns="27432" bIns="27432">
            <a:spAutoFit/>
          </a:bodyPr>
          <a:lstStyle/>
          <a:p>
            <a:pPr algn="r">
              <a:spcAft>
                <a:spcPts val="600"/>
              </a:spcAft>
            </a:pPr>
            <a:r>
              <a:rPr sz="1000" b="0">
                <a:solidFill>
                  <a:srgbClr val="C5A55A"/>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A3D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14400"/>
            <a:ext cx="12191695" cy="54864"/>
          </a:xfrm>
          <a:prstGeom prst="rect">
            <a:avLst/>
          </a:prstGeom>
          <a:solidFill>
            <a:srgbClr val="C5A5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09728"/>
            <a:ext cx="11460175" cy="731520"/>
          </a:xfrm>
          <a:prstGeom prst="rect">
            <a:avLst/>
          </a:prstGeom>
          <a:noFill/>
        </p:spPr>
        <p:txBody>
          <a:bodyPr wrap="square" anchor="ctr" lIns="45720" rIns="45720" tIns="27432" bIns="27432">
            <a:spAutoFit/>
          </a:bodyPr>
          <a:lstStyle/>
          <a:p>
            <a:pPr algn="l">
              <a:spcAft>
                <a:spcPts val="600"/>
              </a:spcAft>
            </a:pPr>
            <a:r>
              <a:rPr sz="2600" b="1">
                <a:solidFill>
                  <a:srgbClr val="FFFFFF"/>
                </a:solidFill>
                <a:latin typeface="Calibri"/>
              </a:rPr>
              <a:t>What was run</a:t>
            </a:r>
          </a:p>
        </p:txBody>
      </p:sp>
      <p:sp>
        <p:nvSpPr>
          <p:cNvPr id="5" name="TextBox 4"/>
          <p:cNvSpPr txBox="1"/>
          <p:nvPr/>
        </p:nvSpPr>
        <p:spPr>
          <a:xfrm>
            <a:off x="457200" y="1280160"/>
            <a:ext cx="11247120" cy="4572000"/>
          </a:xfrm>
          <a:prstGeom prst="rect">
            <a:avLst/>
          </a:prstGeom>
          <a:noFill/>
        </p:spPr>
        <p:txBody>
          <a:bodyPr wrap="square">
            <a:spAutoFit/>
          </a:bodyPr>
          <a:lstStyle/>
          <a:p>
            <a:pPr>
              <a:spcAft>
                <a:spcPts val="800"/>
              </a:spcAft>
            </a:pPr>
            <a:r>
              <a:rPr sz="1600">
                <a:solidFill>
                  <a:srgbClr val="222222"/>
                </a:solidFill>
                <a:latin typeface="Calibri"/>
              </a:rPr>
              <a:t>▪  Stand sample: up to 300 FIA plots per variant from the fvs-conus pairs frame (17 variants; ACD takes NE plots in ME, NH and VT, an assumption). Trees expanded by CONDPROP_UNADJ, species outside the variant relabelled to its other softwood or hardwood code.</a:t>
            </a:r>
          </a:p>
          <a:p>
            <a:pPr>
              <a:spcAft>
                <a:spcPts val="800"/>
              </a:spcAft>
            </a:pPr>
            <a:r>
              <a:rPr sz="1600">
                <a:solidFill>
                  <a:srgbClr val="222222"/>
                </a:solidFill>
                <a:latin typeface="Calibri"/>
              </a:rPr>
              <a:t>▪  Year zero gate: engine basal area within 20 percent of FIA BALIVE. Passes 95 to 100 percent of stands in 15 variants, 89 percent LS, 78 CS, 54 SN; 4,485 stands carry the gates.</a:t>
            </a:r>
          </a:p>
          <a:p>
            <a:pPr>
              <a:spcAft>
                <a:spcPts val="800"/>
              </a:spcAft>
            </a:pPr>
            <a:r>
              <a:rPr sz="1600">
                <a:solidFill>
                  <a:srgbClr val="222222"/>
                </a:solidFill>
                <a:latin typeface="Calibri"/>
              </a:rPr>
              <a:t>▪  Four engine arms x 100 years at a 5 year step, no regeneration (NOAUTOES in EM and IE), no posterior draws. Cardinal arrays 15976824 and 15984133 after library build 15967530 with the GOMPSURV fix.</a:t>
            </a:r>
          </a:p>
          <a:p>
            <a:pPr>
              <a:spcAft>
                <a:spcPts val="800"/>
              </a:spcAft>
            </a:pPr>
            <a:r>
              <a:rPr sz="1600">
                <a:solidFill>
                  <a:srgbClr val="222222"/>
                </a:solidFill>
                <a:latin typeface="Calibri"/>
              </a:rPr>
              <a:t>▪  Thresholds: plot level FIA percentiles by variant (BA p50, p99, p99.9; SDI p99.9). Age censored, so the 50 year horizon is primary.</a:t>
            </a:r>
          </a:p>
          <a:p>
            <a:pPr>
              <a:spcAft>
                <a:spcPts val="800"/>
              </a:spcAft>
            </a:pPr>
            <a:r>
              <a:rPr sz="1600">
                <a:solidFill>
                  <a:srgbClr val="222222"/>
                </a:solidFill>
                <a:latin typeface="Calibri"/>
              </a:rPr>
              <a:t>▪  Projector arms (fvs-conus b1, b2 by native and GOMPIT) listed for comparison from the October 27 rescore, not on the common sample.</a:t>
            </a:r>
          </a:p>
        </p:txBody>
      </p:sp>
      <p:sp>
        <p:nvSpPr>
          <p:cNvPr id="6" name="Rectangle 5"/>
          <p:cNvSpPr/>
          <p:nvPr/>
        </p:nvSpPr>
        <p:spPr>
          <a:xfrm>
            <a:off x="0" y="6565392"/>
            <a:ext cx="12191695" cy="292608"/>
          </a:xfrm>
          <a:prstGeom prst="rect">
            <a:avLst/>
          </a:prstGeom>
          <a:solidFill>
            <a:srgbClr val="1A3D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574536"/>
            <a:ext cx="9144000" cy="274320"/>
          </a:xfrm>
          <a:prstGeom prst="rect">
            <a:avLst/>
          </a:prstGeom>
          <a:noFill/>
        </p:spPr>
        <p:txBody>
          <a:bodyPr wrap="square" anchor="ctr" lIns="45720" rIns="45720" tIns="27432" bIns="27432">
            <a:spAutoFit/>
          </a:bodyPr>
          <a:lstStyle/>
          <a:p>
            <a:pPr algn="l">
              <a:spcAft>
                <a:spcPts val="600"/>
              </a:spcAft>
            </a:pPr>
            <a:r>
              <a:rPr sz="1000" b="0">
                <a:solidFill>
                  <a:srgbClr val="FFFFFF"/>
                </a:solidFill>
                <a:latin typeface="Calibri"/>
              </a:rPr>
              <a:t>Source: fvs-modern main 1a520f5e, validation/bakuzis_stress_v2/ and config/catalog/ (October 29, 2026)</a:t>
            </a:r>
          </a:p>
        </p:txBody>
      </p:sp>
      <p:sp>
        <p:nvSpPr>
          <p:cNvPr id="8" name="TextBox 7"/>
          <p:cNvSpPr txBox="1"/>
          <p:nvPr/>
        </p:nvSpPr>
        <p:spPr>
          <a:xfrm>
            <a:off x="11094415" y="6574536"/>
            <a:ext cx="822960" cy="274320"/>
          </a:xfrm>
          <a:prstGeom prst="rect">
            <a:avLst/>
          </a:prstGeom>
          <a:noFill/>
        </p:spPr>
        <p:txBody>
          <a:bodyPr wrap="square" anchor="ctr" lIns="45720" rIns="45720" tIns="27432" bIns="27432">
            <a:spAutoFit/>
          </a:bodyPr>
          <a:lstStyle/>
          <a:p>
            <a:pPr algn="r">
              <a:spcAft>
                <a:spcPts val="600"/>
              </a:spcAft>
            </a:pPr>
            <a:r>
              <a:rPr sz="1000" b="0">
                <a:solidFill>
                  <a:srgbClr val="C5A55A"/>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A3D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14400"/>
            <a:ext cx="12191695" cy="54864"/>
          </a:xfrm>
          <a:prstGeom prst="rect">
            <a:avLst/>
          </a:prstGeom>
          <a:solidFill>
            <a:srgbClr val="C5A5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09728"/>
            <a:ext cx="11460175" cy="731520"/>
          </a:xfrm>
          <a:prstGeom prst="rect">
            <a:avLst/>
          </a:prstGeom>
          <a:noFill/>
        </p:spPr>
        <p:txBody>
          <a:bodyPr wrap="square" anchor="ctr" lIns="45720" rIns="45720" tIns="27432" bIns="27432">
            <a:spAutoFit/>
          </a:bodyPr>
          <a:lstStyle/>
          <a:p>
            <a:pPr algn="l">
              <a:spcAft>
                <a:spcPts val="600"/>
              </a:spcAft>
            </a:pPr>
            <a:r>
              <a:rPr sz="2600" b="1">
                <a:solidFill>
                  <a:srgbClr val="FFFFFF"/>
                </a:solidFill>
                <a:latin typeface="Calibri"/>
              </a:rPr>
              <a:t>The pre-registered rule (fixed before any run was scored)</a:t>
            </a:r>
          </a:p>
        </p:txBody>
      </p:sp>
      <p:graphicFrame>
        <p:nvGraphicFramePr>
          <p:cNvPr id="5" name="Table 4"/>
          <p:cNvGraphicFramePr>
            <a:graphicFrameLocks noGrp="1"/>
          </p:cNvGraphicFramePr>
          <p:nvPr/>
        </p:nvGraphicFramePr>
        <p:xfrm>
          <a:off x="457200" y="1280160"/>
          <a:ext cx="11247120" cy="1920240"/>
        </p:xfrm>
        <a:graphic>
          <a:graphicData uri="http://schemas.openxmlformats.org/drawingml/2006/table">
            <a:tbl>
              <a:tblPr firstRow="0" bandRow="0">
                <a:tableStyleId>{5C22544A-7EE6-4342-B048-85BDC9FD1C3A}</a:tableStyleId>
              </a:tblPr>
              <a:tblGrid>
                <a:gridCol w="1645920"/>
                <a:gridCol w="5943600"/>
                <a:gridCol w="3657600"/>
              </a:tblGrid>
              <a:tr h="274320">
                <a:tc>
                  <a:txBody>
                    <a:bodyPr/>
                    <a:lstStyle/>
                    <a:p>
                      <a:pPr algn="ctr"/>
                      <a:r>
                        <a:rPr sz="1200" b="1">
                          <a:solidFill>
                            <a:srgbClr val="FFFFFF"/>
                          </a:solidFill>
                          <a:latin typeface="Calibri"/>
                        </a:rPr>
                        <a:t>Gate</a:t>
                      </a:r>
                    </a:p>
                  </a:txBody>
                  <a:tcPr marT="18288" marB="18288" anchor="ctr">
                    <a:solidFill>
                      <a:srgbClr val="1A3D28"/>
                    </a:solidFill>
                  </a:tcPr>
                </a:tc>
                <a:tc>
                  <a:txBody>
                    <a:bodyPr/>
                    <a:lstStyle/>
                    <a:p>
                      <a:pPr algn="ctr"/>
                      <a:r>
                        <a:rPr sz="1200" b="1">
                          <a:solidFill>
                            <a:srgbClr val="FFFFFF"/>
                          </a:solidFill>
                          <a:latin typeface="Calibri"/>
                        </a:rPr>
                        <a:t>Test on seed passing stands</a:t>
                      </a:r>
                    </a:p>
                  </a:txBody>
                  <a:tcPr marT="18288" marB="18288" anchor="ctr">
                    <a:solidFill>
                      <a:srgbClr val="1A3D28"/>
                    </a:solidFill>
                  </a:tcPr>
                </a:tc>
                <a:tc>
                  <a:txBody>
                    <a:bodyPr/>
                    <a:lstStyle/>
                    <a:p>
                      <a:pPr algn="ctr"/>
                      <a:r>
                        <a:rPr sz="1200" b="1">
                          <a:solidFill>
                            <a:srgbClr val="FFFFFF"/>
                          </a:solidFill>
                          <a:latin typeface="Calibri"/>
                        </a:rPr>
                        <a:t>Why it is there</a:t>
                      </a:r>
                    </a:p>
                  </a:txBody>
                  <a:tcPr marT="18288" marB="18288" anchor="ctr">
                    <a:solidFill>
                      <a:srgbClr val="1A3D28"/>
                    </a:solidFill>
                  </a:tcPr>
                </a:tc>
              </a:tr>
              <a:tr h="274320">
                <a:tc>
                  <a:txBody>
                    <a:bodyPr/>
                    <a:lstStyle/>
                    <a:p>
                      <a:pPr algn="ctr"/>
                      <a:r>
                        <a:rPr sz="1200" b="0">
                          <a:solidFill>
                            <a:srgbClr val="222222"/>
                          </a:solidFill>
                          <a:latin typeface="Calibri"/>
                        </a:rPr>
                        <a:t>Magnitude, BA</a:t>
                      </a:r>
                    </a:p>
                  </a:txBody>
                  <a:tcPr marT="18288" marB="18288" anchor="ctr">
                    <a:solidFill>
                      <a:srgbClr val="FFFFFF"/>
                    </a:solidFill>
                  </a:tcPr>
                </a:tc>
                <a:tc>
                  <a:txBody>
                    <a:bodyPr/>
                    <a:lstStyle/>
                    <a:p>
                      <a:pPr algn="ctr"/>
                      <a:r>
                        <a:rPr sz="1200" b="0">
                          <a:solidFill>
                            <a:srgbClr val="222222"/>
                          </a:solidFill>
                          <a:latin typeface="Calibri"/>
                        </a:rPr>
                        <a:t>&lt; 5 percent of stands above FIA BA p99.9 by year 50, Wilson 95 percent upper bound &lt; 10 percent</a:t>
                      </a:r>
                    </a:p>
                  </a:txBody>
                  <a:tcPr marT="18288" marB="18288" anchor="ctr">
                    <a:solidFill>
                      <a:srgbClr val="FFFFFF"/>
                    </a:solidFill>
                  </a:tcPr>
                </a:tc>
                <a:tc>
                  <a:txBody>
                    <a:bodyPr/>
                    <a:lstStyle/>
                    <a:p>
                      <a:pPr algn="ctr"/>
                      <a:r>
                        <a:rPr sz="1200" b="0">
                          <a:solidFill>
                            <a:srgbClr val="222222"/>
                          </a:solidFill>
                          <a:latin typeface="Calibri"/>
                        </a:rPr>
                        <a:t>The envelope the engine was fit to</a:t>
                      </a:r>
                    </a:p>
                  </a:txBody>
                  <a:tcPr marT="18288" marB="18288" anchor="ctr">
                    <a:solidFill>
                      <a:srgbClr val="FFFFFF"/>
                    </a:solidFill>
                  </a:tcPr>
                </a:tc>
              </a:tr>
              <a:tr h="274320">
                <a:tc>
                  <a:txBody>
                    <a:bodyPr/>
                    <a:lstStyle/>
                    <a:p>
                      <a:pPr algn="ctr"/>
                      <a:r>
                        <a:rPr sz="1200" b="0">
                          <a:solidFill>
                            <a:srgbClr val="222222"/>
                          </a:solidFill>
                          <a:latin typeface="Calibri"/>
                        </a:rPr>
                        <a:t>Magnitude, SDI</a:t>
                      </a:r>
                    </a:p>
                  </a:txBody>
                  <a:tcPr marT="18288" marB="18288" anchor="ctr">
                    <a:solidFill>
                      <a:srgbClr val="FFFFFF"/>
                    </a:solidFill>
                  </a:tcPr>
                </a:tc>
                <a:tc>
                  <a:txBody>
                    <a:bodyPr/>
                    <a:lstStyle/>
                    <a:p>
                      <a:pPr algn="ctr"/>
                      <a:r>
                        <a:rPr sz="1200" b="0">
                          <a:solidFill>
                            <a:srgbClr val="222222"/>
                          </a:solidFill>
                          <a:latin typeface="Calibri"/>
                        </a:rPr>
                        <a:t>Same for the SDI p99.9</a:t>
                      </a:r>
                    </a:p>
                  </a:txBody>
                  <a:tcPr marT="18288" marB="18288" anchor="ctr">
                    <a:solidFill>
                      <a:srgbClr val="FFFFFF"/>
                    </a:solidFill>
                  </a:tcPr>
                </a:tc>
                <a:tc>
                  <a:txBody>
                    <a:bodyPr/>
                    <a:lstStyle/>
                    <a:p>
                      <a:pPr algn="ctr"/>
                      <a:r>
                        <a:rPr sz="1200" b="0">
                          <a:solidFill>
                            <a:srgbClr val="222222"/>
                          </a:solidFill>
                          <a:latin typeface="Calibri"/>
                        </a:rPr>
                        <a:t>A second axis of the same envelope</a:t>
                      </a:r>
                    </a:p>
                  </a:txBody>
                  <a:tcPr marT="18288" marB="18288" anchor="ctr">
                    <a:solidFill>
                      <a:srgbClr val="FFFFFF"/>
                    </a:solidFill>
                  </a:tcPr>
                </a:tc>
              </a:tr>
              <a:tr h="274320">
                <a:tc>
                  <a:txBody>
                    <a:bodyPr/>
                    <a:lstStyle/>
                    <a:p>
                      <a:pPr algn="ctr"/>
                      <a:r>
                        <a:rPr sz="1200" b="0">
                          <a:solidFill>
                            <a:srgbClr val="222222"/>
                          </a:solidFill>
                          <a:latin typeface="Calibri"/>
                        </a:rPr>
                        <a:t>Reineke</a:t>
                      </a:r>
                    </a:p>
                  </a:txBody>
                  <a:tcPr marT="18288" marB="18288" anchor="ctr">
                    <a:solidFill>
                      <a:srgbClr val="FFFFFF"/>
                    </a:solidFill>
                  </a:tcPr>
                </a:tc>
                <a:tc>
                  <a:txBody>
                    <a:bodyPr/>
                    <a:lstStyle/>
                    <a:p>
                      <a:pPr algn="ctr"/>
                      <a:r>
                        <a:rPr sz="1200" b="0">
                          <a:solidFill>
                            <a:srgbClr val="222222"/>
                          </a:solidFill>
                          <a:latin typeface="Calibri"/>
                        </a:rPr>
                        <a:t>Flag rate among trajectories above relative density 0.55 under 10 percent, on at least 10 evaluated; fewer is NOT TESTED and inadmissible</a:t>
                      </a:r>
                    </a:p>
                  </a:txBody>
                  <a:tcPr marT="18288" marB="18288" anchor="ctr">
                    <a:solidFill>
                      <a:srgbClr val="FFFFFF"/>
                    </a:solidFill>
                  </a:tcPr>
                </a:tc>
                <a:tc>
                  <a:txBody>
                    <a:bodyPr/>
                    <a:lstStyle/>
                    <a:p>
                      <a:pPr algn="ctr"/>
                      <a:r>
                        <a:rPr sz="1200" b="0">
                          <a:solidFill>
                            <a:srgbClr val="222222"/>
                          </a:solidFill>
                          <a:latin typeface="Calibri"/>
                        </a:rPr>
                        <a:t>Self-thinning is the strong law</a:t>
                      </a:r>
                    </a:p>
                  </a:txBody>
                  <a:tcPr marT="18288" marB="18288" anchor="ctr">
                    <a:solidFill>
                      <a:srgbClr val="FFFFFF"/>
                    </a:solidFill>
                  </a:tcPr>
                </a:tc>
              </a:tr>
              <a:tr h="274320">
                <a:tc>
                  <a:txBody>
                    <a:bodyPr/>
                    <a:lstStyle/>
                    <a:p>
                      <a:pPr algn="ctr"/>
                      <a:r>
                        <a:rPr sz="1200" b="0">
                          <a:solidFill>
                            <a:srgbClr val="222222"/>
                          </a:solidFill>
                          <a:latin typeface="Calibri"/>
                        </a:rPr>
                        <a:t>Stocking</a:t>
                      </a:r>
                    </a:p>
                  </a:txBody>
                  <a:tcPr marT="18288" marB="18288" anchor="ctr">
                    <a:solidFill>
                      <a:srgbClr val="FFFFFF"/>
                    </a:solidFill>
                  </a:tcPr>
                </a:tc>
                <a:tc>
                  <a:txBody>
                    <a:bodyPr/>
                    <a:lstStyle/>
                    <a:p>
                      <a:pPr algn="ctr"/>
                      <a:r>
                        <a:rPr sz="1200" b="0">
                          <a:solidFill>
                            <a:srgbClr val="222222"/>
                          </a:solidFill>
                          <a:latin typeface="Calibri"/>
                        </a:rPr>
                        <a:t>Median year 50 BA at or above FIA p50</a:t>
                      </a:r>
                    </a:p>
                  </a:txBody>
                  <a:tcPr marT="18288" marB="18288" anchor="ctr">
                    <a:solidFill>
                      <a:srgbClr val="FFFFFF"/>
                    </a:solidFill>
                  </a:tcPr>
                </a:tc>
                <a:tc>
                  <a:txBody>
                    <a:bodyPr/>
                    <a:lstStyle/>
                    <a:p>
                      <a:pPr algn="ctr"/>
                      <a:r>
                        <a:rPr sz="1200" b="0">
                          <a:solidFill>
                            <a:srgbClr val="222222"/>
                          </a:solidFill>
                          <a:latin typeface="Calibri"/>
                        </a:rPr>
                        <a:t>Catches an arm that passes the ceilings by killing the stand</a:t>
                      </a:r>
                    </a:p>
                  </a:txBody>
                  <a:tcPr marT="18288" marB="18288" anchor="ctr">
                    <a:solidFill>
                      <a:srgbClr val="FFFFFF"/>
                    </a:solidFill>
                  </a:tcPr>
                </a:tc>
              </a:tr>
              <a:tr h="274320">
                <a:tc>
                  <a:txBody>
                    <a:bodyPr/>
                    <a:lstStyle/>
                    <a:p>
                      <a:pPr algn="ctr"/>
                      <a:r>
                        <a:rPr sz="1200" b="0">
                          <a:solidFill>
                            <a:srgbClr val="222222"/>
                          </a:solidFill>
                          <a:latin typeface="Calibri"/>
                        </a:rPr>
                        <a:t>Distinct</a:t>
                      </a:r>
                    </a:p>
                  </a:txBody>
                  <a:tcPr marT="18288" marB="18288" anchor="ctr">
                    <a:solidFill>
                      <a:srgbClr val="FFFFFF"/>
                    </a:solidFill>
                  </a:tcPr>
                </a:tc>
                <a:tc>
                  <a:txBody>
                    <a:bodyPr/>
                    <a:lstStyle/>
                    <a:p>
                      <a:pPr algn="ctr"/>
                      <a:r>
                        <a:rPr sz="1200" b="0">
                          <a:solidFill>
                            <a:srgbClr val="222222"/>
                          </a:solidFill>
                          <a:latin typeface="Calibri"/>
                        </a:rPr>
                        <a:t>Calibrated trajectories differ from default</a:t>
                      </a:r>
                    </a:p>
                  </a:txBody>
                  <a:tcPr marT="18288" marB="18288" anchor="ctr">
                    <a:solidFill>
                      <a:srgbClr val="FFFFFF"/>
                    </a:solidFill>
                  </a:tcPr>
                </a:tc>
                <a:tc>
                  <a:txBody>
                    <a:bodyPr/>
                    <a:lstStyle/>
                    <a:p>
                      <a:pPr algn="ctr"/>
                      <a:r>
                        <a:rPr sz="1200" b="0">
                          <a:solidFill>
                            <a:srgbClr val="222222"/>
                          </a:solidFill>
                          <a:latin typeface="Calibri"/>
                        </a:rPr>
                        <a:t>Caught ACD and IE, whose calibrated block never loaded</a:t>
                      </a:r>
                    </a:p>
                  </a:txBody>
                  <a:tcPr marT="18288" marB="18288" anchor="ctr">
                    <a:solidFill>
                      <a:srgbClr val="FFFFFF"/>
                    </a:solidFill>
                  </a:tcPr>
                </a:tc>
              </a:tr>
              <a:tr h="274320">
                <a:tc>
                  <a:txBody>
                    <a:bodyPr/>
                    <a:lstStyle/>
                    <a:p>
                      <a:pPr algn="ctr"/>
                      <a:r>
                        <a:rPr sz="1200" b="0">
                          <a:solidFill>
                            <a:srgbClr val="222222"/>
                          </a:solidFill>
                          <a:latin typeface="Calibri"/>
                        </a:rPr>
                        <a:t>Choice</a:t>
                      </a:r>
                    </a:p>
                  </a:txBody>
                  <a:tcPr marT="18288" marB="18288" anchor="ctr">
                    <a:solidFill>
                      <a:srgbClr val="FFFFFF"/>
                    </a:solidFill>
                  </a:tcPr>
                </a:tc>
                <a:tc>
                  <a:txBody>
                    <a:bodyPr/>
                    <a:lstStyle/>
                    <a:p>
                      <a:pPr algn="ctr"/>
                      <a:r>
                        <a:rPr sz="1200" b="0">
                          <a:solidFill>
                            <a:srgbClr val="222222"/>
                          </a:solidFill>
                          <a:latin typeface="Calibri"/>
                        </a:rPr>
                        <a:t>Simplest admissible arm (default before calibrated, native before GOMPIT); NE prefers GOMPIT on the Paper 2 near term cohort</a:t>
                      </a:r>
                    </a:p>
                  </a:txBody>
                  <a:tcPr marT="18288" marB="18288" anchor="ctr">
                    <a:solidFill>
                      <a:srgbClr val="FFFFFF"/>
                    </a:solidFill>
                  </a:tcPr>
                </a:tc>
                <a:tc>
                  <a:txBody>
                    <a:bodyPr/>
                    <a:lstStyle/>
                    <a:p>
                      <a:pPr algn="ctr"/>
                      <a:r>
                        <a:rPr sz="1200" b="0">
                          <a:solidFill>
                            <a:srgbClr val="222222"/>
                          </a:solidFill>
                          <a:latin typeface="Calibri"/>
                        </a:rPr>
                        <a:t>Simplicity is the only tie break outside NE</a:t>
                      </a:r>
                    </a:p>
                  </a:txBody>
                  <a:tcPr marT="18288" marB="18288" anchor="ctr">
                    <a:solidFill>
                      <a:srgbClr val="FFFFFF"/>
                    </a:solidFill>
                  </a:tcPr>
                </a:tc>
              </a:tr>
            </a:tbl>
          </a:graphicData>
        </a:graphic>
      </p:graphicFrame>
      <p:sp>
        <p:nvSpPr>
          <p:cNvPr id="6" name="TextBox 5"/>
          <p:cNvSpPr txBox="1"/>
          <p:nvPr/>
        </p:nvSpPr>
        <p:spPr>
          <a:xfrm>
            <a:off x="457200" y="5120640"/>
            <a:ext cx="11247120" cy="1097280"/>
          </a:xfrm>
          <a:prstGeom prst="rect">
            <a:avLst/>
          </a:prstGeom>
          <a:noFill/>
        </p:spPr>
        <p:txBody>
          <a:bodyPr wrap="square" anchor="t" lIns="45720" rIns="45720" tIns="27432" bIns="27432">
            <a:spAutoFit/>
          </a:bodyPr>
          <a:lstStyle/>
          <a:p>
            <a:pPr algn="l">
              <a:spcAft>
                <a:spcPts val="600"/>
              </a:spcAft>
            </a:pPr>
            <a:r>
              <a:rPr sz="1300" b="0">
                <a:solidFill>
                  <a:srgbClr val="6B706A"/>
                </a:solidFill>
                <a:latin typeface="Calibri"/>
              </a:rPr>
              <a:t>Alternative Reineke gate (Wilson upper bound &lt; 25 percent on at least 30 evaluated) is carried beside the primary rule in the gate table and flags eight rule sensitive variants. The catalog ships under the primary rule (decision of October 29, 2026) because the alternative admits western arms by declining to test their self-thinning.</a:t>
            </a:r>
          </a:p>
        </p:txBody>
      </p:sp>
      <p:sp>
        <p:nvSpPr>
          <p:cNvPr id="7" name="Rectangle 6"/>
          <p:cNvSpPr/>
          <p:nvPr/>
        </p:nvSpPr>
        <p:spPr>
          <a:xfrm>
            <a:off x="0" y="6565392"/>
            <a:ext cx="12191695" cy="292608"/>
          </a:xfrm>
          <a:prstGeom prst="rect">
            <a:avLst/>
          </a:prstGeom>
          <a:solidFill>
            <a:srgbClr val="1A3D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6574536"/>
            <a:ext cx="9144000" cy="274320"/>
          </a:xfrm>
          <a:prstGeom prst="rect">
            <a:avLst/>
          </a:prstGeom>
          <a:noFill/>
        </p:spPr>
        <p:txBody>
          <a:bodyPr wrap="square" anchor="ctr" lIns="45720" rIns="45720" tIns="27432" bIns="27432">
            <a:spAutoFit/>
          </a:bodyPr>
          <a:lstStyle/>
          <a:p>
            <a:pPr algn="l">
              <a:spcAft>
                <a:spcPts val="600"/>
              </a:spcAft>
            </a:pPr>
            <a:r>
              <a:rPr sz="1000" b="0">
                <a:solidFill>
                  <a:srgbClr val="FFFFFF"/>
                </a:solidFill>
                <a:latin typeface="Calibri"/>
              </a:rPr>
              <a:t>Source: fvs-modern main 1a520f5e, validation/bakuzis_stress_v2/ and config/catalog/ (October 29, 2026)</a:t>
            </a:r>
          </a:p>
        </p:txBody>
      </p:sp>
      <p:sp>
        <p:nvSpPr>
          <p:cNvPr id="9" name="TextBox 8"/>
          <p:cNvSpPr txBox="1"/>
          <p:nvPr/>
        </p:nvSpPr>
        <p:spPr>
          <a:xfrm>
            <a:off x="11094415" y="6574536"/>
            <a:ext cx="822960" cy="274320"/>
          </a:xfrm>
          <a:prstGeom prst="rect">
            <a:avLst/>
          </a:prstGeom>
          <a:noFill/>
        </p:spPr>
        <p:txBody>
          <a:bodyPr wrap="square" anchor="ctr" lIns="45720" rIns="45720" tIns="27432" bIns="27432">
            <a:spAutoFit/>
          </a:bodyPr>
          <a:lstStyle/>
          <a:p>
            <a:pPr algn="r">
              <a:spcAft>
                <a:spcPts val="600"/>
              </a:spcAft>
            </a:pPr>
            <a:r>
              <a:rPr sz="1000" b="0">
                <a:solidFill>
                  <a:srgbClr val="C5A55A"/>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A3D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14400"/>
            <a:ext cx="12191695" cy="54864"/>
          </a:xfrm>
          <a:prstGeom prst="rect">
            <a:avLst/>
          </a:prstGeom>
          <a:solidFill>
            <a:srgbClr val="C5A5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09728"/>
            <a:ext cx="11460175" cy="731520"/>
          </a:xfrm>
          <a:prstGeom prst="rect">
            <a:avLst/>
          </a:prstGeom>
          <a:noFill/>
        </p:spPr>
        <p:txBody>
          <a:bodyPr wrap="square" anchor="ctr" lIns="45720" rIns="45720" tIns="27432" bIns="27432">
            <a:spAutoFit/>
          </a:bodyPr>
          <a:lstStyle/>
          <a:p>
            <a:pPr algn="l">
              <a:spcAft>
                <a:spcPts val="600"/>
              </a:spcAft>
            </a:pPr>
            <a:r>
              <a:rPr sz="2600" b="1">
                <a:solidFill>
                  <a:srgbClr val="FFFFFF"/>
                </a:solidFill>
                <a:latin typeface="Calibri"/>
              </a:rPr>
              <a:t>What the blind red team changed before the catalog shipped</a:t>
            </a:r>
          </a:p>
        </p:txBody>
      </p:sp>
      <p:sp>
        <p:nvSpPr>
          <p:cNvPr id="5" name="TextBox 4"/>
          <p:cNvSpPr txBox="1"/>
          <p:nvPr/>
        </p:nvSpPr>
        <p:spPr>
          <a:xfrm>
            <a:off x="457200" y="1280160"/>
            <a:ext cx="11247120" cy="4572000"/>
          </a:xfrm>
          <a:prstGeom prst="rect">
            <a:avLst/>
          </a:prstGeom>
          <a:noFill/>
        </p:spPr>
        <p:txBody>
          <a:bodyPr wrap="square">
            <a:spAutoFit/>
          </a:bodyPr>
          <a:lstStyle/>
          <a:p>
            <a:pPr>
              <a:spcAft>
                <a:spcPts val="800"/>
              </a:spcAft>
            </a:pPr>
            <a:r>
              <a:rPr sz="1500">
                <a:solidFill>
                  <a:srgbClr val="222222"/>
                </a:solidFill>
                <a:latin typeface="Calibri"/>
              </a:rPr>
              <a:t>▪  Plan review, seven confirmed defects folded in: one common stand sample per variant, a 50 year primary horizon with Wilson bounds, an under stocking lower bound, one shared variant assignment, projector GOMPIT confirmed R side.</a:t>
            </a:r>
          </a:p>
          <a:p>
            <a:pPr>
              <a:spcAft>
                <a:spcPts val="800"/>
              </a:spcAft>
            </a:pPr>
            <a:r>
              <a:rPr sz="1500">
                <a:solidFill>
                  <a:srgbClr val="222222"/>
                </a:solidFill>
                <a:latin typeface="Calibri"/>
              </a:rPr>
              <a:t>▪  Output review of the first catalog (PR 120), four defects that each made the gates easier than the README claimed; regenerated rather than patched:</a:t>
            </a:r>
          </a:p>
          <a:p>
            <a:pPr>
              <a:spcAft>
                <a:spcPts val="800"/>
              </a:spcAft>
            </a:pPr>
            <a:r>
              <a:rPr sz="1500">
                <a:solidFill>
                  <a:srgbClr val="222222"/>
                </a:solidFill>
                <a:latin typeface="Calibri"/>
              </a:rPr>
              <a:t>▪      the under stocking bound used the 100 year peak, which includes year 0 and could not fail; now the median year 50 BA against the p50</a:t>
            </a:r>
          </a:p>
          <a:p>
            <a:pPr>
              <a:spcAft>
                <a:spcPts val="800"/>
              </a:spcAft>
            </a:pPr>
            <a:r>
              <a:rPr sz="1500">
                <a:solidFill>
                  <a:srgbClr val="222222"/>
                </a:solidFill>
                <a:latin typeface="Calibri"/>
              </a:rPr>
              <a:t>▪      a Reineke gate with under 10 evaluated trajectories passed as NA; now NOT TESTED (this removed TT default GOMPIT, which had been RECOMMENDED on 5 trajectories)</a:t>
            </a:r>
          </a:p>
          <a:p>
            <a:pPr>
              <a:spcAft>
                <a:spcPts val="800"/>
              </a:spcAft>
            </a:pPr>
            <a:r>
              <a:rPr sz="1500">
                <a:solidFill>
                  <a:srgbClr val="222222"/>
                </a:solidFill>
                <a:latin typeface="Calibri"/>
              </a:rPr>
              <a:t>▪      stands failing the year 0 gate were scored; now excluded, with the Reineke counts on the same stands</a:t>
            </a:r>
          </a:p>
          <a:p>
            <a:pPr>
              <a:spcAft>
                <a:spcPts val="800"/>
              </a:spcAft>
            </a:pPr>
            <a:r>
              <a:rPr sz="1500">
                <a:solidFill>
                  <a:srgbClr val="222222"/>
                </a:solidFill>
                <a:latin typeface="Calibri"/>
              </a:rPr>
              <a:t>▪      ACD and IE calibrated arms equalled default: the keyword loader raised on their per species BAMAX array; loader fixed, both rerun, a distinctness check added everywhere</a:t>
            </a:r>
          </a:p>
          <a:p>
            <a:pPr>
              <a:spcAft>
                <a:spcPts val="800"/>
              </a:spcAft>
            </a:pPr>
            <a:r>
              <a:rPr sz="1500">
                <a:solidFill>
                  <a:srgbClr val="222222"/>
                </a:solidFill>
                <a:latin typeface="Calibri"/>
              </a:rPr>
              <a:t>▪  The same review explained the seeding failures carried since Section 14: partial conditions expanded per plot acre (the exact 0.75), and an all plot fallback in the runner. Both gone.</a:t>
            </a:r>
          </a:p>
        </p:txBody>
      </p:sp>
      <p:sp>
        <p:nvSpPr>
          <p:cNvPr id="6" name="Rectangle 5"/>
          <p:cNvSpPr/>
          <p:nvPr/>
        </p:nvSpPr>
        <p:spPr>
          <a:xfrm>
            <a:off x="0" y="6565392"/>
            <a:ext cx="12191695" cy="292608"/>
          </a:xfrm>
          <a:prstGeom prst="rect">
            <a:avLst/>
          </a:prstGeom>
          <a:solidFill>
            <a:srgbClr val="1A3D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574536"/>
            <a:ext cx="9144000" cy="274320"/>
          </a:xfrm>
          <a:prstGeom prst="rect">
            <a:avLst/>
          </a:prstGeom>
          <a:noFill/>
        </p:spPr>
        <p:txBody>
          <a:bodyPr wrap="square" anchor="ctr" lIns="45720" rIns="45720" tIns="27432" bIns="27432">
            <a:spAutoFit/>
          </a:bodyPr>
          <a:lstStyle/>
          <a:p>
            <a:pPr algn="l">
              <a:spcAft>
                <a:spcPts val="600"/>
              </a:spcAft>
            </a:pPr>
            <a:r>
              <a:rPr sz="1000" b="0">
                <a:solidFill>
                  <a:srgbClr val="FFFFFF"/>
                </a:solidFill>
                <a:latin typeface="Calibri"/>
              </a:rPr>
              <a:t>Source: fvs-modern main 1a520f5e, validation/bakuzis_stress_v2/ and config/catalog/ (October 29, 2026)</a:t>
            </a:r>
          </a:p>
        </p:txBody>
      </p:sp>
      <p:sp>
        <p:nvSpPr>
          <p:cNvPr id="8" name="TextBox 7"/>
          <p:cNvSpPr txBox="1"/>
          <p:nvPr/>
        </p:nvSpPr>
        <p:spPr>
          <a:xfrm>
            <a:off x="11094415" y="6574536"/>
            <a:ext cx="822960" cy="274320"/>
          </a:xfrm>
          <a:prstGeom prst="rect">
            <a:avLst/>
          </a:prstGeom>
          <a:noFill/>
        </p:spPr>
        <p:txBody>
          <a:bodyPr wrap="square" anchor="ctr" lIns="45720" rIns="45720" tIns="27432" bIns="27432">
            <a:spAutoFit/>
          </a:bodyPr>
          <a:lstStyle/>
          <a:p>
            <a:pPr algn="r">
              <a:spcAft>
                <a:spcPts val="600"/>
              </a:spcAft>
            </a:pPr>
            <a:r>
              <a:rPr sz="1000" b="0">
                <a:solidFill>
                  <a:srgbClr val="C5A55A"/>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A3D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14400"/>
            <a:ext cx="12191695" cy="54864"/>
          </a:xfrm>
          <a:prstGeom prst="rect">
            <a:avLst/>
          </a:prstGeom>
          <a:solidFill>
            <a:srgbClr val="C5A5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09728"/>
            <a:ext cx="11460175" cy="731520"/>
          </a:xfrm>
          <a:prstGeom prst="rect">
            <a:avLst/>
          </a:prstGeom>
          <a:noFill/>
        </p:spPr>
        <p:txBody>
          <a:bodyPr wrap="square" anchor="ctr" lIns="45720" rIns="45720" tIns="27432" bIns="27432">
            <a:spAutoFit/>
          </a:bodyPr>
          <a:lstStyle/>
          <a:p>
            <a:pPr algn="l">
              <a:spcAft>
                <a:spcPts val="600"/>
              </a:spcAft>
            </a:pPr>
            <a:r>
              <a:rPr sz="2600" b="1">
                <a:solidFill>
                  <a:srgbClr val="FFFFFF"/>
                </a:solidFill>
                <a:latin typeface="Calibri"/>
              </a:rPr>
              <a:t>Seven variants have an admissible fvs-modern arm, eleven do not</a:t>
            </a:r>
          </a:p>
        </p:txBody>
      </p:sp>
      <p:pic>
        <p:nvPicPr>
          <p:cNvPr id="5" name="Picture 4" descr="fig_variant_stability.png"/>
          <p:cNvPicPr>
            <a:picLocks noChangeAspect="1"/>
          </p:cNvPicPr>
          <p:nvPr/>
        </p:nvPicPr>
        <p:blipFill>
          <a:blip r:embed="rId2"/>
          <a:stretch>
            <a:fillRect/>
          </a:stretch>
        </p:blipFill>
        <p:spPr>
          <a:xfrm>
            <a:off x="365760" y="1143000"/>
            <a:ext cx="7680960" cy="3264408"/>
          </a:xfrm>
          <a:prstGeom prst="rect">
            <a:avLst/>
          </a:prstGeom>
        </p:spPr>
      </p:pic>
      <p:sp>
        <p:nvSpPr>
          <p:cNvPr id="6" name="TextBox 5"/>
          <p:cNvSpPr txBox="1"/>
          <p:nvPr/>
        </p:nvSpPr>
        <p:spPr>
          <a:xfrm>
            <a:off x="8229600" y="1188720"/>
            <a:ext cx="3657600" cy="5029200"/>
          </a:xfrm>
          <a:prstGeom prst="rect">
            <a:avLst/>
          </a:prstGeom>
          <a:noFill/>
        </p:spPr>
        <p:txBody>
          <a:bodyPr wrap="square">
            <a:spAutoFit/>
          </a:bodyPr>
          <a:lstStyle/>
          <a:p>
            <a:pPr>
              <a:spcAft>
                <a:spcPts val="800"/>
              </a:spcAft>
            </a:pPr>
            <a:r>
              <a:rPr sz="1300">
                <a:solidFill>
                  <a:srgbClr val="222222"/>
                </a:solidFill>
                <a:latin typeface="Calibri"/>
              </a:rPr>
              <a:t>▪  RECOMMENDED: ACD, BM, CS, NE, SN (all four arms), LS (calibrated arms), WS (calibrated native).</a:t>
            </a:r>
          </a:p>
          <a:p>
            <a:pPr>
              <a:spcAft>
                <a:spcPts val="800"/>
              </a:spcAft>
            </a:pPr>
            <a:r>
              <a:rPr sz="1300">
                <a:solidFill>
                  <a:srgbClr val="222222"/>
                </a:solidFill>
                <a:latin typeface="Calibri"/>
              </a:rPr>
              <a:t>▪  NOT RECOMMENDED: CA, CI, CR, EC, EM, IE, PN, SO, TT, UT, WC. In eight of them every arm passes magnitude and stocking and fails on Reineke alone.</a:t>
            </a:r>
          </a:p>
          <a:p>
            <a:pPr>
              <a:spcAft>
                <a:spcPts val="800"/>
              </a:spcAft>
            </a:pPr>
            <a:r>
              <a:rPr sz="1300">
                <a:solidFill>
                  <a:srgbClr val="222222"/>
                </a:solidFill>
                <a:latin typeface="Calibri"/>
              </a:rPr>
              <a:t>▪  Magnitude passes almost everywhere: BA p99.9 exceedance at or below 1.7 percent in 14 of 18 variants, SDI never above 4.7 percent, lower bound passes in every arm.</a:t>
            </a:r>
          </a:p>
          <a:p>
            <a:pPr>
              <a:spcAft>
                <a:spcPts val="800"/>
              </a:spcAft>
            </a:pPr>
            <a:r>
              <a:rPr sz="1300">
                <a:solidFill>
                  <a:srgbClr val="222222"/>
                </a:solidFill>
                <a:latin typeface="Calibri"/>
              </a:rPr>
              <a:t>▪  AK and NC: no fitting plots, NOT EVALUATED.</a:t>
            </a:r>
          </a:p>
        </p:txBody>
      </p:sp>
      <p:sp>
        <p:nvSpPr>
          <p:cNvPr id="7" name="TextBox 6"/>
          <p:cNvSpPr txBox="1"/>
          <p:nvPr/>
        </p:nvSpPr>
        <p:spPr>
          <a:xfrm>
            <a:off x="365760" y="4526280"/>
            <a:ext cx="7680960" cy="457200"/>
          </a:xfrm>
          <a:prstGeom prst="rect">
            <a:avLst/>
          </a:prstGeom>
          <a:noFill/>
        </p:spPr>
        <p:txBody>
          <a:bodyPr wrap="square" anchor="t" lIns="45720" rIns="45720" tIns="27432" bIns="27432">
            <a:spAutoFit/>
          </a:bodyPr>
          <a:lstStyle/>
          <a:p>
            <a:pPr algn="l">
              <a:spcAft>
                <a:spcPts val="600"/>
              </a:spcAft>
            </a:pPr>
            <a:r>
              <a:rPr sz="1100" b="0">
                <a:solidFill>
                  <a:srgbClr val="6B706A"/>
                </a:solidFill>
                <a:latin typeface="Calibri"/>
              </a:rPr>
              <a:t>Bars: probability of at least one admissible engine arm over 500 stand bootstraps. Points: share of 144 alternative rule cells. Data: stress_by_variant.csv.</a:t>
            </a:r>
          </a:p>
        </p:txBody>
      </p:sp>
      <p:sp>
        <p:nvSpPr>
          <p:cNvPr id="8" name="Rectangle 7"/>
          <p:cNvSpPr/>
          <p:nvPr/>
        </p:nvSpPr>
        <p:spPr>
          <a:xfrm>
            <a:off x="0" y="6565392"/>
            <a:ext cx="12191695" cy="292608"/>
          </a:xfrm>
          <a:prstGeom prst="rect">
            <a:avLst/>
          </a:prstGeom>
          <a:solidFill>
            <a:srgbClr val="1A3D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6574536"/>
            <a:ext cx="9144000" cy="274320"/>
          </a:xfrm>
          <a:prstGeom prst="rect">
            <a:avLst/>
          </a:prstGeom>
          <a:noFill/>
        </p:spPr>
        <p:txBody>
          <a:bodyPr wrap="square" anchor="ctr" lIns="45720" rIns="45720" tIns="27432" bIns="27432">
            <a:spAutoFit/>
          </a:bodyPr>
          <a:lstStyle/>
          <a:p>
            <a:pPr algn="l">
              <a:spcAft>
                <a:spcPts val="600"/>
              </a:spcAft>
            </a:pPr>
            <a:r>
              <a:rPr sz="1000" b="0">
                <a:solidFill>
                  <a:srgbClr val="FFFFFF"/>
                </a:solidFill>
                <a:latin typeface="Calibri"/>
              </a:rPr>
              <a:t>Source: fvs-modern main 1a520f5e, validation/bakuzis_stress_v2/ and config/catalog/ (October 29, 2026)</a:t>
            </a:r>
          </a:p>
        </p:txBody>
      </p:sp>
      <p:sp>
        <p:nvSpPr>
          <p:cNvPr id="10" name="TextBox 9"/>
          <p:cNvSpPr txBox="1"/>
          <p:nvPr/>
        </p:nvSpPr>
        <p:spPr>
          <a:xfrm>
            <a:off x="11094415" y="6574536"/>
            <a:ext cx="822960" cy="274320"/>
          </a:xfrm>
          <a:prstGeom prst="rect">
            <a:avLst/>
          </a:prstGeom>
          <a:noFill/>
        </p:spPr>
        <p:txBody>
          <a:bodyPr wrap="square" anchor="ctr" lIns="45720" rIns="45720" tIns="27432" bIns="27432">
            <a:spAutoFit/>
          </a:bodyPr>
          <a:lstStyle/>
          <a:p>
            <a:pPr algn="r">
              <a:spcAft>
                <a:spcPts val="600"/>
              </a:spcAft>
            </a:pPr>
            <a:r>
              <a:rPr sz="1000" b="0">
                <a:solidFill>
                  <a:srgbClr val="C5A55A"/>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A3D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14400"/>
            <a:ext cx="12191695" cy="54864"/>
          </a:xfrm>
          <a:prstGeom prst="rect">
            <a:avLst/>
          </a:prstGeom>
          <a:solidFill>
            <a:srgbClr val="C5A5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09728"/>
            <a:ext cx="11460175" cy="731520"/>
          </a:xfrm>
          <a:prstGeom prst="rect">
            <a:avLst/>
          </a:prstGeom>
          <a:noFill/>
        </p:spPr>
        <p:txBody>
          <a:bodyPr wrap="square" anchor="ctr" lIns="45720" rIns="45720" tIns="27432" bIns="27432">
            <a:spAutoFit/>
          </a:bodyPr>
          <a:lstStyle/>
          <a:p>
            <a:pPr algn="l">
              <a:spcAft>
                <a:spcPts val="600"/>
              </a:spcAft>
            </a:pPr>
            <a:r>
              <a:rPr sz="2600" b="1">
                <a:solidFill>
                  <a:srgbClr val="FFFFFF"/>
                </a:solidFill>
                <a:latin typeface="Calibri"/>
              </a:rPr>
              <a:t>The two gates that decide: 72 engine arms in one plane</a:t>
            </a:r>
          </a:p>
        </p:txBody>
      </p:sp>
      <p:pic>
        <p:nvPicPr>
          <p:cNvPr id="5" name="Picture 4" descr="fig_gate_space.png"/>
          <p:cNvPicPr>
            <a:picLocks noChangeAspect="1"/>
          </p:cNvPicPr>
          <p:nvPr/>
        </p:nvPicPr>
        <p:blipFill>
          <a:blip r:embed="rId2"/>
          <a:stretch>
            <a:fillRect/>
          </a:stretch>
        </p:blipFill>
        <p:spPr>
          <a:xfrm>
            <a:off x="457200" y="1097280"/>
            <a:ext cx="5995283" cy="5303520"/>
          </a:xfrm>
          <a:prstGeom prst="rect">
            <a:avLst/>
          </a:prstGeom>
        </p:spPr>
      </p:pic>
      <p:sp>
        <p:nvSpPr>
          <p:cNvPr id="6" name="TextBox 5"/>
          <p:cNvSpPr txBox="1"/>
          <p:nvPr/>
        </p:nvSpPr>
        <p:spPr>
          <a:xfrm>
            <a:off x="6766560" y="1280160"/>
            <a:ext cx="5120640" cy="5029200"/>
          </a:xfrm>
          <a:prstGeom prst="rect">
            <a:avLst/>
          </a:prstGeom>
          <a:noFill/>
        </p:spPr>
        <p:txBody>
          <a:bodyPr wrap="square">
            <a:spAutoFit/>
          </a:bodyPr>
          <a:lstStyle/>
          <a:p>
            <a:pPr>
              <a:spcAft>
                <a:spcPts val="800"/>
              </a:spcAft>
            </a:pPr>
            <a:r>
              <a:rPr sz="1300">
                <a:solidFill>
                  <a:srgbClr val="222222"/>
                </a:solidFill>
                <a:latin typeface="Calibri"/>
              </a:rPr>
              <a:t>▪  Green symbols are admissible. Nearly every arm sits under the 5 percent magnitude line; the Reineke axis sorts them.</a:t>
            </a:r>
          </a:p>
          <a:p>
            <a:pPr>
              <a:spcAft>
                <a:spcPts val="800"/>
              </a:spcAft>
            </a:pPr>
            <a:r>
              <a:rPr sz="1300">
                <a:solidFill>
                  <a:srgbClr val="222222"/>
                </a:solidFill>
                <a:latin typeface="Calibri"/>
              </a:rPr>
              <a:t>▪  Exceptions on magnitude: EM native (22 and 10 percent) and EM default GOMPIT (8), LS default (14 and 10), WC native (11 and 9), PN native (34 and 32 on 38 stands).</a:t>
            </a:r>
          </a:p>
          <a:p>
            <a:pPr>
              <a:spcAft>
                <a:spcPts val="800"/>
              </a:spcAft>
            </a:pPr>
            <a:r>
              <a:rPr sz="1300">
                <a:solidFill>
                  <a:srgbClr val="222222"/>
                </a:solidFill>
                <a:latin typeface="Calibri"/>
              </a:rPr>
              <a:t>▪  Reineke failures come in two forms: default native arms that do not self-thin (CA, TT, UT, WC, EM, CR: median slopes -0.83 to -1.46, flag rates 27 to 84 percent), and calibrated GOMPIT arms whose median slope is right (-1.59 to -1.90) but dispersed (17 to 41 percent flagged).</a:t>
            </a:r>
          </a:p>
          <a:p>
            <a:pPr>
              <a:spcAft>
                <a:spcPts val="800"/>
              </a:spcAft>
            </a:pPr>
            <a:r>
              <a:rPr sz="1300">
                <a:solidFill>
                  <a:srgbClr val="222222"/>
                </a:solidFill>
                <a:latin typeface="Calibri"/>
              </a:rPr>
              <a:t>▪  Western samples are thin on the self-thinning limb: 18 to 202 density gated trajectories per variant; SO rests on 17 to 18, TT on 7 to 31.</a:t>
            </a:r>
          </a:p>
        </p:txBody>
      </p:sp>
      <p:sp>
        <p:nvSpPr>
          <p:cNvPr id="7" name="Rectangle 6"/>
          <p:cNvSpPr/>
          <p:nvPr/>
        </p:nvSpPr>
        <p:spPr>
          <a:xfrm>
            <a:off x="0" y="6565392"/>
            <a:ext cx="12191695" cy="292608"/>
          </a:xfrm>
          <a:prstGeom prst="rect">
            <a:avLst/>
          </a:prstGeom>
          <a:solidFill>
            <a:srgbClr val="1A3D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6574536"/>
            <a:ext cx="9144000" cy="274320"/>
          </a:xfrm>
          <a:prstGeom prst="rect">
            <a:avLst/>
          </a:prstGeom>
          <a:noFill/>
        </p:spPr>
        <p:txBody>
          <a:bodyPr wrap="square" anchor="ctr" lIns="45720" rIns="45720" tIns="27432" bIns="27432">
            <a:spAutoFit/>
          </a:bodyPr>
          <a:lstStyle/>
          <a:p>
            <a:pPr algn="l">
              <a:spcAft>
                <a:spcPts val="600"/>
              </a:spcAft>
            </a:pPr>
            <a:r>
              <a:rPr sz="1000" b="0">
                <a:solidFill>
                  <a:srgbClr val="FFFFFF"/>
                </a:solidFill>
                <a:latin typeface="Calibri"/>
              </a:rPr>
              <a:t>Source: fvs-modern main 1a520f5e, validation/bakuzis_stress_v2/ and config/catalog/ (October 29, 2026); catalog_gates_by_arm.csv</a:t>
            </a:r>
          </a:p>
        </p:txBody>
      </p:sp>
      <p:sp>
        <p:nvSpPr>
          <p:cNvPr id="9" name="TextBox 8"/>
          <p:cNvSpPr txBox="1"/>
          <p:nvPr/>
        </p:nvSpPr>
        <p:spPr>
          <a:xfrm>
            <a:off x="11094415" y="6574536"/>
            <a:ext cx="822960" cy="274320"/>
          </a:xfrm>
          <a:prstGeom prst="rect">
            <a:avLst/>
          </a:prstGeom>
          <a:noFill/>
        </p:spPr>
        <p:txBody>
          <a:bodyPr wrap="square" anchor="ctr" lIns="45720" rIns="45720" tIns="27432" bIns="27432">
            <a:spAutoFit/>
          </a:bodyPr>
          <a:lstStyle/>
          <a:p>
            <a:pPr algn="r">
              <a:spcAft>
                <a:spcPts val="600"/>
              </a:spcAft>
            </a:pPr>
            <a:r>
              <a:rPr sz="1000" b="0">
                <a:solidFill>
                  <a:srgbClr val="C5A55A"/>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A3D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14400"/>
            <a:ext cx="12191695" cy="54864"/>
          </a:xfrm>
          <a:prstGeom prst="rect">
            <a:avLst/>
          </a:prstGeom>
          <a:solidFill>
            <a:srgbClr val="C5A5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09728"/>
            <a:ext cx="11460175" cy="731520"/>
          </a:xfrm>
          <a:prstGeom prst="rect">
            <a:avLst/>
          </a:prstGeom>
          <a:noFill/>
        </p:spPr>
        <p:txBody>
          <a:bodyPr wrap="square" anchor="ctr" lIns="45720" rIns="45720" tIns="27432" bIns="27432">
            <a:spAutoFit/>
          </a:bodyPr>
          <a:lstStyle/>
          <a:p>
            <a:pPr algn="l">
              <a:spcAft>
                <a:spcPts val="600"/>
              </a:spcAft>
            </a:pPr>
            <a:r>
              <a:rPr sz="2600" b="1">
                <a:solidFill>
                  <a:srgbClr val="FFFFFF"/>
                </a:solidFill>
                <a:latin typeface="Calibri"/>
              </a:rPr>
              <a:t>Self-thinning limb by variant, default native arm</a:t>
            </a:r>
          </a:p>
        </p:txBody>
      </p:sp>
      <p:pic>
        <p:nvPicPr>
          <p:cNvPr id="5" name="Picture 4" descr="scorecard_20261029_default_native_selfthinning.png"/>
          <p:cNvPicPr>
            <a:picLocks noChangeAspect="1"/>
          </p:cNvPicPr>
          <p:nvPr/>
        </p:nvPicPr>
        <p:blipFill>
          <a:blip r:embed="rId2"/>
          <a:stretch>
            <a:fillRect/>
          </a:stretch>
        </p:blipFill>
        <p:spPr>
          <a:xfrm>
            <a:off x="822960" y="1051560"/>
            <a:ext cx="6936377" cy="5394960"/>
          </a:xfrm>
          <a:prstGeom prst="rect">
            <a:avLst/>
          </a:prstGeom>
        </p:spPr>
      </p:pic>
      <p:sp>
        <p:nvSpPr>
          <p:cNvPr id="6" name="TextBox 5"/>
          <p:cNvSpPr txBox="1"/>
          <p:nvPr/>
        </p:nvSpPr>
        <p:spPr>
          <a:xfrm>
            <a:off x="7955279" y="1280160"/>
            <a:ext cx="3931920" cy="4572000"/>
          </a:xfrm>
          <a:prstGeom prst="rect">
            <a:avLst/>
          </a:prstGeom>
          <a:noFill/>
        </p:spPr>
        <p:txBody>
          <a:bodyPr wrap="square" anchor="t" lIns="45720" rIns="45720" tIns="27432" bIns="27432">
            <a:spAutoFit/>
          </a:bodyPr>
          <a:lstStyle/>
          <a:p>
            <a:pPr algn="l">
              <a:spcAft>
                <a:spcPts val="600"/>
              </a:spcAft>
            </a:pPr>
            <a:r>
              <a:rPr sz="1400" b="0">
                <a:solidFill>
                  <a:srgbClr val="222222"/>
                </a:solidFill>
                <a:latin typeface="Calibri"/>
              </a:rPr>
              <a:t>Dotted line: Reineke slope -1.605 through the maximum SDI reached in the arm.</a:t>
            </a:r>
          </a:p>
          <a:p>
            <a:pPr algn="l">
              <a:spcAft>
                <a:spcPts val="600"/>
              </a:spcAft>
            </a:pPr>
            <a:r>
              <a:rPr sz="1400" b="0">
                <a:solidFill>
                  <a:srgbClr val="222222"/>
                </a:solidFill>
                <a:latin typeface="Calibri"/>
              </a:rPr>
              <a:t/>
            </a:r>
          </a:p>
          <a:p>
            <a:pPr algn="l">
              <a:spcAft>
                <a:spcPts val="600"/>
              </a:spcAft>
            </a:pPr>
            <a:r>
              <a:rPr sz="1400" b="0">
                <a:solidFill>
                  <a:srgbClr val="222222"/>
                </a:solidFill>
                <a:latin typeface="Calibri"/>
              </a:rPr>
              <a:t>ACD, BM, CS, NE, SN, WS run parallel to it. CA, TT, UT, WC and EM run flat: stems hold while diameter grows, which is a mortality model that does not respond to density.</a:t>
            </a:r>
          </a:p>
          <a:p>
            <a:pPr algn="l">
              <a:spcAft>
                <a:spcPts val="600"/>
              </a:spcAft>
            </a:pPr>
            <a:r>
              <a:rPr sz="1400" b="0">
                <a:solidFill>
                  <a:srgbClr val="222222"/>
                </a:solidFill>
                <a:latin typeface="Calibri"/>
              </a:rPr>
              <a:t/>
            </a:r>
          </a:p>
          <a:p>
            <a:pPr algn="l">
              <a:spcAft>
                <a:spcPts val="600"/>
              </a:spcAft>
            </a:pPr>
            <a:r>
              <a:rPr sz="1400" b="0">
                <a:solidFill>
                  <a:srgbClr val="222222"/>
                </a:solidFill>
                <a:latin typeface="Calibri"/>
              </a:rPr>
              <a:t>The per variant scorecards (validation/bakuzis_stress_v2/catalog/scorecards/) carry this panel for all four arms with the component attribution.</a:t>
            </a:r>
          </a:p>
        </p:txBody>
      </p:sp>
      <p:sp>
        <p:nvSpPr>
          <p:cNvPr id="7" name="Rectangle 6"/>
          <p:cNvSpPr/>
          <p:nvPr/>
        </p:nvSpPr>
        <p:spPr>
          <a:xfrm>
            <a:off x="0" y="6565392"/>
            <a:ext cx="12191695" cy="292608"/>
          </a:xfrm>
          <a:prstGeom prst="rect">
            <a:avLst/>
          </a:prstGeom>
          <a:solidFill>
            <a:srgbClr val="1A3D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6574536"/>
            <a:ext cx="9144000" cy="274320"/>
          </a:xfrm>
          <a:prstGeom prst="rect">
            <a:avLst/>
          </a:prstGeom>
          <a:noFill/>
        </p:spPr>
        <p:txBody>
          <a:bodyPr wrap="square" anchor="ctr" lIns="45720" rIns="45720" tIns="27432" bIns="27432">
            <a:spAutoFit/>
          </a:bodyPr>
          <a:lstStyle/>
          <a:p>
            <a:pPr algn="l">
              <a:spcAft>
                <a:spcPts val="600"/>
              </a:spcAft>
            </a:pPr>
            <a:r>
              <a:rPr sz="1000" b="0">
                <a:solidFill>
                  <a:srgbClr val="FFFFFF"/>
                </a:solidFill>
                <a:latin typeface="Calibri"/>
              </a:rPr>
              <a:t>Source: bakuzis_scorecards.R, Cardinal job 15986836</a:t>
            </a:r>
          </a:p>
        </p:txBody>
      </p:sp>
      <p:sp>
        <p:nvSpPr>
          <p:cNvPr id="9" name="TextBox 8"/>
          <p:cNvSpPr txBox="1"/>
          <p:nvPr/>
        </p:nvSpPr>
        <p:spPr>
          <a:xfrm>
            <a:off x="11094415" y="6574536"/>
            <a:ext cx="822960" cy="274320"/>
          </a:xfrm>
          <a:prstGeom prst="rect">
            <a:avLst/>
          </a:prstGeom>
          <a:noFill/>
        </p:spPr>
        <p:txBody>
          <a:bodyPr wrap="square" anchor="ctr" lIns="45720" rIns="45720" tIns="27432" bIns="27432">
            <a:spAutoFit/>
          </a:bodyPr>
          <a:lstStyle/>
          <a:p>
            <a:pPr algn="r">
              <a:spcAft>
                <a:spcPts val="600"/>
              </a:spcAft>
            </a:pPr>
            <a:r>
              <a:rPr sz="1000" b="0">
                <a:solidFill>
                  <a:srgbClr val="C5A55A"/>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A3D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14400"/>
            <a:ext cx="12191695" cy="54864"/>
          </a:xfrm>
          <a:prstGeom prst="rect">
            <a:avLst/>
          </a:prstGeom>
          <a:solidFill>
            <a:srgbClr val="C5A5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09728"/>
            <a:ext cx="11460175" cy="731520"/>
          </a:xfrm>
          <a:prstGeom prst="rect">
            <a:avLst/>
          </a:prstGeom>
          <a:noFill/>
        </p:spPr>
        <p:txBody>
          <a:bodyPr wrap="square" anchor="ctr" lIns="45720" rIns="45720" tIns="27432" bIns="27432">
            <a:spAutoFit/>
          </a:bodyPr>
          <a:lstStyle/>
          <a:p>
            <a:pPr algn="l">
              <a:spcAft>
                <a:spcPts val="600"/>
              </a:spcAft>
            </a:pPr>
            <a:r>
              <a:rPr sz="2600" b="1">
                <a:solidFill>
                  <a:srgbClr val="FFFFFF"/>
                </a:solidFill>
                <a:latin typeface="Calibri"/>
              </a:rPr>
              <a:t>The full matrix for one recommended arm: NE, default GOMPIT</a:t>
            </a:r>
          </a:p>
        </p:txBody>
      </p:sp>
      <p:pic>
        <p:nvPicPr>
          <p:cNvPr id="5" name="Picture 4" descr="scorecard_20261029_default_gompit_NE_bakuzis_matrix.png"/>
          <p:cNvPicPr>
            <a:picLocks noChangeAspect="1"/>
          </p:cNvPicPr>
          <p:nvPr/>
        </p:nvPicPr>
        <p:blipFill>
          <a:blip r:embed="rId2"/>
          <a:stretch>
            <a:fillRect/>
          </a:stretch>
        </p:blipFill>
        <p:spPr>
          <a:xfrm>
            <a:off x="822960" y="1051560"/>
            <a:ext cx="5994400" cy="5394960"/>
          </a:xfrm>
          <a:prstGeom prst="rect">
            <a:avLst/>
          </a:prstGeom>
        </p:spPr>
      </p:pic>
      <p:sp>
        <p:nvSpPr>
          <p:cNvPr id="6" name="TextBox 5"/>
          <p:cNvSpPr txBox="1"/>
          <p:nvPr/>
        </p:nvSpPr>
        <p:spPr>
          <a:xfrm>
            <a:off x="7040880" y="1280160"/>
            <a:ext cx="4846320" cy="4572000"/>
          </a:xfrm>
          <a:prstGeom prst="rect">
            <a:avLst/>
          </a:prstGeom>
          <a:noFill/>
        </p:spPr>
        <p:txBody>
          <a:bodyPr wrap="square" anchor="t" lIns="45720" rIns="45720" tIns="27432" bIns="27432">
            <a:spAutoFit/>
          </a:bodyPr>
          <a:lstStyle/>
          <a:p>
            <a:pPr algn="l">
              <a:spcAft>
                <a:spcPts val="600"/>
              </a:spcAft>
            </a:pPr>
            <a:r>
              <a:rPr sz="1400" b="0">
                <a:solidFill>
                  <a:srgbClr val="222222"/>
                </a:solidFill>
                <a:latin typeface="Calibri"/>
              </a:rPr>
              <a:t>Nine relations, lower triangle. Site and density classes are within variant terciles of SICOND and BALIVE on real FIA stands, so the site based relations (site ordering, Eichhorn, Sukachev, yield density) are confounded by stand selection and are reported, not gated.</a:t>
            </a:r>
          </a:p>
          <a:p>
            <a:pPr algn="l">
              <a:spcAft>
                <a:spcPts val="600"/>
              </a:spcAft>
            </a:pPr>
            <a:r>
              <a:rPr sz="1400" b="0">
                <a:solidFill>
                  <a:srgbClr val="222222"/>
                </a:solidFill>
                <a:latin typeface="Calibri"/>
              </a:rPr>
              <a:t/>
            </a:r>
          </a:p>
          <a:p>
            <a:pPr algn="l">
              <a:spcAft>
                <a:spcPts val="600"/>
              </a:spcAft>
            </a:pPr>
            <a:r>
              <a:rPr sz="1400" b="0">
                <a:solidFill>
                  <a:srgbClr val="222222"/>
                </a:solidFill>
                <a:latin typeface="Calibri"/>
              </a:rPr>
              <a:t>The engine verdicts rest on Reineke (T3, T3b), the magnitude envelope (T4), plateau (T8), inversions (T9) and the initial step shock (T0).</a:t>
            </a:r>
          </a:p>
          <a:p>
            <a:pPr algn="l">
              <a:spcAft>
                <a:spcPts val="600"/>
              </a:spcAft>
            </a:pPr>
            <a:r>
              <a:rPr sz="1400" b="0">
                <a:solidFill>
                  <a:srgbClr val="222222"/>
                </a:solidFill>
                <a:latin typeface="Calibri"/>
              </a:rPr>
              <a:t/>
            </a:r>
          </a:p>
          <a:p>
            <a:pPr algn="l">
              <a:spcAft>
                <a:spcPts val="600"/>
              </a:spcAft>
            </a:pPr>
            <a:r>
              <a:rPr sz="1400" b="0">
                <a:solidFill>
                  <a:srgbClr val="222222"/>
                </a:solidFill>
                <a:latin typeface="Calibri"/>
              </a:rPr>
              <a:t>A pass is a failure to falsify, not a confirmation of accuracy.</a:t>
            </a:r>
          </a:p>
        </p:txBody>
      </p:sp>
      <p:sp>
        <p:nvSpPr>
          <p:cNvPr id="7" name="Rectangle 6"/>
          <p:cNvSpPr/>
          <p:nvPr/>
        </p:nvSpPr>
        <p:spPr>
          <a:xfrm>
            <a:off x="0" y="6565392"/>
            <a:ext cx="12191695" cy="292608"/>
          </a:xfrm>
          <a:prstGeom prst="rect">
            <a:avLst/>
          </a:prstGeom>
          <a:solidFill>
            <a:srgbClr val="1A3D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6574536"/>
            <a:ext cx="9144000" cy="274320"/>
          </a:xfrm>
          <a:prstGeom prst="rect">
            <a:avLst/>
          </a:prstGeom>
          <a:noFill/>
        </p:spPr>
        <p:txBody>
          <a:bodyPr wrap="square" anchor="ctr" lIns="45720" rIns="45720" tIns="27432" bIns="27432">
            <a:spAutoFit/>
          </a:bodyPr>
          <a:lstStyle/>
          <a:p>
            <a:pPr algn="l">
              <a:spcAft>
                <a:spcPts val="600"/>
              </a:spcAft>
            </a:pPr>
            <a:r>
              <a:rPr sz="1000" b="0">
                <a:solidFill>
                  <a:srgbClr val="FFFFFF"/>
                </a:solidFill>
                <a:latin typeface="Calibri"/>
              </a:rPr>
              <a:t>Source: bakuzis_scorecards.R, Cardinal job 15986836</a:t>
            </a:r>
          </a:p>
        </p:txBody>
      </p:sp>
      <p:sp>
        <p:nvSpPr>
          <p:cNvPr id="9" name="TextBox 8"/>
          <p:cNvSpPr txBox="1"/>
          <p:nvPr/>
        </p:nvSpPr>
        <p:spPr>
          <a:xfrm>
            <a:off x="11094415" y="6574536"/>
            <a:ext cx="822960" cy="274320"/>
          </a:xfrm>
          <a:prstGeom prst="rect">
            <a:avLst/>
          </a:prstGeom>
          <a:noFill/>
        </p:spPr>
        <p:txBody>
          <a:bodyPr wrap="square" anchor="ctr" lIns="45720" rIns="45720" tIns="27432" bIns="27432">
            <a:spAutoFit/>
          </a:bodyPr>
          <a:lstStyle/>
          <a:p>
            <a:pPr algn="r">
              <a:spcAft>
                <a:spcPts val="600"/>
              </a:spcAft>
            </a:pPr>
            <a:r>
              <a:rPr sz="1000" b="0">
                <a:solidFill>
                  <a:srgbClr val="C5A55A"/>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A3D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14400"/>
            <a:ext cx="12191695" cy="54864"/>
          </a:xfrm>
          <a:prstGeom prst="rect">
            <a:avLst/>
          </a:prstGeom>
          <a:solidFill>
            <a:srgbClr val="C5A5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09728"/>
            <a:ext cx="11460175" cy="731520"/>
          </a:xfrm>
          <a:prstGeom prst="rect">
            <a:avLst/>
          </a:prstGeom>
          <a:noFill/>
        </p:spPr>
        <p:txBody>
          <a:bodyPr wrap="square" anchor="ctr" lIns="45720" rIns="45720" tIns="27432" bIns="27432">
            <a:spAutoFit/>
          </a:bodyPr>
          <a:lstStyle/>
          <a:p>
            <a:pPr algn="l">
              <a:spcAft>
                <a:spcPts val="600"/>
              </a:spcAft>
            </a:pPr>
            <a:r>
              <a:rPr sz="2600" b="1">
                <a:solidFill>
                  <a:srgbClr val="FFFFFF"/>
                </a:solidFill>
                <a:latin typeface="Calibri"/>
              </a:rPr>
              <a:t>Stress test after shipping: could the analyst choices have gone another way?</a:t>
            </a:r>
          </a:p>
        </p:txBody>
      </p:sp>
      <p:graphicFrame>
        <p:nvGraphicFramePr>
          <p:cNvPr id="5" name="Table 4"/>
          <p:cNvGraphicFramePr>
            <a:graphicFrameLocks noGrp="1"/>
          </p:cNvGraphicFramePr>
          <p:nvPr/>
        </p:nvGraphicFramePr>
        <p:xfrm>
          <a:off x="457200" y="1280160"/>
          <a:ext cx="11247120" cy="1920240"/>
        </p:xfrm>
        <a:graphic>
          <a:graphicData uri="http://schemas.openxmlformats.org/drawingml/2006/table">
            <a:tbl>
              <a:tblPr firstRow="0" bandRow="0">
                <a:tableStyleId>{5C22544A-7EE6-4342-B048-85BDC9FD1C3A}</a:tableStyleId>
              </a:tblPr>
              <a:tblGrid>
                <a:gridCol w="3657600"/>
                <a:gridCol w="2743200"/>
                <a:gridCol w="4846320"/>
              </a:tblGrid>
              <a:tr h="274320">
                <a:tc>
                  <a:txBody>
                    <a:bodyPr/>
                    <a:lstStyle/>
                    <a:p>
                      <a:pPr algn="ctr"/>
                      <a:r>
                        <a:rPr sz="1300" b="1">
                          <a:solidFill>
                            <a:srgbClr val="FFFFFF"/>
                          </a:solidFill>
                          <a:latin typeface="Calibri"/>
                        </a:rPr>
                        <a:t>Axis</a:t>
                      </a:r>
                    </a:p>
                  </a:txBody>
                  <a:tcPr marT="18288" marB="18288" anchor="ctr">
                    <a:solidFill>
                      <a:srgbClr val="1A3D28"/>
                    </a:solidFill>
                  </a:tcPr>
                </a:tc>
                <a:tc>
                  <a:txBody>
                    <a:bodyPr/>
                    <a:lstStyle/>
                    <a:p>
                      <a:pPr algn="ctr"/>
                      <a:r>
                        <a:rPr sz="1300" b="1">
                          <a:solidFill>
                            <a:srgbClr val="FFFFFF"/>
                          </a:solidFill>
                          <a:latin typeface="Calibri"/>
                        </a:rPr>
                        <a:t>Shipped</a:t>
                      </a:r>
                    </a:p>
                  </a:txBody>
                  <a:tcPr marT="18288" marB="18288" anchor="ctr">
                    <a:solidFill>
                      <a:srgbClr val="1A3D28"/>
                    </a:solidFill>
                  </a:tcPr>
                </a:tc>
                <a:tc>
                  <a:txBody>
                    <a:bodyPr/>
                    <a:lstStyle/>
                    <a:p>
                      <a:pPr algn="ctr"/>
                      <a:r>
                        <a:rPr sz="1300" b="1">
                          <a:solidFill>
                            <a:srgbClr val="FFFFFF"/>
                          </a:solidFill>
                          <a:latin typeface="Calibri"/>
                        </a:rPr>
                        <a:t>Alternatives in the 144 cell grid</a:t>
                      </a:r>
                    </a:p>
                  </a:txBody>
                  <a:tcPr marT="18288" marB="18288" anchor="ctr">
                    <a:solidFill>
                      <a:srgbClr val="1A3D28"/>
                    </a:solidFill>
                  </a:tcPr>
                </a:tc>
              </a:tr>
              <a:tr h="274320">
                <a:tc>
                  <a:txBody>
                    <a:bodyPr/>
                    <a:lstStyle/>
                    <a:p>
                      <a:pPr algn="ctr"/>
                      <a:r>
                        <a:rPr sz="1300" b="0">
                          <a:solidFill>
                            <a:srgbClr val="222222"/>
                          </a:solidFill>
                          <a:latin typeface="Calibri"/>
                        </a:rPr>
                        <a:t>Horizon</a:t>
                      </a:r>
                    </a:p>
                  </a:txBody>
                  <a:tcPr marT="18288" marB="18288" anchor="ctr">
                    <a:solidFill>
                      <a:srgbClr val="FFFFFF"/>
                    </a:solidFill>
                  </a:tcPr>
                </a:tc>
                <a:tc>
                  <a:txBody>
                    <a:bodyPr/>
                    <a:lstStyle/>
                    <a:p>
                      <a:pPr algn="ctr"/>
                      <a:r>
                        <a:rPr sz="1300" b="0">
                          <a:solidFill>
                            <a:srgbClr val="222222"/>
                          </a:solidFill>
                          <a:latin typeface="Calibri"/>
                        </a:rPr>
                        <a:t>50 years</a:t>
                      </a:r>
                    </a:p>
                  </a:txBody>
                  <a:tcPr marT="18288" marB="18288" anchor="ctr">
                    <a:solidFill>
                      <a:srgbClr val="FFFFFF"/>
                    </a:solidFill>
                  </a:tcPr>
                </a:tc>
                <a:tc>
                  <a:txBody>
                    <a:bodyPr/>
                    <a:lstStyle/>
                    <a:p>
                      <a:pPr algn="ctr"/>
                      <a:r>
                        <a:rPr sz="1300" b="0">
                          <a:solidFill>
                            <a:srgbClr val="222222"/>
                          </a:solidFill>
                          <a:latin typeface="Calibri"/>
                        </a:rPr>
                        <a:t>100 years</a:t>
                      </a:r>
                    </a:p>
                  </a:txBody>
                  <a:tcPr marT="18288" marB="18288" anchor="ctr">
                    <a:solidFill>
                      <a:srgbClr val="FFFFFF"/>
                    </a:solidFill>
                  </a:tcPr>
                </a:tc>
              </a:tr>
              <a:tr h="274320">
                <a:tc>
                  <a:txBody>
                    <a:bodyPr/>
                    <a:lstStyle/>
                    <a:p>
                      <a:pPr algn="ctr"/>
                      <a:r>
                        <a:rPr sz="1300" b="0">
                          <a:solidFill>
                            <a:srgbClr val="222222"/>
                          </a:solidFill>
                          <a:latin typeface="Calibri"/>
                        </a:rPr>
                        <a:t>Exceedance tolerance</a:t>
                      </a:r>
                    </a:p>
                  </a:txBody>
                  <a:tcPr marT="18288" marB="18288" anchor="ctr">
                    <a:solidFill>
                      <a:srgbClr val="FFFFFF"/>
                    </a:solidFill>
                  </a:tcPr>
                </a:tc>
                <a:tc>
                  <a:txBody>
                    <a:bodyPr/>
                    <a:lstStyle/>
                    <a:p>
                      <a:pPr algn="ctr"/>
                      <a:r>
                        <a:rPr sz="1300" b="0">
                          <a:solidFill>
                            <a:srgbClr val="222222"/>
                          </a:solidFill>
                          <a:latin typeface="Calibri"/>
                        </a:rPr>
                        <a:t>5 percent</a:t>
                      </a:r>
                    </a:p>
                  </a:txBody>
                  <a:tcPr marT="18288" marB="18288" anchor="ctr">
                    <a:solidFill>
                      <a:srgbClr val="FFFFFF"/>
                    </a:solidFill>
                  </a:tcPr>
                </a:tc>
                <a:tc>
                  <a:txBody>
                    <a:bodyPr/>
                    <a:lstStyle/>
                    <a:p>
                      <a:pPr algn="ctr"/>
                      <a:r>
                        <a:rPr sz="1300" b="0">
                          <a:solidFill>
                            <a:srgbClr val="222222"/>
                          </a:solidFill>
                          <a:latin typeface="Calibri"/>
                        </a:rPr>
                        <a:t>3, 10 percent</a:t>
                      </a:r>
                    </a:p>
                  </a:txBody>
                  <a:tcPr marT="18288" marB="18288" anchor="ctr">
                    <a:solidFill>
                      <a:srgbClr val="FFFFFF"/>
                    </a:solidFill>
                  </a:tcPr>
                </a:tc>
              </a:tr>
              <a:tr h="274320">
                <a:tc>
                  <a:txBody>
                    <a:bodyPr/>
                    <a:lstStyle/>
                    <a:p>
                      <a:pPr algn="ctr"/>
                      <a:r>
                        <a:rPr sz="1300" b="0">
                          <a:solidFill>
                            <a:srgbClr val="222222"/>
                          </a:solidFill>
                          <a:latin typeface="Calibri"/>
                        </a:rPr>
                        <a:t>Wilson upper bound</a:t>
                      </a:r>
                    </a:p>
                  </a:txBody>
                  <a:tcPr marT="18288" marB="18288" anchor="ctr">
                    <a:solidFill>
                      <a:srgbClr val="FFFFFF"/>
                    </a:solidFill>
                  </a:tcPr>
                </a:tc>
                <a:tc>
                  <a:txBody>
                    <a:bodyPr/>
                    <a:lstStyle/>
                    <a:p>
                      <a:pPr algn="ctr"/>
                      <a:r>
                        <a:rPr sz="1300" b="0">
                          <a:solidFill>
                            <a:srgbClr val="222222"/>
                          </a:solidFill>
                          <a:latin typeface="Calibri"/>
                        </a:rPr>
                        <a:t>10 percent</a:t>
                      </a:r>
                    </a:p>
                  </a:txBody>
                  <a:tcPr marT="18288" marB="18288" anchor="ctr">
                    <a:solidFill>
                      <a:srgbClr val="FFFFFF"/>
                    </a:solidFill>
                  </a:tcPr>
                </a:tc>
                <a:tc>
                  <a:txBody>
                    <a:bodyPr/>
                    <a:lstStyle/>
                    <a:p>
                      <a:pPr algn="ctr"/>
                      <a:r>
                        <a:rPr sz="1300" b="0">
                          <a:solidFill>
                            <a:srgbClr val="222222"/>
                          </a:solidFill>
                          <a:latin typeface="Calibri"/>
                        </a:rPr>
                        <a:t>15 percent</a:t>
                      </a:r>
                    </a:p>
                  </a:txBody>
                  <a:tcPr marT="18288" marB="18288" anchor="ctr">
                    <a:solidFill>
                      <a:srgbClr val="FFFFFF"/>
                    </a:solidFill>
                  </a:tcPr>
                </a:tc>
              </a:tr>
              <a:tr h="274320">
                <a:tc>
                  <a:txBody>
                    <a:bodyPr/>
                    <a:lstStyle/>
                    <a:p>
                      <a:pPr algn="ctr"/>
                      <a:r>
                        <a:rPr sz="1300" b="0">
                          <a:solidFill>
                            <a:srgbClr val="222222"/>
                          </a:solidFill>
                          <a:latin typeface="Calibri"/>
                        </a:rPr>
                        <a:t>Basal area ceiling</a:t>
                      </a:r>
                    </a:p>
                  </a:txBody>
                  <a:tcPr marT="18288" marB="18288" anchor="ctr">
                    <a:solidFill>
                      <a:srgbClr val="FFFFFF"/>
                    </a:solidFill>
                  </a:tcPr>
                </a:tc>
                <a:tc>
                  <a:txBody>
                    <a:bodyPr/>
                    <a:lstStyle/>
                    <a:p>
                      <a:pPr algn="ctr"/>
                      <a:r>
                        <a:rPr sz="1300" b="0">
                          <a:solidFill>
                            <a:srgbClr val="222222"/>
                          </a:solidFill>
                          <a:latin typeface="Calibri"/>
                        </a:rPr>
                        <a:t>p99.9</a:t>
                      </a:r>
                    </a:p>
                  </a:txBody>
                  <a:tcPr marT="18288" marB="18288" anchor="ctr">
                    <a:solidFill>
                      <a:srgbClr val="FFFFFF"/>
                    </a:solidFill>
                  </a:tcPr>
                </a:tc>
                <a:tc>
                  <a:txBody>
                    <a:bodyPr/>
                    <a:lstStyle/>
                    <a:p>
                      <a:pPr algn="ctr"/>
                      <a:r>
                        <a:rPr sz="1300" b="0">
                          <a:solidFill>
                            <a:srgbClr val="222222"/>
                          </a:solidFill>
                          <a:latin typeface="Calibri"/>
                        </a:rPr>
                        <a:t>p99</a:t>
                      </a:r>
                    </a:p>
                  </a:txBody>
                  <a:tcPr marT="18288" marB="18288" anchor="ctr">
                    <a:solidFill>
                      <a:srgbClr val="FFFFFF"/>
                    </a:solidFill>
                  </a:tcPr>
                </a:tc>
              </a:tr>
              <a:tr h="274320">
                <a:tc>
                  <a:txBody>
                    <a:bodyPr/>
                    <a:lstStyle/>
                    <a:p>
                      <a:pPr algn="ctr"/>
                      <a:r>
                        <a:rPr sz="1300" b="0">
                          <a:solidFill>
                            <a:srgbClr val="222222"/>
                          </a:solidFill>
                          <a:latin typeface="Calibri"/>
                        </a:rPr>
                        <a:t>Reineke flag tolerance</a:t>
                      </a:r>
                    </a:p>
                  </a:txBody>
                  <a:tcPr marT="18288" marB="18288" anchor="ctr">
                    <a:solidFill>
                      <a:srgbClr val="FFFFFF"/>
                    </a:solidFill>
                  </a:tcPr>
                </a:tc>
                <a:tc>
                  <a:txBody>
                    <a:bodyPr/>
                    <a:lstStyle/>
                    <a:p>
                      <a:pPr algn="ctr"/>
                      <a:r>
                        <a:rPr sz="1300" b="0">
                          <a:solidFill>
                            <a:srgbClr val="222222"/>
                          </a:solidFill>
                          <a:latin typeface="Calibri"/>
                        </a:rPr>
                        <a:t>10 percent</a:t>
                      </a:r>
                    </a:p>
                  </a:txBody>
                  <a:tcPr marT="18288" marB="18288" anchor="ctr">
                    <a:solidFill>
                      <a:srgbClr val="FFFFFF"/>
                    </a:solidFill>
                  </a:tcPr>
                </a:tc>
                <a:tc>
                  <a:txBody>
                    <a:bodyPr/>
                    <a:lstStyle/>
                    <a:p>
                      <a:pPr algn="ctr"/>
                      <a:r>
                        <a:rPr sz="1300" b="0">
                          <a:solidFill>
                            <a:srgbClr val="222222"/>
                          </a:solidFill>
                          <a:latin typeface="Calibri"/>
                        </a:rPr>
                        <a:t>15, 25 percent</a:t>
                      </a:r>
                    </a:p>
                  </a:txBody>
                  <a:tcPr marT="18288" marB="18288" anchor="ctr">
                    <a:solidFill>
                      <a:srgbClr val="FFFFFF"/>
                    </a:solidFill>
                  </a:tcPr>
                </a:tc>
              </a:tr>
              <a:tr h="274320">
                <a:tc>
                  <a:txBody>
                    <a:bodyPr/>
                    <a:lstStyle/>
                    <a:p>
                      <a:pPr algn="ctr"/>
                      <a:r>
                        <a:rPr sz="1300" b="0">
                          <a:solidFill>
                            <a:srgbClr val="222222"/>
                          </a:solidFill>
                          <a:latin typeface="Calibri"/>
                        </a:rPr>
                        <a:t>Minimum evaluated trajectories</a:t>
                      </a:r>
                    </a:p>
                  </a:txBody>
                  <a:tcPr marT="18288" marB="18288" anchor="ctr">
                    <a:solidFill>
                      <a:srgbClr val="FFFFFF"/>
                    </a:solidFill>
                  </a:tcPr>
                </a:tc>
                <a:tc>
                  <a:txBody>
                    <a:bodyPr/>
                    <a:lstStyle/>
                    <a:p>
                      <a:pPr algn="ctr"/>
                      <a:r>
                        <a:rPr sz="1300" b="0">
                          <a:solidFill>
                            <a:srgbClr val="222222"/>
                          </a:solidFill>
                          <a:latin typeface="Calibri"/>
                        </a:rPr>
                        <a:t>10</a:t>
                      </a:r>
                    </a:p>
                  </a:txBody>
                  <a:tcPr marT="18288" marB="18288" anchor="ctr">
                    <a:solidFill>
                      <a:srgbClr val="FFFFFF"/>
                    </a:solidFill>
                  </a:tcPr>
                </a:tc>
                <a:tc>
                  <a:txBody>
                    <a:bodyPr/>
                    <a:lstStyle/>
                    <a:p>
                      <a:pPr algn="ctr"/>
                      <a:r>
                        <a:rPr sz="1300" b="0">
                          <a:solidFill>
                            <a:srgbClr val="222222"/>
                          </a:solidFill>
                          <a:latin typeface="Calibri"/>
                        </a:rPr>
                        <a:t>30</a:t>
                      </a:r>
                    </a:p>
                  </a:txBody>
                  <a:tcPr marT="18288" marB="18288" anchor="ctr">
                    <a:solidFill>
                      <a:srgbClr val="FFFFFF"/>
                    </a:solidFill>
                  </a:tcPr>
                </a:tc>
              </a:tr>
            </a:tbl>
          </a:graphicData>
        </a:graphic>
      </p:graphicFrame>
      <p:sp>
        <p:nvSpPr>
          <p:cNvPr id="6" name="TextBox 5"/>
          <p:cNvSpPr txBox="1"/>
          <p:nvPr/>
        </p:nvSpPr>
        <p:spPr>
          <a:xfrm>
            <a:off x="457200" y="4023360"/>
            <a:ext cx="11247120" cy="2286000"/>
          </a:xfrm>
          <a:prstGeom prst="rect">
            <a:avLst/>
          </a:prstGeom>
          <a:noFill/>
        </p:spPr>
        <p:txBody>
          <a:bodyPr wrap="square">
            <a:spAutoFit/>
          </a:bodyPr>
          <a:lstStyle/>
          <a:p>
            <a:pPr>
              <a:spcAft>
                <a:spcPts val="800"/>
              </a:spcAft>
            </a:pPr>
            <a:r>
              <a:rPr sz="1500">
                <a:solidFill>
                  <a:srgbClr val="222222"/>
                </a:solidFill>
                <a:latin typeface="Calibri"/>
              </a:rPr>
              <a:t>▪  Part B: 500 stand bootstraps per variant under the shipped rule, giving each arm's probability of admissibility and each variant's probability of keeping an admissible engine arm.</a:t>
            </a:r>
          </a:p>
          <a:p>
            <a:pPr>
              <a:spcAft>
                <a:spcPts val="800"/>
              </a:spcAft>
            </a:pPr>
            <a:r>
              <a:rPr sz="1500">
                <a:solidFill>
                  <a:srgbClr val="222222"/>
                </a:solidFill>
                <a:latin typeface="Calibri"/>
              </a:rPr>
              <a:t>▪  No new engine runs; recomputed from the trajectory level data (stress_catalog.R, Cardinal job 15990793).</a:t>
            </a:r>
          </a:p>
          <a:p>
            <a:pPr>
              <a:spcAft>
                <a:spcPts val="800"/>
              </a:spcAft>
            </a:pPr>
            <a:r>
              <a:rPr sz="1500">
                <a:solidFill>
                  <a:srgbClr val="222222"/>
                </a:solidFill>
                <a:latin typeface="Calibri"/>
              </a:rPr>
              <a:t>▪  The recomputed primary rule reproduced all 72 shipped verdicts, an independent check of catalog_gates.R.</a:t>
            </a:r>
          </a:p>
        </p:txBody>
      </p:sp>
      <p:sp>
        <p:nvSpPr>
          <p:cNvPr id="7" name="Rectangle 6"/>
          <p:cNvSpPr/>
          <p:nvPr/>
        </p:nvSpPr>
        <p:spPr>
          <a:xfrm>
            <a:off x="0" y="6565392"/>
            <a:ext cx="12191695" cy="292608"/>
          </a:xfrm>
          <a:prstGeom prst="rect">
            <a:avLst/>
          </a:prstGeom>
          <a:solidFill>
            <a:srgbClr val="1A3D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6574536"/>
            <a:ext cx="9144000" cy="274320"/>
          </a:xfrm>
          <a:prstGeom prst="rect">
            <a:avLst/>
          </a:prstGeom>
          <a:noFill/>
        </p:spPr>
        <p:txBody>
          <a:bodyPr wrap="square" anchor="ctr" lIns="45720" rIns="45720" tIns="27432" bIns="27432">
            <a:spAutoFit/>
          </a:bodyPr>
          <a:lstStyle/>
          <a:p>
            <a:pPr algn="l">
              <a:spcAft>
                <a:spcPts val="600"/>
              </a:spcAft>
            </a:pPr>
            <a:r>
              <a:rPr sz="1000" b="0">
                <a:solidFill>
                  <a:srgbClr val="FFFFFF"/>
                </a:solidFill>
                <a:latin typeface="Calibri"/>
              </a:rPr>
              <a:t>Source: fvs-modern main 1a520f5e, validation/bakuzis_stress_v2/ and config/catalog/ (October 29, 2026)</a:t>
            </a:r>
          </a:p>
        </p:txBody>
      </p:sp>
      <p:sp>
        <p:nvSpPr>
          <p:cNvPr id="9" name="TextBox 8"/>
          <p:cNvSpPr txBox="1"/>
          <p:nvPr/>
        </p:nvSpPr>
        <p:spPr>
          <a:xfrm>
            <a:off x="11094415" y="6574536"/>
            <a:ext cx="822960" cy="274320"/>
          </a:xfrm>
          <a:prstGeom prst="rect">
            <a:avLst/>
          </a:prstGeom>
          <a:noFill/>
        </p:spPr>
        <p:txBody>
          <a:bodyPr wrap="square" anchor="ctr" lIns="45720" rIns="45720" tIns="27432" bIns="27432">
            <a:spAutoFit/>
          </a:bodyPr>
          <a:lstStyle/>
          <a:p>
            <a:pPr algn="r">
              <a:spcAft>
                <a:spcPts val="600"/>
              </a:spcAft>
            </a:pPr>
            <a:r>
              <a:rPr sz="1000" b="0">
                <a:solidFill>
                  <a:srgbClr val="C5A55A"/>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A3D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14400"/>
            <a:ext cx="12191695" cy="54864"/>
          </a:xfrm>
          <a:prstGeom prst="rect">
            <a:avLst/>
          </a:prstGeom>
          <a:solidFill>
            <a:srgbClr val="C5A5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09728"/>
            <a:ext cx="11460175" cy="731520"/>
          </a:xfrm>
          <a:prstGeom prst="rect">
            <a:avLst/>
          </a:prstGeom>
          <a:noFill/>
        </p:spPr>
        <p:txBody>
          <a:bodyPr wrap="square" anchor="ctr" lIns="45720" rIns="45720" tIns="27432" bIns="27432">
            <a:spAutoFit/>
          </a:bodyPr>
          <a:lstStyle/>
          <a:p>
            <a:pPr algn="l">
              <a:spcAft>
                <a:spcPts val="600"/>
              </a:spcAft>
            </a:pPr>
            <a:r>
              <a:rPr sz="2600" b="1">
                <a:solidFill>
                  <a:srgbClr val="FFFFFF"/>
                </a:solidFill>
                <a:latin typeface="Calibri"/>
              </a:rPr>
              <a:t>No verdict overturned; 8 of 23 admissible and 8 of 49 not admissible arms fragile</a:t>
            </a:r>
          </a:p>
        </p:txBody>
      </p:sp>
      <p:pic>
        <p:nvPicPr>
          <p:cNvPr id="5" name="Picture 4" descr="fig_arm_stability.png"/>
          <p:cNvPicPr>
            <a:picLocks noChangeAspect="1"/>
          </p:cNvPicPr>
          <p:nvPr/>
        </p:nvPicPr>
        <p:blipFill>
          <a:blip r:embed="rId2"/>
          <a:stretch>
            <a:fillRect/>
          </a:stretch>
        </p:blipFill>
        <p:spPr>
          <a:xfrm>
            <a:off x="365760" y="1097280"/>
            <a:ext cx="5685183" cy="5029200"/>
          </a:xfrm>
          <a:prstGeom prst="rect">
            <a:avLst/>
          </a:prstGeom>
        </p:spPr>
      </p:pic>
      <p:graphicFrame>
        <p:nvGraphicFramePr>
          <p:cNvPr id="6" name="Table 5"/>
          <p:cNvGraphicFramePr>
            <a:graphicFrameLocks noGrp="1"/>
          </p:cNvGraphicFramePr>
          <p:nvPr/>
        </p:nvGraphicFramePr>
        <p:xfrm>
          <a:off x="6217920" y="1188720"/>
          <a:ext cx="5669280" cy="2468880"/>
        </p:xfrm>
        <a:graphic>
          <a:graphicData uri="http://schemas.openxmlformats.org/drawingml/2006/table">
            <a:tbl>
              <a:tblPr firstRow="0" bandRow="0">
                <a:tableStyleId>{5C22544A-7EE6-4342-B048-85BDC9FD1C3A}</a:tableStyleId>
              </a:tblPr>
              <a:tblGrid>
                <a:gridCol w="2926080"/>
                <a:gridCol w="1371600"/>
                <a:gridCol w="1371600"/>
              </a:tblGrid>
              <a:tr h="274320">
                <a:tc>
                  <a:txBody>
                    <a:bodyPr/>
                    <a:lstStyle/>
                    <a:p>
                      <a:pPr algn="ctr"/>
                      <a:r>
                        <a:rPr sz="1200" b="1">
                          <a:solidFill>
                            <a:srgbClr val="FFFFFF"/>
                          </a:solidFill>
                          <a:latin typeface="Calibri"/>
                        </a:rPr>
                        <a:t>Fragile admissible arm</a:t>
                      </a:r>
                    </a:p>
                  </a:txBody>
                  <a:tcPr marT="18288" marB="18288" anchor="ctr">
                    <a:solidFill>
                      <a:srgbClr val="1A3D28"/>
                    </a:solidFill>
                  </a:tcPr>
                </a:tc>
                <a:tc>
                  <a:txBody>
                    <a:bodyPr/>
                    <a:lstStyle/>
                    <a:p>
                      <a:pPr algn="ctr"/>
                      <a:r>
                        <a:rPr sz="1200" b="1">
                          <a:solidFill>
                            <a:srgbClr val="FFFFFF"/>
                          </a:solidFill>
                          <a:latin typeface="Calibri"/>
                        </a:rPr>
                        <a:t>Bootstrap</a:t>
                      </a:r>
                    </a:p>
                  </a:txBody>
                  <a:tcPr marT="18288" marB="18288" anchor="ctr">
                    <a:solidFill>
                      <a:srgbClr val="1A3D28"/>
                    </a:solidFill>
                  </a:tcPr>
                </a:tc>
                <a:tc>
                  <a:txBody>
                    <a:bodyPr/>
                    <a:lstStyle/>
                    <a:p>
                      <a:pPr algn="ctr"/>
                      <a:r>
                        <a:rPr sz="1200" b="1">
                          <a:solidFill>
                            <a:srgbClr val="FFFFFF"/>
                          </a:solidFill>
                          <a:latin typeface="Calibri"/>
                        </a:rPr>
                        <a:t>Grid share</a:t>
                      </a:r>
                    </a:p>
                  </a:txBody>
                  <a:tcPr marT="18288" marB="18288" anchor="ctr">
                    <a:solidFill>
                      <a:srgbClr val="1A3D28"/>
                    </a:solidFill>
                  </a:tcPr>
                </a:tc>
              </a:tr>
              <a:tr h="274320">
                <a:tc>
                  <a:txBody>
                    <a:bodyPr/>
                    <a:lstStyle/>
                    <a:p>
                      <a:pPr algn="ctr"/>
                      <a:r>
                        <a:rPr sz="1200" b="0">
                          <a:solidFill>
                            <a:srgbClr val="222222"/>
                          </a:solidFill>
                          <a:latin typeface="Calibri"/>
                        </a:rPr>
                        <a:t>ACD calibrated GOMPIT</a:t>
                      </a:r>
                    </a:p>
                  </a:txBody>
                  <a:tcPr marT="18288" marB="18288" anchor="ctr">
                    <a:solidFill>
                      <a:srgbClr val="FFFFFF"/>
                    </a:solidFill>
                  </a:tcPr>
                </a:tc>
                <a:tc>
                  <a:txBody>
                    <a:bodyPr/>
                    <a:lstStyle/>
                    <a:p>
                      <a:pPr algn="ctr"/>
                      <a:r>
                        <a:rPr sz="1200" b="0">
                          <a:solidFill>
                            <a:srgbClr val="222222"/>
                          </a:solidFill>
                          <a:latin typeface="Calibri"/>
                        </a:rPr>
                        <a:t>0.58</a:t>
                      </a:r>
                    </a:p>
                  </a:txBody>
                  <a:tcPr marT="18288" marB="18288" anchor="ctr">
                    <a:solidFill>
                      <a:srgbClr val="FFFFFF"/>
                    </a:solidFill>
                  </a:tcPr>
                </a:tc>
                <a:tc>
                  <a:txBody>
                    <a:bodyPr/>
                    <a:lstStyle/>
                    <a:p>
                      <a:pPr algn="ctr"/>
                      <a:r>
                        <a:rPr sz="1200" b="0">
                          <a:solidFill>
                            <a:srgbClr val="222222"/>
                          </a:solidFill>
                          <a:latin typeface="Calibri"/>
                        </a:rPr>
                        <a:t>0.33</a:t>
                      </a:r>
                    </a:p>
                  </a:txBody>
                  <a:tcPr marT="18288" marB="18288" anchor="ctr">
                    <a:solidFill>
                      <a:srgbClr val="FFFFFF"/>
                    </a:solidFill>
                  </a:tcPr>
                </a:tc>
              </a:tr>
              <a:tr h="274320">
                <a:tc>
                  <a:txBody>
                    <a:bodyPr/>
                    <a:lstStyle/>
                    <a:p>
                      <a:pPr algn="ctr"/>
                      <a:r>
                        <a:rPr sz="1200" b="0">
                          <a:solidFill>
                            <a:srgbClr val="222222"/>
                          </a:solidFill>
                          <a:latin typeface="Calibri"/>
                        </a:rPr>
                        <a:t>ACD default GOMPIT</a:t>
                      </a:r>
                    </a:p>
                  </a:txBody>
                  <a:tcPr marT="18288" marB="18288" anchor="ctr">
                    <a:solidFill>
                      <a:srgbClr val="FFFFFF"/>
                    </a:solidFill>
                  </a:tcPr>
                </a:tc>
                <a:tc>
                  <a:txBody>
                    <a:bodyPr/>
                    <a:lstStyle/>
                    <a:p>
                      <a:pPr algn="ctr"/>
                      <a:r>
                        <a:rPr sz="1200" b="0">
                          <a:solidFill>
                            <a:srgbClr val="222222"/>
                          </a:solidFill>
                          <a:latin typeface="Calibri"/>
                        </a:rPr>
                        <a:t>0.58</a:t>
                      </a:r>
                    </a:p>
                  </a:txBody>
                  <a:tcPr marT="18288" marB="18288" anchor="ctr">
                    <a:solidFill>
                      <a:srgbClr val="FFFFFF"/>
                    </a:solidFill>
                  </a:tcPr>
                </a:tc>
                <a:tc>
                  <a:txBody>
                    <a:bodyPr/>
                    <a:lstStyle/>
                    <a:p>
                      <a:pPr algn="ctr"/>
                      <a:r>
                        <a:rPr sz="1200" b="0">
                          <a:solidFill>
                            <a:srgbClr val="222222"/>
                          </a:solidFill>
                          <a:latin typeface="Calibri"/>
                        </a:rPr>
                        <a:t>0.33</a:t>
                      </a:r>
                    </a:p>
                  </a:txBody>
                  <a:tcPr marT="18288" marB="18288" anchor="ctr">
                    <a:solidFill>
                      <a:srgbClr val="FFFFFF"/>
                    </a:solidFill>
                  </a:tcPr>
                </a:tc>
              </a:tr>
              <a:tr h="274320">
                <a:tc>
                  <a:txBody>
                    <a:bodyPr/>
                    <a:lstStyle/>
                    <a:p>
                      <a:pPr algn="ctr"/>
                      <a:r>
                        <a:rPr sz="1200" b="0">
                          <a:solidFill>
                            <a:srgbClr val="222222"/>
                          </a:solidFill>
                          <a:latin typeface="Calibri"/>
                        </a:rPr>
                        <a:t>CS default GOMPIT</a:t>
                      </a:r>
                    </a:p>
                  </a:txBody>
                  <a:tcPr marT="18288" marB="18288" anchor="ctr">
                    <a:solidFill>
                      <a:srgbClr val="FFFFFF"/>
                    </a:solidFill>
                  </a:tcPr>
                </a:tc>
                <a:tc>
                  <a:txBody>
                    <a:bodyPr/>
                    <a:lstStyle/>
                    <a:p>
                      <a:pPr algn="ctr"/>
                      <a:r>
                        <a:rPr sz="1200" b="0">
                          <a:solidFill>
                            <a:srgbClr val="222222"/>
                          </a:solidFill>
                          <a:latin typeface="Calibri"/>
                        </a:rPr>
                        <a:t>0.77</a:t>
                      </a:r>
                    </a:p>
                  </a:txBody>
                  <a:tcPr marT="18288" marB="18288" anchor="ctr">
                    <a:solidFill>
                      <a:srgbClr val="FFFFFF"/>
                    </a:solidFill>
                  </a:tcPr>
                </a:tc>
                <a:tc>
                  <a:txBody>
                    <a:bodyPr/>
                    <a:lstStyle/>
                    <a:p>
                      <a:pPr algn="ctr"/>
                      <a:r>
                        <a:rPr sz="1200" b="0">
                          <a:solidFill>
                            <a:srgbClr val="222222"/>
                          </a:solidFill>
                          <a:latin typeface="Calibri"/>
                        </a:rPr>
                        <a:t>0.50</a:t>
                      </a:r>
                    </a:p>
                  </a:txBody>
                  <a:tcPr marT="18288" marB="18288" anchor="ctr">
                    <a:solidFill>
                      <a:srgbClr val="FFFFFF"/>
                    </a:solidFill>
                  </a:tcPr>
                </a:tc>
              </a:tr>
              <a:tr h="274320">
                <a:tc>
                  <a:txBody>
                    <a:bodyPr/>
                    <a:lstStyle/>
                    <a:p>
                      <a:pPr algn="ctr"/>
                      <a:r>
                        <a:rPr sz="1200" b="0">
                          <a:solidFill>
                            <a:srgbClr val="222222"/>
                          </a:solidFill>
                          <a:latin typeface="Calibri"/>
                        </a:rPr>
                        <a:t>LS calibrated native</a:t>
                      </a:r>
                    </a:p>
                  </a:txBody>
                  <a:tcPr marT="18288" marB="18288" anchor="ctr">
                    <a:solidFill>
                      <a:srgbClr val="FFFFFF"/>
                    </a:solidFill>
                  </a:tcPr>
                </a:tc>
                <a:tc>
                  <a:txBody>
                    <a:bodyPr/>
                    <a:lstStyle/>
                    <a:p>
                      <a:pPr algn="ctr"/>
                      <a:r>
                        <a:rPr sz="1200" b="0">
                          <a:solidFill>
                            <a:srgbClr val="222222"/>
                          </a:solidFill>
                          <a:latin typeface="Calibri"/>
                        </a:rPr>
                        <a:t>0.84</a:t>
                      </a:r>
                    </a:p>
                  </a:txBody>
                  <a:tcPr marT="18288" marB="18288" anchor="ctr">
                    <a:solidFill>
                      <a:srgbClr val="FFFFFF"/>
                    </a:solidFill>
                  </a:tcPr>
                </a:tc>
                <a:tc>
                  <a:txBody>
                    <a:bodyPr/>
                    <a:lstStyle/>
                    <a:p>
                      <a:pPr algn="ctr"/>
                      <a:r>
                        <a:rPr sz="1200" b="0">
                          <a:solidFill>
                            <a:srgbClr val="222222"/>
                          </a:solidFill>
                          <a:latin typeface="Calibri"/>
                        </a:rPr>
                        <a:t>0.25</a:t>
                      </a:r>
                    </a:p>
                  </a:txBody>
                  <a:tcPr marT="18288" marB="18288" anchor="ctr">
                    <a:solidFill>
                      <a:srgbClr val="FFFFFF"/>
                    </a:solidFill>
                  </a:tcPr>
                </a:tc>
              </a:tr>
              <a:tr h="274320">
                <a:tc>
                  <a:txBody>
                    <a:bodyPr/>
                    <a:lstStyle/>
                    <a:p>
                      <a:pPr algn="ctr"/>
                      <a:r>
                        <a:rPr sz="1200" b="0">
                          <a:solidFill>
                            <a:srgbClr val="222222"/>
                          </a:solidFill>
                          <a:latin typeface="Calibri"/>
                        </a:rPr>
                        <a:t>NE calibrated GOMPIT</a:t>
                      </a:r>
                    </a:p>
                  </a:txBody>
                  <a:tcPr marT="18288" marB="18288" anchor="ctr">
                    <a:solidFill>
                      <a:srgbClr val="FFFFFF"/>
                    </a:solidFill>
                  </a:tcPr>
                </a:tc>
                <a:tc>
                  <a:txBody>
                    <a:bodyPr/>
                    <a:lstStyle/>
                    <a:p>
                      <a:pPr algn="ctr"/>
                      <a:r>
                        <a:rPr sz="1200" b="0">
                          <a:solidFill>
                            <a:srgbClr val="222222"/>
                          </a:solidFill>
                          <a:latin typeface="Calibri"/>
                        </a:rPr>
                        <a:t>0.57</a:t>
                      </a:r>
                    </a:p>
                  </a:txBody>
                  <a:tcPr marT="18288" marB="18288" anchor="ctr">
                    <a:solidFill>
                      <a:srgbClr val="FFFFFF"/>
                    </a:solidFill>
                  </a:tcPr>
                </a:tc>
                <a:tc>
                  <a:txBody>
                    <a:bodyPr/>
                    <a:lstStyle/>
                    <a:p>
                      <a:pPr algn="ctr"/>
                      <a:r>
                        <a:rPr sz="1200" b="0">
                          <a:solidFill>
                            <a:srgbClr val="222222"/>
                          </a:solidFill>
                          <a:latin typeface="Calibri"/>
                        </a:rPr>
                        <a:t>0.58</a:t>
                      </a:r>
                    </a:p>
                  </a:txBody>
                  <a:tcPr marT="18288" marB="18288" anchor="ctr">
                    <a:solidFill>
                      <a:srgbClr val="FFFFFF"/>
                    </a:solidFill>
                  </a:tcPr>
                </a:tc>
              </a:tr>
              <a:tr h="274320">
                <a:tc>
                  <a:txBody>
                    <a:bodyPr/>
                    <a:lstStyle/>
                    <a:p>
                      <a:pPr algn="ctr"/>
                      <a:r>
                        <a:rPr sz="1200" b="0">
                          <a:solidFill>
                            <a:srgbClr val="222222"/>
                          </a:solidFill>
                          <a:latin typeface="Calibri"/>
                        </a:rPr>
                        <a:t>NE calibrated native</a:t>
                      </a:r>
                    </a:p>
                  </a:txBody>
                  <a:tcPr marT="18288" marB="18288" anchor="ctr">
                    <a:solidFill>
                      <a:srgbClr val="FFFFFF"/>
                    </a:solidFill>
                  </a:tcPr>
                </a:tc>
                <a:tc>
                  <a:txBody>
                    <a:bodyPr/>
                    <a:lstStyle/>
                    <a:p>
                      <a:pPr algn="ctr"/>
                      <a:r>
                        <a:rPr sz="1200" b="0">
                          <a:solidFill>
                            <a:srgbClr val="222222"/>
                          </a:solidFill>
                          <a:latin typeface="Calibri"/>
                        </a:rPr>
                        <a:t>0.74</a:t>
                      </a:r>
                    </a:p>
                  </a:txBody>
                  <a:tcPr marT="18288" marB="18288" anchor="ctr">
                    <a:solidFill>
                      <a:srgbClr val="FFFFFF"/>
                    </a:solidFill>
                  </a:tcPr>
                </a:tc>
                <a:tc>
                  <a:txBody>
                    <a:bodyPr/>
                    <a:lstStyle/>
                    <a:p>
                      <a:pPr algn="ctr"/>
                      <a:r>
                        <a:rPr sz="1200" b="0">
                          <a:solidFill>
                            <a:srgbClr val="222222"/>
                          </a:solidFill>
                          <a:latin typeface="Calibri"/>
                        </a:rPr>
                        <a:t>0.54</a:t>
                      </a:r>
                    </a:p>
                  </a:txBody>
                  <a:tcPr marT="18288" marB="18288" anchor="ctr">
                    <a:solidFill>
                      <a:srgbClr val="FFFFFF"/>
                    </a:solidFill>
                  </a:tcPr>
                </a:tc>
              </a:tr>
              <a:tr h="274320">
                <a:tc>
                  <a:txBody>
                    <a:bodyPr/>
                    <a:lstStyle/>
                    <a:p>
                      <a:pPr algn="ctr"/>
                      <a:r>
                        <a:rPr sz="1200" b="0">
                          <a:solidFill>
                            <a:srgbClr val="222222"/>
                          </a:solidFill>
                          <a:latin typeface="Calibri"/>
                        </a:rPr>
                        <a:t>NE default GOMPIT</a:t>
                      </a:r>
                    </a:p>
                  </a:txBody>
                  <a:tcPr marT="18288" marB="18288" anchor="ctr">
                    <a:solidFill>
                      <a:srgbClr val="FFFFFF"/>
                    </a:solidFill>
                  </a:tcPr>
                </a:tc>
                <a:tc>
                  <a:txBody>
                    <a:bodyPr/>
                    <a:lstStyle/>
                    <a:p>
                      <a:pPr algn="ctr"/>
                      <a:r>
                        <a:rPr sz="1200" b="0">
                          <a:solidFill>
                            <a:srgbClr val="222222"/>
                          </a:solidFill>
                          <a:latin typeface="Calibri"/>
                        </a:rPr>
                        <a:t>0.84</a:t>
                      </a:r>
                    </a:p>
                  </a:txBody>
                  <a:tcPr marT="18288" marB="18288" anchor="ctr">
                    <a:solidFill>
                      <a:srgbClr val="FFFFFF"/>
                    </a:solidFill>
                  </a:tcPr>
                </a:tc>
                <a:tc>
                  <a:txBody>
                    <a:bodyPr/>
                    <a:lstStyle/>
                    <a:p>
                      <a:pPr algn="ctr"/>
                      <a:r>
                        <a:rPr sz="1200" b="0">
                          <a:solidFill>
                            <a:srgbClr val="222222"/>
                          </a:solidFill>
                          <a:latin typeface="Calibri"/>
                        </a:rPr>
                        <a:t>0.33</a:t>
                      </a:r>
                    </a:p>
                  </a:txBody>
                  <a:tcPr marT="18288" marB="18288" anchor="ctr">
                    <a:solidFill>
                      <a:srgbClr val="FFFFFF"/>
                    </a:solidFill>
                  </a:tcPr>
                </a:tc>
              </a:tr>
              <a:tr h="274320">
                <a:tc>
                  <a:txBody>
                    <a:bodyPr/>
                    <a:lstStyle/>
                    <a:p>
                      <a:pPr algn="ctr"/>
                      <a:r>
                        <a:rPr sz="1200" b="0">
                          <a:solidFill>
                            <a:srgbClr val="222222"/>
                          </a:solidFill>
                          <a:latin typeface="Calibri"/>
                        </a:rPr>
                        <a:t>WS calibrated native</a:t>
                      </a:r>
                    </a:p>
                  </a:txBody>
                  <a:tcPr marT="18288" marB="18288" anchor="ctr">
                    <a:solidFill>
                      <a:srgbClr val="FFFFFF"/>
                    </a:solidFill>
                  </a:tcPr>
                </a:tc>
                <a:tc>
                  <a:txBody>
                    <a:bodyPr/>
                    <a:lstStyle/>
                    <a:p>
                      <a:pPr algn="ctr"/>
                      <a:r>
                        <a:rPr sz="1200" b="0">
                          <a:solidFill>
                            <a:srgbClr val="222222"/>
                          </a:solidFill>
                          <a:latin typeface="Calibri"/>
                        </a:rPr>
                        <a:t>0.90</a:t>
                      </a:r>
                    </a:p>
                  </a:txBody>
                  <a:tcPr marT="18288" marB="18288" anchor="ctr">
                    <a:solidFill>
                      <a:srgbClr val="FFFFFF"/>
                    </a:solidFill>
                  </a:tcPr>
                </a:tc>
                <a:tc>
                  <a:txBody>
                    <a:bodyPr/>
                    <a:lstStyle/>
                    <a:p>
                      <a:pPr algn="ctr"/>
                      <a:r>
                        <a:rPr sz="1200" b="0">
                          <a:solidFill>
                            <a:srgbClr val="222222"/>
                          </a:solidFill>
                          <a:latin typeface="Calibri"/>
                        </a:rPr>
                        <a:t>0.50</a:t>
                      </a:r>
                    </a:p>
                  </a:txBody>
                  <a:tcPr marT="18288" marB="18288" anchor="ctr">
                    <a:solidFill>
                      <a:srgbClr val="FFFFFF"/>
                    </a:solidFill>
                  </a:tcPr>
                </a:tc>
              </a:tr>
            </a:tbl>
          </a:graphicData>
        </a:graphic>
      </p:graphicFrame>
      <p:sp>
        <p:nvSpPr>
          <p:cNvPr id="7" name="TextBox 6"/>
          <p:cNvSpPr txBox="1"/>
          <p:nvPr/>
        </p:nvSpPr>
        <p:spPr>
          <a:xfrm>
            <a:off x="6217920" y="3931920"/>
            <a:ext cx="5669280" cy="2286000"/>
          </a:xfrm>
          <a:prstGeom prst="rect">
            <a:avLst/>
          </a:prstGeom>
          <a:noFill/>
        </p:spPr>
        <p:txBody>
          <a:bodyPr wrap="square" anchor="t" lIns="45720" rIns="45720" tIns="27432" bIns="27432">
            <a:spAutoFit/>
          </a:bodyPr>
          <a:lstStyle/>
          <a:p>
            <a:pPr algn="l">
              <a:spcAft>
                <a:spcPts val="600"/>
              </a:spcAft>
            </a:pPr>
            <a:r>
              <a:rPr sz="1200" b="0">
                <a:solidFill>
                  <a:srgbClr val="222222"/>
                </a:solidFill>
                <a:latin typeface="Calibri"/>
              </a:rPr>
              <a:t>Recommended variants keep an admissible arm in 100 percent of resamples (ACD, BM, CS, LS, SN), 99 (NE), 90 (WS).</a:t>
            </a:r>
          </a:p>
          <a:p>
            <a:pPr algn="l">
              <a:spcAft>
                <a:spcPts val="600"/>
              </a:spcAft>
            </a:pPr>
            <a:r>
              <a:rPr sz="1200" b="0">
                <a:solidFill>
                  <a:srgbClr val="222222"/>
                </a:solidFill>
                <a:latin typeface="Calibri"/>
              </a:rPr>
              <a:t>Fragile not admissible: CI default native 0.51, SO four arms 0.19 to 0.46, CR calibrated native 0.24, TT calibrated GOMPIT 0.25, EC default native 0.16; all among the 13 arms a 25 percent Reineke tolerance admits, seven of eight below even odds.</a:t>
            </a:r>
          </a:p>
          <a:p>
            <a:pPr algn="l">
              <a:spcAft>
                <a:spcPts val="600"/>
              </a:spcAft>
            </a:pPr>
            <a:r>
              <a:rPr sz="1200" b="0">
                <a:solidFill>
                  <a:srgbClr val="222222"/>
                </a:solidFill>
                <a:latin typeface="Calibri"/>
              </a:rPr>
              <a:t>Reineke tolerance is the only axis that changes recommended variants; the p99 ceiling admits five arms anywhere; 100 years drops LS calibrated native only.</a:t>
            </a:r>
          </a:p>
        </p:txBody>
      </p:sp>
      <p:sp>
        <p:nvSpPr>
          <p:cNvPr id="8" name="Rectangle 7"/>
          <p:cNvSpPr/>
          <p:nvPr/>
        </p:nvSpPr>
        <p:spPr>
          <a:xfrm>
            <a:off x="0" y="6565392"/>
            <a:ext cx="12191695" cy="292608"/>
          </a:xfrm>
          <a:prstGeom prst="rect">
            <a:avLst/>
          </a:prstGeom>
          <a:solidFill>
            <a:srgbClr val="1A3D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6574536"/>
            <a:ext cx="9144000" cy="274320"/>
          </a:xfrm>
          <a:prstGeom prst="rect">
            <a:avLst/>
          </a:prstGeom>
          <a:noFill/>
        </p:spPr>
        <p:txBody>
          <a:bodyPr wrap="square" anchor="ctr" lIns="45720" rIns="45720" tIns="27432" bIns="27432">
            <a:spAutoFit/>
          </a:bodyPr>
          <a:lstStyle/>
          <a:p>
            <a:pPr algn="l">
              <a:spcAft>
                <a:spcPts val="600"/>
              </a:spcAft>
            </a:pPr>
            <a:r>
              <a:rPr sz="1000" b="0">
                <a:solidFill>
                  <a:srgbClr val="FFFFFF"/>
                </a:solidFill>
                <a:latin typeface="Calibri"/>
              </a:rPr>
              <a:t>Source: stress_by_arm.csv, stress_by_variant.csv (job 15990793)</a:t>
            </a:r>
          </a:p>
        </p:txBody>
      </p:sp>
      <p:sp>
        <p:nvSpPr>
          <p:cNvPr id="10" name="TextBox 9"/>
          <p:cNvSpPr txBox="1"/>
          <p:nvPr/>
        </p:nvSpPr>
        <p:spPr>
          <a:xfrm>
            <a:off x="11094415" y="6574536"/>
            <a:ext cx="822960" cy="274320"/>
          </a:xfrm>
          <a:prstGeom prst="rect">
            <a:avLst/>
          </a:prstGeom>
          <a:noFill/>
        </p:spPr>
        <p:txBody>
          <a:bodyPr wrap="square" anchor="ctr" lIns="45720" rIns="45720" tIns="27432" bIns="27432">
            <a:spAutoFit/>
          </a:bodyPr>
          <a:lstStyle/>
          <a:p>
            <a:pPr algn="r">
              <a:spcAft>
                <a:spcPts val="600"/>
              </a:spcAft>
            </a:pPr>
            <a:r>
              <a:rPr sz="1000" b="0">
                <a:solidFill>
                  <a:srgbClr val="C5A55A"/>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A3D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14400"/>
            <a:ext cx="12191695" cy="54864"/>
          </a:xfrm>
          <a:prstGeom prst="rect">
            <a:avLst/>
          </a:prstGeom>
          <a:solidFill>
            <a:srgbClr val="C5A5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09728"/>
            <a:ext cx="11460175" cy="731520"/>
          </a:xfrm>
          <a:prstGeom prst="rect">
            <a:avLst/>
          </a:prstGeom>
          <a:noFill/>
        </p:spPr>
        <p:txBody>
          <a:bodyPr wrap="square" anchor="ctr" lIns="45720" rIns="45720" tIns="27432" bIns="27432">
            <a:spAutoFit/>
          </a:bodyPr>
          <a:lstStyle/>
          <a:p>
            <a:pPr algn="l">
              <a:spcAft>
                <a:spcPts val="600"/>
              </a:spcAft>
            </a:pPr>
            <a:r>
              <a:rPr sz="2600" b="1">
                <a:solidFill>
                  <a:srgbClr val="FFFFFF"/>
                </a:solidFill>
                <a:latin typeface="Calibri"/>
              </a:rPr>
              <a:t>Using it: fvs2py.catalog.select_config</a:t>
            </a:r>
          </a:p>
        </p:txBody>
      </p:sp>
      <p:sp>
        <p:nvSpPr>
          <p:cNvPr id="5" name="Rectangle 4"/>
          <p:cNvSpPr/>
          <p:nvPr/>
        </p:nvSpPr>
        <p:spPr>
          <a:xfrm>
            <a:off x="457200" y="1280160"/>
            <a:ext cx="5760720" cy="3657600"/>
          </a:xfrm>
          <a:prstGeom prst="rect">
            <a:avLst/>
          </a:prstGeom>
          <a:solidFill>
            <a:srgbClr val="F3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371600"/>
            <a:ext cx="5486400" cy="3474720"/>
          </a:xfrm>
          <a:prstGeom prst="rect">
            <a:avLst/>
          </a:prstGeom>
          <a:noFill/>
        </p:spPr>
        <p:txBody>
          <a:bodyPr wrap="square" anchor="t" lIns="45720" rIns="45720" tIns="27432" bIns="27432">
            <a:spAutoFit/>
          </a:bodyPr>
          <a:lstStyle/>
          <a:p>
            <a:pPr algn="l">
              <a:spcAft>
                <a:spcPts val="600"/>
              </a:spcAft>
            </a:pPr>
            <a:r>
              <a:rPr sz="1400" b="0">
                <a:solidFill>
                  <a:srgbClr val="222222"/>
                </a:solidFill>
                <a:latin typeface="Consolas"/>
              </a:rPr>
              <a:t>from fvs2py.catalog import select_config</a:t>
            </a:r>
          </a:p>
          <a:p>
            <a:pPr algn="l">
              <a:spcAft>
                <a:spcPts val="600"/>
              </a:spcAft>
            </a:pPr>
            <a:r>
              <a:rPr sz="1400" b="0">
                <a:solidFill>
                  <a:srgbClr val="222222"/>
                </a:solidFill>
                <a:latin typeface="Consolas"/>
              </a:rPr>
              <a:t>c = select_config('NE')</a:t>
            </a:r>
          </a:p>
          <a:p>
            <a:pPr algn="l">
              <a:spcAft>
                <a:spcPts val="600"/>
              </a:spcAft>
            </a:pPr>
            <a:r>
              <a:rPr sz="1400" b="0">
                <a:solidFill>
                  <a:srgbClr val="222222"/>
                </a:solidFill>
                <a:latin typeface="Consolas"/>
              </a:rPr>
              <a:t>c.arm            # 'default_gompit'</a:t>
            </a:r>
          </a:p>
          <a:p>
            <a:pPr algn="l">
              <a:spcAft>
                <a:spcPts val="600"/>
              </a:spcAft>
            </a:pPr>
            <a:r>
              <a:rPr sz="1400" b="0">
                <a:solidFill>
                  <a:srgbClr val="222222"/>
                </a:solidFill>
                <a:latin typeface="Consolas"/>
              </a:rPr>
              <a:t>c.config_version # passed to FVS()</a:t>
            </a:r>
          </a:p>
          <a:p>
            <a:pPr algn="l">
              <a:spcAft>
                <a:spcPts val="600"/>
              </a:spcAft>
            </a:pPr>
            <a:r>
              <a:rPr sz="1400" b="0">
                <a:solidFill>
                  <a:srgbClr val="222222"/>
                </a:solidFill>
                <a:latin typeface="Consolas"/>
              </a:rPr>
              <a:t>c.env            # {'FVS_GOMPIT': '1', ...}</a:t>
            </a:r>
          </a:p>
          <a:p>
            <a:pPr algn="l">
              <a:spcAft>
                <a:spcPts val="600"/>
              </a:spcAft>
            </a:pPr>
            <a:r>
              <a:rPr sz="1400" b="0">
                <a:solidFill>
                  <a:srgbClr val="222222"/>
                </a:solidFill>
                <a:latin typeface="Consolas"/>
              </a:rPr>
              <a:t>c.admissible     # four arms</a:t>
            </a:r>
          </a:p>
          <a:p>
            <a:pPr algn="l">
              <a:spcAft>
                <a:spcPts val="600"/>
              </a:spcAft>
            </a:pPr>
            <a:r>
              <a:rPr sz="1400" b="0">
                <a:solidFill>
                  <a:srgbClr val="222222"/>
                </a:solidFill>
                <a:latin typeface="Consolas"/>
              </a:rPr>
              <a:t>c.notes          # near term tie break</a:t>
            </a:r>
          </a:p>
          <a:p>
            <a:pPr algn="l">
              <a:spcAft>
                <a:spcPts val="600"/>
              </a:spcAft>
            </a:pPr>
            <a:r>
              <a:rPr sz="1400" b="0">
                <a:solidFill>
                  <a:srgbClr val="222222"/>
                </a:solidFill>
                <a:latin typeface="Consolas"/>
              </a:rPr>
              <a:t/>
            </a:r>
          </a:p>
          <a:p>
            <a:pPr algn="l">
              <a:spcAft>
                <a:spcPts val="600"/>
              </a:spcAft>
            </a:pPr>
            <a:r>
              <a:rPr sz="1400" b="0">
                <a:solidFill>
                  <a:srgbClr val="222222"/>
                </a:solidFill>
                <a:latin typeface="Consolas"/>
              </a:rPr>
              <a:t>select_config('SO', survival='native')</a:t>
            </a:r>
          </a:p>
          <a:p>
            <a:pPr algn="l">
              <a:spcAft>
                <a:spcPts val="600"/>
              </a:spcAft>
            </a:pPr>
            <a:r>
              <a:rPr sz="1400" b="0">
                <a:solidFill>
                  <a:srgbClr val="222222"/>
                </a:solidFill>
                <a:latin typeface="Consolas"/>
              </a:rPr>
              <a:t># least bad engine arm, NOT RECOMMENDED,</a:t>
            </a:r>
          </a:p>
          <a:p>
            <a:pPr algn="l">
              <a:spcAft>
                <a:spcPts val="600"/>
              </a:spcAft>
            </a:pPr>
            <a:r>
              <a:rPr sz="1400" b="0">
                <a:solidFill>
                  <a:srgbClr val="222222"/>
                </a:solidFill>
                <a:latin typeface="Consolas"/>
              </a:rPr>
              <a:t># rule_sensitive note attached</a:t>
            </a:r>
          </a:p>
        </p:txBody>
      </p:sp>
      <p:sp>
        <p:nvSpPr>
          <p:cNvPr id="7" name="TextBox 6"/>
          <p:cNvSpPr txBox="1"/>
          <p:nvPr/>
        </p:nvSpPr>
        <p:spPr>
          <a:xfrm>
            <a:off x="6583680" y="1280160"/>
            <a:ext cx="5303520" cy="4572000"/>
          </a:xfrm>
          <a:prstGeom prst="rect">
            <a:avLst/>
          </a:prstGeom>
          <a:noFill/>
        </p:spPr>
        <p:txBody>
          <a:bodyPr wrap="square">
            <a:spAutoFit/>
          </a:bodyPr>
          <a:lstStyle/>
          <a:p>
            <a:pPr>
              <a:spcAft>
                <a:spcPts val="800"/>
              </a:spcAft>
            </a:pPr>
            <a:r>
              <a:rPr sz="1400">
                <a:solidFill>
                  <a:srgbClr val="222222"/>
                </a:solidFill>
                <a:latin typeface="Calibri"/>
              </a:rPr>
              <a:t>▪  Reads config/catalog/catalog_recommendation_by_variant.csv and catalog_gates_by_arm.csv; regenerate only through the pipeline, never by hand.</a:t>
            </a:r>
          </a:p>
          <a:p>
            <a:pPr>
              <a:spcAft>
                <a:spcPts val="800"/>
              </a:spcAft>
            </a:pPr>
            <a:r>
              <a:rPr sz="1400">
                <a:solidFill>
                  <a:srgbClr val="222222"/>
                </a:solidFill>
                <a:latin typeface="Calibri"/>
              </a:rPr>
              <a:t>▪  Returns a note when the caller forces an arm the catalog did not admit, when Reineke was not testable, when a calibrated arm is not distinct, or when the verdict is rule sensitive.</a:t>
            </a:r>
          </a:p>
          <a:p>
            <a:pPr>
              <a:spcAft>
                <a:spcPts val="800"/>
              </a:spcAft>
            </a:pPr>
            <a:r>
              <a:rPr sz="1400">
                <a:solidFill>
                  <a:srgbClr val="222222"/>
                </a:solidFill>
                <a:latin typeface="Calibri"/>
              </a:rPr>
              <a:t>▪  No admissible arm: the least bad engine arm with the status attached, falling back from a projector arm where that is least bad overall (TT).</a:t>
            </a:r>
          </a:p>
          <a:p>
            <a:pPr>
              <a:spcAft>
                <a:spcPts val="800"/>
              </a:spcAft>
            </a:pPr>
            <a:r>
              <a:rPr sz="1400">
                <a:solidFill>
                  <a:srgbClr val="222222"/>
                </a:solidFill>
                <a:latin typeface="Calibri"/>
              </a:rPr>
              <a:t>▪  AK and NC: NOT EVALUATED.</a:t>
            </a:r>
          </a:p>
          <a:p>
            <a:pPr>
              <a:spcAft>
                <a:spcPts val="800"/>
              </a:spcAft>
            </a:pPr>
            <a:r>
              <a:rPr sz="1400">
                <a:solidFill>
                  <a:srgbClr val="222222"/>
                </a:solidFill>
                <a:latin typeface="Calibri"/>
              </a:rPr>
              <a:t>▪  Stability labels sit beside the catalog in catalog/stress/; read them before choosing a fragile admissible arm.</a:t>
            </a:r>
          </a:p>
        </p:txBody>
      </p:sp>
      <p:sp>
        <p:nvSpPr>
          <p:cNvPr id="8" name="Rectangle 7"/>
          <p:cNvSpPr/>
          <p:nvPr/>
        </p:nvSpPr>
        <p:spPr>
          <a:xfrm>
            <a:off x="0" y="6565392"/>
            <a:ext cx="12191695" cy="292608"/>
          </a:xfrm>
          <a:prstGeom prst="rect">
            <a:avLst/>
          </a:prstGeom>
          <a:solidFill>
            <a:srgbClr val="1A3D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6574536"/>
            <a:ext cx="9144000" cy="274320"/>
          </a:xfrm>
          <a:prstGeom prst="rect">
            <a:avLst/>
          </a:prstGeom>
          <a:noFill/>
        </p:spPr>
        <p:txBody>
          <a:bodyPr wrap="square" anchor="ctr" lIns="45720" rIns="45720" tIns="27432" bIns="27432">
            <a:spAutoFit/>
          </a:bodyPr>
          <a:lstStyle/>
          <a:p>
            <a:pPr algn="l">
              <a:spcAft>
                <a:spcPts val="600"/>
              </a:spcAft>
            </a:pPr>
            <a:r>
              <a:rPr sz="1000" b="0">
                <a:solidFill>
                  <a:srgbClr val="FFFFFF"/>
                </a:solidFill>
                <a:latin typeface="Calibri"/>
              </a:rPr>
              <a:t>Source: fvs-modern main 1a520f5e, validation/bakuzis_stress_v2/ and config/catalog/ (October 29, 2026)</a:t>
            </a:r>
          </a:p>
        </p:txBody>
      </p:sp>
      <p:sp>
        <p:nvSpPr>
          <p:cNvPr id="10" name="TextBox 9"/>
          <p:cNvSpPr txBox="1"/>
          <p:nvPr/>
        </p:nvSpPr>
        <p:spPr>
          <a:xfrm>
            <a:off x="11094415" y="6574536"/>
            <a:ext cx="822960" cy="274320"/>
          </a:xfrm>
          <a:prstGeom prst="rect">
            <a:avLst/>
          </a:prstGeom>
          <a:noFill/>
        </p:spPr>
        <p:txBody>
          <a:bodyPr wrap="square" anchor="ctr" lIns="45720" rIns="45720" tIns="27432" bIns="27432">
            <a:spAutoFit/>
          </a:bodyPr>
          <a:lstStyle/>
          <a:p>
            <a:pPr algn="r">
              <a:spcAft>
                <a:spcPts val="600"/>
              </a:spcAft>
            </a:pPr>
            <a:r>
              <a:rPr sz="1000" b="0">
                <a:solidFill>
                  <a:srgbClr val="C5A55A"/>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A3D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14400"/>
            <a:ext cx="12191695" cy="54864"/>
          </a:xfrm>
          <a:prstGeom prst="rect">
            <a:avLst/>
          </a:prstGeom>
          <a:solidFill>
            <a:srgbClr val="C5A5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09728"/>
            <a:ext cx="11460175" cy="731520"/>
          </a:xfrm>
          <a:prstGeom prst="rect">
            <a:avLst/>
          </a:prstGeom>
          <a:noFill/>
        </p:spPr>
        <p:txBody>
          <a:bodyPr wrap="square" anchor="ctr" lIns="45720" rIns="45720" tIns="27432" bIns="27432">
            <a:spAutoFit/>
          </a:bodyPr>
          <a:lstStyle/>
          <a:p>
            <a:pPr algn="l">
              <a:spcAft>
                <a:spcPts val="600"/>
              </a:spcAft>
            </a:pPr>
            <a:r>
              <a:rPr sz="2600" b="1">
                <a:solidFill>
                  <a:srgbClr val="FFFFFF"/>
                </a:solidFill>
                <a:latin typeface="Calibri"/>
              </a:rPr>
              <a:t>What the catalog does not cover</a:t>
            </a:r>
          </a:p>
        </p:txBody>
      </p:sp>
      <p:sp>
        <p:nvSpPr>
          <p:cNvPr id="5" name="TextBox 4"/>
          <p:cNvSpPr txBox="1"/>
          <p:nvPr/>
        </p:nvSpPr>
        <p:spPr>
          <a:xfrm>
            <a:off x="457200" y="1280160"/>
            <a:ext cx="11247120" cy="4572000"/>
          </a:xfrm>
          <a:prstGeom prst="rect">
            <a:avLst/>
          </a:prstGeom>
          <a:noFill/>
        </p:spPr>
        <p:txBody>
          <a:bodyPr wrap="square">
            <a:spAutoFit/>
          </a:bodyPr>
          <a:lstStyle/>
          <a:p>
            <a:pPr>
              <a:spcAft>
                <a:spcPts val="800"/>
              </a:spcAft>
            </a:pPr>
            <a:r>
              <a:rPr sz="1500">
                <a:solidFill>
                  <a:srgbClr val="222222"/>
                </a:solidFill>
                <a:latin typeface="Calibri"/>
              </a:rPr>
              <a:t>▪  Per variant near term accuracy. Only the NE Paper 2 cohort exists, so outside NE the tie break is simplicity alone and the catalog says so.</a:t>
            </a:r>
          </a:p>
          <a:p>
            <a:pPr>
              <a:spcAft>
                <a:spcPts val="800"/>
              </a:spcAft>
            </a:pPr>
            <a:r>
              <a:rPr sz="1500">
                <a:solidFill>
                  <a:srgbClr val="222222"/>
                </a:solidFill>
                <a:latin typeface="Calibri"/>
              </a:rPr>
              <a:t>▪  Posterior uncertainty: calibrated MAP is a point estimate here; the Paper 1 ensemble gives the band for NE and ACD only.</a:t>
            </a:r>
          </a:p>
          <a:p>
            <a:pPr>
              <a:spcAft>
                <a:spcPts val="800"/>
              </a:spcAft>
            </a:pPr>
            <a:r>
              <a:rPr sz="1500">
                <a:solidFill>
                  <a:srgbClr val="222222"/>
                </a:solidFill>
                <a:latin typeface="Calibri"/>
              </a:rPr>
              <a:t>▪  Regeneration: no arm establishes it, so a 100 year plateau or decline in stems is partly a design choice.</a:t>
            </a:r>
          </a:p>
          <a:p>
            <a:pPr>
              <a:spcAft>
                <a:spcPts val="800"/>
              </a:spcAft>
            </a:pPr>
            <a:r>
              <a:rPr sz="1500">
                <a:solidFill>
                  <a:srgbClr val="222222"/>
                </a:solidFill>
                <a:latin typeface="Calibri"/>
              </a:rPr>
              <a:t>▪  Site based relations are confounded on the unstratified sample; the synthetic 36 cell matrix stays the clean test.</a:t>
            </a:r>
          </a:p>
          <a:p>
            <a:pPr>
              <a:spcAft>
                <a:spcPts val="800"/>
              </a:spcAft>
            </a:pPr>
            <a:r>
              <a:rPr sz="1500">
                <a:solidFill>
                  <a:srgbClr val="222222"/>
                </a:solidFill>
                <a:latin typeface="Calibri"/>
              </a:rPr>
              <a:t>▪  263 stands (256 eastern) fail the year zero gate, nearly all entering at 1.3 to 1.8 times their FIA basal area with verified input; excluded, unexplained, open.</a:t>
            </a:r>
          </a:p>
          <a:p>
            <a:pPr>
              <a:spcAft>
                <a:spcPts val="800"/>
              </a:spcAft>
            </a:pPr>
            <a:r>
              <a:rPr sz="1500">
                <a:solidFill>
                  <a:srgbClr val="222222"/>
                </a:solidFill>
                <a:latin typeface="Calibri"/>
              </a:rPr>
              <a:t>▪  Thresholds are the sample maximum in small variants; the projector b1 GOMPIT arm has no NE or SN rows.</a:t>
            </a:r>
          </a:p>
          <a:p>
            <a:pPr>
              <a:spcAft>
                <a:spcPts val="800"/>
              </a:spcAft>
            </a:pPr>
            <a:r>
              <a:rPr sz="1500">
                <a:solidFill>
                  <a:srgbClr val="222222"/>
                </a:solidFill>
                <a:latin typeface="Calibri"/>
              </a:rPr>
              <a:t>▪  In NE the stable arm is default native (0.98); the shipped GOMPIT preference trades long horizon stability for near term evidence.</a:t>
            </a:r>
          </a:p>
        </p:txBody>
      </p:sp>
      <p:sp>
        <p:nvSpPr>
          <p:cNvPr id="6" name="Rectangle 5"/>
          <p:cNvSpPr/>
          <p:nvPr/>
        </p:nvSpPr>
        <p:spPr>
          <a:xfrm>
            <a:off x="0" y="6565392"/>
            <a:ext cx="12191695" cy="292608"/>
          </a:xfrm>
          <a:prstGeom prst="rect">
            <a:avLst/>
          </a:prstGeom>
          <a:solidFill>
            <a:srgbClr val="1A3D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574536"/>
            <a:ext cx="9144000" cy="274320"/>
          </a:xfrm>
          <a:prstGeom prst="rect">
            <a:avLst/>
          </a:prstGeom>
          <a:noFill/>
        </p:spPr>
        <p:txBody>
          <a:bodyPr wrap="square" anchor="ctr" lIns="45720" rIns="45720" tIns="27432" bIns="27432">
            <a:spAutoFit/>
          </a:bodyPr>
          <a:lstStyle/>
          <a:p>
            <a:pPr algn="l">
              <a:spcAft>
                <a:spcPts val="600"/>
              </a:spcAft>
            </a:pPr>
            <a:r>
              <a:rPr sz="1000" b="0">
                <a:solidFill>
                  <a:srgbClr val="FFFFFF"/>
                </a:solidFill>
                <a:latin typeface="Calibri"/>
              </a:rPr>
              <a:t>Source: fvs-modern main 1a520f5e, validation/bakuzis_stress_v2/ and config/catalog/ (October 29, 2026); implementation-notes.md</a:t>
            </a:r>
          </a:p>
        </p:txBody>
      </p:sp>
      <p:sp>
        <p:nvSpPr>
          <p:cNvPr id="8" name="TextBox 7"/>
          <p:cNvSpPr txBox="1"/>
          <p:nvPr/>
        </p:nvSpPr>
        <p:spPr>
          <a:xfrm>
            <a:off x="11094415" y="6574536"/>
            <a:ext cx="822960" cy="274320"/>
          </a:xfrm>
          <a:prstGeom prst="rect">
            <a:avLst/>
          </a:prstGeom>
          <a:noFill/>
        </p:spPr>
        <p:txBody>
          <a:bodyPr wrap="square" anchor="ctr" lIns="45720" rIns="45720" tIns="27432" bIns="27432">
            <a:spAutoFit/>
          </a:bodyPr>
          <a:lstStyle/>
          <a:p>
            <a:pPr algn="r">
              <a:spcAft>
                <a:spcPts val="600"/>
              </a:spcAft>
            </a:pPr>
            <a:r>
              <a:rPr sz="1000" b="0">
                <a:solidFill>
                  <a:srgbClr val="C5A55A"/>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A3D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14400"/>
            <a:ext cx="12191695" cy="54864"/>
          </a:xfrm>
          <a:prstGeom prst="rect">
            <a:avLst/>
          </a:prstGeom>
          <a:solidFill>
            <a:srgbClr val="C5A5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09728"/>
            <a:ext cx="11460175" cy="731520"/>
          </a:xfrm>
          <a:prstGeom prst="rect">
            <a:avLst/>
          </a:prstGeom>
          <a:noFill/>
        </p:spPr>
        <p:txBody>
          <a:bodyPr wrap="square" anchor="ctr" lIns="45720" rIns="45720" tIns="27432" bIns="27432">
            <a:spAutoFit/>
          </a:bodyPr>
          <a:lstStyle/>
          <a:p>
            <a:pPr algn="l">
              <a:spcAft>
                <a:spcPts val="600"/>
              </a:spcAft>
            </a:pPr>
            <a:r>
              <a:rPr sz="2600" b="1">
                <a:solidFill>
                  <a:srgbClr val="FFFFFF"/>
                </a:solidFill>
                <a:latin typeface="Calibri"/>
              </a:rPr>
              <a:t>Where everything is</a:t>
            </a:r>
          </a:p>
        </p:txBody>
      </p:sp>
      <p:sp>
        <p:nvSpPr>
          <p:cNvPr id="5" name="TextBox 4"/>
          <p:cNvSpPr txBox="1"/>
          <p:nvPr/>
        </p:nvSpPr>
        <p:spPr>
          <a:xfrm>
            <a:off x="457200" y="1280160"/>
            <a:ext cx="11247120" cy="3657600"/>
          </a:xfrm>
          <a:prstGeom prst="rect">
            <a:avLst/>
          </a:prstGeom>
          <a:noFill/>
        </p:spPr>
        <p:txBody>
          <a:bodyPr wrap="square">
            <a:spAutoFit/>
          </a:bodyPr>
          <a:lstStyle/>
          <a:p>
            <a:pPr>
              <a:spcAft>
                <a:spcPts val="800"/>
              </a:spcAft>
            </a:pPr>
            <a:r>
              <a:rPr sz="1500">
                <a:solidFill>
                  <a:srgbClr val="222222"/>
                </a:solidFill>
                <a:latin typeface="Calibri"/>
              </a:rPr>
              <a:t>▪  GitHub: advanced-forestry-systems/fvs-modern, main at 1a520f5e (PRs 118 to 126). config/catalog/ holds the two tables the selector reads; validation/bakuzis_stress_v2/ holds the memo (Sections 1 to 16), the catalog folder, scorecards, stress test and run index with md5 lists.</a:t>
            </a:r>
          </a:p>
          <a:p>
            <a:pPr>
              <a:spcAft>
                <a:spcPts val="800"/>
              </a:spcAft>
            </a:pPr>
            <a:r>
              <a:rPr sz="1500">
                <a:solidFill>
                  <a:srgbClr val="222222"/>
                </a:solidFill>
                <a:latin typeface="Calibri"/>
              </a:rPr>
              <a:t>▪  Zenodo: concept DOI 10.5281/zenodo.23777723 (version 1.0.0 at 10.5281/zenodo.23777724) carries the tables, scripts, scorecard cells, the technical report and this deck. No FIA plot identifiers or coordinates in any file.</a:t>
            </a:r>
          </a:p>
          <a:p>
            <a:pPr>
              <a:spcAft>
                <a:spcPts val="800"/>
              </a:spcAft>
            </a:pPr>
            <a:r>
              <a:rPr sz="1500">
                <a:solidFill>
                  <a:srgbClr val="222222"/>
                </a:solidFill>
                <a:latin typeface="Calibri"/>
              </a:rPr>
              <a:t>▪  Scripts: conus_catalog_runs.py (engine runs), bakuzis_stress_v2.R (scorer), catalog_gates.R (gates), bakuzis_scorecards.R (per variant scorecards), stress_catalog.R (stress test), fvs2py/catalog.py (selector).</a:t>
            </a:r>
          </a:p>
          <a:p>
            <a:pPr>
              <a:spcAft>
                <a:spcPts val="800"/>
              </a:spcAft>
            </a:pPr>
            <a:r>
              <a:rPr sz="1500">
                <a:solidFill>
                  <a:srgbClr val="222222"/>
                </a:solidFill>
                <a:latin typeface="Calibri"/>
              </a:rPr>
              <a:t>▪  Cardinal jobs: build 15967530, runs 15976824 and 15984133, finalize 15984134, scorecards 15986836, stress 15990793.</a:t>
            </a:r>
          </a:p>
        </p:txBody>
      </p:sp>
      <p:sp>
        <p:nvSpPr>
          <p:cNvPr id="6" name="Rectangle 5"/>
          <p:cNvSpPr/>
          <p:nvPr/>
        </p:nvSpPr>
        <p:spPr>
          <a:xfrm>
            <a:off x="457200" y="4846320"/>
            <a:ext cx="11247120" cy="914400"/>
          </a:xfrm>
          <a:prstGeom prst="rect">
            <a:avLst/>
          </a:prstGeom>
          <a:solidFill>
            <a:srgbClr val="F3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4937760"/>
            <a:ext cx="10972800" cy="731520"/>
          </a:xfrm>
          <a:prstGeom prst="rect">
            <a:avLst/>
          </a:prstGeom>
          <a:noFill/>
        </p:spPr>
        <p:txBody>
          <a:bodyPr wrap="square" anchor="ctr" lIns="45720" rIns="45720" tIns="27432" bIns="27432">
            <a:spAutoFit/>
          </a:bodyPr>
          <a:lstStyle/>
          <a:p>
            <a:pPr algn="l">
              <a:spcAft>
                <a:spcPts val="600"/>
              </a:spcAft>
            </a:pPr>
            <a:r>
              <a:rPr sz="1400" b="0">
                <a:solidFill>
                  <a:srgbClr val="1A3D28"/>
                </a:solidFill>
                <a:latin typeface="Calibri"/>
              </a:rPr>
              <a:t>Aaron R. Weiskittel, Center for Research on Sustainable Forests, University of Maine. aaron.weiskittel@maine.edu</a:t>
            </a:r>
          </a:p>
        </p:txBody>
      </p:sp>
      <p:sp>
        <p:nvSpPr>
          <p:cNvPr id="8" name="Rectangle 7"/>
          <p:cNvSpPr/>
          <p:nvPr/>
        </p:nvSpPr>
        <p:spPr>
          <a:xfrm>
            <a:off x="0" y="6565392"/>
            <a:ext cx="12191695" cy="292608"/>
          </a:xfrm>
          <a:prstGeom prst="rect">
            <a:avLst/>
          </a:prstGeom>
          <a:solidFill>
            <a:srgbClr val="1A3D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6574536"/>
            <a:ext cx="9144000" cy="274320"/>
          </a:xfrm>
          <a:prstGeom prst="rect">
            <a:avLst/>
          </a:prstGeom>
          <a:noFill/>
        </p:spPr>
        <p:txBody>
          <a:bodyPr wrap="square" anchor="ctr" lIns="45720" rIns="45720" tIns="27432" bIns="27432">
            <a:spAutoFit/>
          </a:bodyPr>
          <a:lstStyle/>
          <a:p>
            <a:pPr algn="l">
              <a:spcAft>
                <a:spcPts val="600"/>
              </a:spcAft>
            </a:pPr>
            <a:r>
              <a:rPr sz="1000" b="0">
                <a:solidFill>
                  <a:srgbClr val="FFFFFF"/>
                </a:solidFill>
                <a:latin typeface="Calibri"/>
              </a:rPr>
              <a:t>Source: fvs-modern main 1a520f5e, validation/bakuzis_stress_v2/ and config/catalog/ (October 29, 2026)</a:t>
            </a:r>
          </a:p>
        </p:txBody>
      </p:sp>
      <p:sp>
        <p:nvSpPr>
          <p:cNvPr id="10" name="TextBox 9"/>
          <p:cNvSpPr txBox="1"/>
          <p:nvPr/>
        </p:nvSpPr>
        <p:spPr>
          <a:xfrm>
            <a:off x="11094415" y="6574536"/>
            <a:ext cx="822960" cy="274320"/>
          </a:xfrm>
          <a:prstGeom prst="rect">
            <a:avLst/>
          </a:prstGeom>
          <a:noFill/>
        </p:spPr>
        <p:txBody>
          <a:bodyPr wrap="square" anchor="ctr" lIns="45720" rIns="45720" tIns="27432" bIns="27432">
            <a:spAutoFit/>
          </a:bodyPr>
          <a:lstStyle/>
          <a:p>
            <a:pPr algn="r">
              <a:spcAft>
                <a:spcPts val="600"/>
              </a:spcAft>
            </a:pPr>
            <a:r>
              <a:rPr sz="1000" b="0">
                <a:solidFill>
                  <a:srgbClr val="C5A55A"/>
                </a:solidFill>
                <a:latin typeface="Calibri"/>
              </a:rPr>
              <a:t>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